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345" r:id="rId5"/>
    <p:sldId id="391" r:id="rId6"/>
    <p:sldId id="393" r:id="rId8"/>
    <p:sldId id="396" r:id="rId9"/>
    <p:sldId id="392" r:id="rId10"/>
    <p:sldId id="481" r:id="rId11"/>
    <p:sldId id="394" r:id="rId12"/>
    <p:sldId id="400" r:id="rId13"/>
    <p:sldId id="401" r:id="rId14"/>
    <p:sldId id="402" r:id="rId15"/>
    <p:sldId id="398" r:id="rId16"/>
    <p:sldId id="397" r:id="rId17"/>
    <p:sldId id="399" r:id="rId18"/>
    <p:sldId id="371" r:id="rId19"/>
    <p:sldId id="372" r:id="rId20"/>
    <p:sldId id="374" r:id="rId21"/>
    <p:sldId id="373" r:id="rId22"/>
    <p:sldId id="405" r:id="rId23"/>
    <p:sldId id="375" r:id="rId24"/>
    <p:sldId id="406" r:id="rId25"/>
    <p:sldId id="407" r:id="rId26"/>
    <p:sldId id="408" r:id="rId27"/>
    <p:sldId id="376" r:id="rId28"/>
    <p:sldId id="478" r:id="rId29"/>
    <p:sldId id="411" r:id="rId30"/>
    <p:sldId id="483" r:id="rId31"/>
    <p:sldId id="484" r:id="rId32"/>
    <p:sldId id="485" r:id="rId33"/>
    <p:sldId id="479" r:id="rId34"/>
    <p:sldId id="379" r:id="rId35"/>
    <p:sldId id="412" r:id="rId36"/>
    <p:sldId id="486" r:id="rId37"/>
    <p:sldId id="487" r:id="rId38"/>
    <p:sldId id="488" r:id="rId39"/>
    <p:sldId id="489" r:id="rId40"/>
    <p:sldId id="490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j681109@163.co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44" autoAdjust="0"/>
  </p:normalViewPr>
  <p:slideViewPr>
    <p:cSldViewPr snapToGrid="0">
      <p:cViewPr varScale="1">
        <p:scale>
          <a:sx n="85" d="100"/>
          <a:sy n="85" d="100"/>
        </p:scale>
        <p:origin x="425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commentAuthors" Target="commentAuthors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传感器输出脉冲接入单片机管脚，计数器统计脉冲数，可以用来计量转速、流量等</a:t>
            </a:r>
            <a:endParaRPr lang="zh-CN" altLang="en-US">
              <a:sym typeface="+mn-ea"/>
            </a:endParaRPr>
          </a:p>
          <a:p>
            <a:r>
              <a:rPr lang="zh-CN" altLang="en-US"/>
              <a:t>定时器配置：使用系统时钟</a:t>
            </a:r>
            <a:r>
              <a:rPr lang="en-US" altLang="zh-CN"/>
              <a:t>1 MHz</a:t>
            </a:r>
            <a:r>
              <a:rPr lang="zh-CN" altLang="en-US"/>
              <a:t>作为计数脉冲，每计数</a:t>
            </a:r>
            <a:r>
              <a:rPr lang="en-US" altLang="zh-CN"/>
              <a:t>1000</a:t>
            </a:r>
            <a:r>
              <a:rPr lang="zh-CN" altLang="en-US"/>
              <a:t>次产生</a:t>
            </a:r>
            <a:r>
              <a:rPr lang="en-US" altLang="zh-CN"/>
              <a:t>1</a:t>
            </a:r>
            <a:r>
              <a:rPr lang="zh-CN" altLang="en-US"/>
              <a:t>毫秒延时。</a:t>
            </a:r>
            <a:endParaRPr lang="zh-CN" altLang="en-US"/>
          </a:p>
          <a:p>
            <a:r>
              <a:rPr lang="zh-CN" altLang="en-US"/>
              <a:t>计数器配置：一个旋转编码器的脉冲接入单片机管脚，每个脉冲代表旋转一次，计数器每收到</a:t>
            </a:r>
            <a:r>
              <a:rPr lang="en-US" altLang="zh-CN"/>
              <a:t>1</a:t>
            </a:r>
            <a:r>
              <a:rPr lang="zh-CN" altLang="en-US"/>
              <a:t>个脉冲</a:t>
            </a:r>
            <a:r>
              <a:rPr lang="en-US" altLang="zh-CN"/>
              <a:t> +1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最常用的是</a:t>
            </a:r>
            <a:r>
              <a:rPr lang="en-US" altLang="zh-CN"/>
              <a:t> 8421 BCD </a:t>
            </a:r>
            <a:r>
              <a:rPr lang="zh-CN" altLang="en-US"/>
              <a:t>码：用</a:t>
            </a:r>
            <a:r>
              <a:rPr lang="en-US" altLang="zh-CN"/>
              <a:t> 4 </a:t>
            </a:r>
            <a:r>
              <a:rPr lang="zh-CN" altLang="en-US"/>
              <a:t>位二进制数，来表示</a:t>
            </a:r>
            <a:r>
              <a:rPr lang="en-US" altLang="zh-CN"/>
              <a:t> 1 </a:t>
            </a:r>
            <a:r>
              <a:rPr lang="zh-CN" altLang="en-US"/>
              <a:t>位十进制数（</a:t>
            </a:r>
            <a:r>
              <a:rPr lang="en-US" altLang="zh-CN"/>
              <a:t>0</a:t>
            </a:r>
            <a:r>
              <a:rPr lang="zh-CN" altLang="en-US"/>
              <a:t>～</a:t>
            </a:r>
            <a:r>
              <a:rPr lang="en-US" altLang="zh-CN"/>
              <a:t>9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CPU</a:t>
            </a:r>
            <a:r>
              <a:rPr lang="zh-CN" altLang="en-US"/>
              <a:t>之外一块独立的硬件电路，可以理解为</a:t>
            </a:r>
            <a:r>
              <a:rPr lang="en-US" altLang="zh-CN"/>
              <a:t>24</a:t>
            </a:r>
            <a:r>
              <a:rPr lang="zh-CN" altLang="en-US"/>
              <a:t>个</a:t>
            </a:r>
            <a:r>
              <a:rPr lang="en-US" altLang="zh-CN"/>
              <a:t>D</a:t>
            </a:r>
            <a:r>
              <a:rPr lang="zh-CN" altLang="en-US"/>
              <a:t>触发器，可表示的总个数：</a:t>
            </a:r>
            <a:r>
              <a:rPr lang="en-US" altLang="zh-CN"/>
              <a:t>2</a:t>
            </a:r>
            <a:r>
              <a:rPr lang="en-US" altLang="zh-CN" baseline="30000"/>
              <a:t>24</a:t>
            </a:r>
            <a:r>
              <a:rPr lang="en-US" altLang="zh-CN"/>
              <a:t>=16777216</a:t>
            </a:r>
            <a:endParaRPr lang="en-US" altLang="zh-CN"/>
          </a:p>
          <a:p>
            <a:r>
              <a:rPr lang="en-US" altLang="zh-CN"/>
              <a:t>1. NXP</a:t>
            </a:r>
            <a:r>
              <a:rPr lang="zh-CN" altLang="en-US"/>
              <a:t>（恩智浦）</a:t>
            </a:r>
            <a:endParaRPr lang="zh-CN" altLang="en-US"/>
          </a:p>
          <a:p>
            <a:r>
              <a:rPr lang="zh-CN" altLang="en-US"/>
              <a:t>国家：荷兰</a:t>
            </a:r>
            <a:r>
              <a:rPr lang="en-US" altLang="zh-CN"/>
              <a:t> (Netherlands)</a:t>
            </a:r>
            <a:endParaRPr lang="en-US" altLang="zh-CN"/>
          </a:p>
          <a:p>
            <a:r>
              <a:rPr lang="zh-CN" altLang="en-US"/>
              <a:t>总部：荷兰埃因霍温</a:t>
            </a:r>
            <a:r>
              <a:rPr lang="en-US" altLang="zh-CN"/>
              <a:t> (Eindhoven)</a:t>
            </a:r>
            <a:endParaRPr lang="en-US" altLang="zh-CN"/>
          </a:p>
          <a:p>
            <a:r>
              <a:rPr lang="zh-CN" altLang="en-US"/>
              <a:t>前身：飞利浦半导体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高通（</a:t>
            </a:r>
            <a:r>
              <a:rPr lang="en-US" altLang="zh-CN"/>
              <a:t>Qualcomm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国家：美国</a:t>
            </a:r>
            <a:r>
              <a:rPr lang="en-US" altLang="zh-CN"/>
              <a:t> (USA)</a:t>
            </a:r>
            <a:endParaRPr lang="en-US" altLang="zh-CN"/>
          </a:p>
          <a:p>
            <a:r>
              <a:rPr lang="zh-CN" altLang="en-US"/>
              <a:t>总部：美国加利福尼亚州圣迭戈</a:t>
            </a:r>
            <a:r>
              <a:rPr lang="en-US" altLang="zh-CN"/>
              <a:t> (San Diego, CA)</a:t>
            </a:r>
            <a:endParaRPr lang="en-US" altLang="zh-CN"/>
          </a:p>
          <a:p>
            <a:r>
              <a:rPr lang="en-US" altLang="zh-CN"/>
              <a:t>3. </a:t>
            </a:r>
            <a:r>
              <a:rPr lang="zh-CN" altLang="en-US"/>
              <a:t>三星（</a:t>
            </a:r>
            <a:r>
              <a:rPr lang="en-US" altLang="zh-CN"/>
              <a:t>Samsung</a:t>
            </a:r>
            <a:r>
              <a:rPr lang="zh-CN" altLang="en-US"/>
              <a:t>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国家：韩国</a:t>
            </a:r>
            <a:r>
              <a:rPr lang="en-US" altLang="zh-CN"/>
              <a:t> (South Korea)</a:t>
            </a:r>
            <a:endParaRPr lang="en-US" altLang="zh-CN"/>
          </a:p>
          <a:p>
            <a:r>
              <a:rPr lang="zh-CN" altLang="en-US"/>
              <a:t>总部：韩国京畿道水原市</a:t>
            </a:r>
            <a:r>
              <a:rPr lang="en-US" altLang="zh-CN"/>
              <a:t> (Suwon) / </a:t>
            </a:r>
            <a:r>
              <a:rPr lang="zh-CN" altLang="en-US"/>
              <a:t>首尔</a:t>
            </a:r>
            <a:r>
              <a:rPr lang="en-US" altLang="zh-CN"/>
              <a:t> (Seoul)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4. </a:t>
            </a:r>
            <a:r>
              <a:rPr lang="zh-CN" altLang="en-US"/>
              <a:t>瑞萨（</a:t>
            </a:r>
            <a:r>
              <a:rPr lang="en-US" altLang="zh-CN"/>
              <a:t>Renesas</a:t>
            </a:r>
            <a:r>
              <a:rPr lang="zh-CN" altLang="en-US"/>
              <a:t>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国家：日本</a:t>
            </a:r>
            <a:r>
              <a:rPr lang="en-US" altLang="zh-CN"/>
              <a:t> (Japan)</a:t>
            </a:r>
            <a:endParaRPr lang="en-US" altLang="zh-CN"/>
          </a:p>
          <a:p>
            <a:r>
              <a:rPr lang="zh-CN" altLang="en-US"/>
              <a:t>总部：日本东京都江东区</a:t>
            </a:r>
            <a:r>
              <a:rPr lang="en-US" altLang="zh-CN"/>
              <a:t> (Tokyo)Renesas Electronics Corporation</a:t>
            </a:r>
            <a:endParaRPr lang="en-US" altLang="zh-CN"/>
          </a:p>
          <a:p>
            <a:r>
              <a:rPr lang="zh-CN" altLang="en-US"/>
              <a:t>由来：日立</a:t>
            </a:r>
            <a:r>
              <a:rPr lang="en-US" altLang="zh-CN"/>
              <a:t> + </a:t>
            </a:r>
            <a:r>
              <a:rPr lang="zh-CN" altLang="en-US"/>
              <a:t>三菱半导体部门合并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内联函数的优点？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滴答定时器（</a:t>
            </a:r>
            <a:r>
              <a:rPr lang="en-US" altLang="zh-CN"/>
              <a:t>SysTick</a:t>
            </a:r>
            <a:r>
              <a:rPr lang="zh-CN" altLang="en-US"/>
              <a:t>）属于</a:t>
            </a:r>
            <a:r>
              <a:rPr lang="en-US" altLang="zh-CN"/>
              <a:t>“</a:t>
            </a:r>
            <a:r>
              <a:rPr lang="zh-CN" altLang="en-US"/>
              <a:t>异常（</a:t>
            </a:r>
            <a:r>
              <a:rPr lang="en-US" altLang="zh-CN"/>
              <a:t>Exception</a:t>
            </a:r>
            <a:r>
              <a:rPr lang="zh-CN" altLang="en-US"/>
              <a:t>）</a:t>
            </a:r>
            <a:r>
              <a:rPr lang="en-US" altLang="zh-CN"/>
              <a:t>”</a:t>
            </a:r>
            <a:r>
              <a:rPr lang="zh-CN" altLang="en-US"/>
              <a:t>，不是普通外设中断，所以它的使能方式、挂起方式和清除方式和</a:t>
            </a:r>
            <a:r>
              <a:rPr lang="en-US" altLang="zh-CN"/>
              <a:t> TIM</a:t>
            </a:r>
            <a:r>
              <a:rPr lang="zh-CN" altLang="en-US"/>
              <a:t>、</a:t>
            </a:r>
            <a:r>
              <a:rPr lang="en-US" altLang="zh-CN"/>
              <a:t>USART</a:t>
            </a:r>
            <a:r>
              <a:rPr lang="zh-CN" altLang="en-US"/>
              <a:t>、</a:t>
            </a:r>
            <a:r>
              <a:rPr lang="en-US" altLang="zh-CN"/>
              <a:t>EXTI </a:t>
            </a:r>
            <a:r>
              <a:rPr lang="zh-CN" altLang="en-US"/>
              <a:t>这些不一样。</a:t>
            </a:r>
            <a:endParaRPr lang="zh-CN" altLang="en-US"/>
          </a:p>
          <a:p>
            <a:r>
              <a:rPr lang="en-US" altLang="zh-CN"/>
              <a:t>“43</a:t>
            </a:r>
            <a:r>
              <a:rPr lang="zh-CN" altLang="en-US"/>
              <a:t>个中断</a:t>
            </a:r>
            <a:r>
              <a:rPr lang="en-US" altLang="zh-CN"/>
              <a:t>” </a:t>
            </a:r>
            <a:r>
              <a:rPr lang="zh-CN" altLang="en-US"/>
              <a:t>说的是芯片里的</a:t>
            </a:r>
            <a:r>
              <a:rPr lang="en-US" altLang="zh-CN"/>
              <a:t> </a:t>
            </a:r>
            <a:r>
              <a:rPr lang="zh-CN" altLang="en-US"/>
              <a:t>外部中断源（</a:t>
            </a:r>
            <a:r>
              <a:rPr lang="en-US" altLang="zh-CN"/>
              <a:t>IRQ</a:t>
            </a:r>
            <a:r>
              <a:rPr lang="zh-CN" altLang="en-US"/>
              <a:t>），这些通常来自外设，进入中断服务函数时一般都要清除对应的中断标志，否则会反复进入中断。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delay</a:t>
            </a:r>
            <a:r>
              <a:rPr lang="zh-CN" altLang="en-US"/>
              <a:t>会使</a:t>
            </a:r>
            <a:r>
              <a:rPr lang="en-US" altLang="zh-CN"/>
              <a:t>CPU</a:t>
            </a:r>
            <a:r>
              <a:rPr lang="zh-CN" altLang="en-US"/>
              <a:t>暂停，浪费时间，中断处理消抖，</a:t>
            </a:r>
            <a:r>
              <a:rPr lang="en-US" altLang="zh-CN"/>
              <a:t>CPU</a:t>
            </a:r>
            <a:r>
              <a:rPr lang="zh-CN" altLang="en-US"/>
              <a:t>可以干别的。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962565"/>
            <a:ext cx="9144000" cy="1655762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微机原理及应用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667358"/>
            <a:ext cx="9144000" cy="1655762"/>
          </a:xfrm>
        </p:spPr>
        <p:txBody>
          <a:bodyPr anchor="ctr"/>
          <a:lstStyle/>
          <a:p>
            <a:r>
              <a:rPr lang="zh-CN" altLang="en-US" b="1" dirty="0">
                <a:solidFill>
                  <a:schemeClr val="tx1"/>
                </a:solidFill>
              </a:rPr>
              <a:t>郝美兰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05018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zh-CN" altLang="en-US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第五讲  </a:t>
            </a:r>
            <a:r>
              <a:rPr lang="en-US" altLang="zh-CN" dirty="0" err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stm32</a:t>
            </a:r>
            <a:r>
              <a:rPr lang="zh-CN" altLang="en-US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单片机的定时器</a:t>
            </a:r>
            <a:endParaRPr lang="zh-CN" altLang="en-US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1376039" y="1599461"/>
            <a:ext cx="9800947" cy="3736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accent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定时器的概念</a:t>
            </a:r>
            <a:endParaRPr lang="en-US" altLang="zh-CN" sz="3200" dirty="0">
              <a:solidFill>
                <a:schemeClr val="accent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accent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嘀嗒定时器</a:t>
            </a:r>
            <a:endParaRPr lang="en-US" altLang="zh-CN" sz="3200" dirty="0">
              <a:solidFill>
                <a:schemeClr val="accent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accent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初值设定</a:t>
            </a:r>
            <a:endParaRPr lang="en-US" altLang="zh-CN" sz="3200" dirty="0">
              <a:solidFill>
                <a:schemeClr val="accent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中断程序的编写</a:t>
            </a:r>
            <a:endParaRPr lang="en-US" altLang="zh-CN" sz="32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定时中断的应用</a:t>
            </a:r>
            <a:endParaRPr lang="en-US" altLang="zh-CN" sz="32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Wingdings" panose="05000000000000000000" pitchFamily="2" charset="2"/>
              <a:buChar char="u"/>
            </a:pPr>
            <a:endParaRPr lang="zh-CN" altLang="en-US" sz="3200" dirty="0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3517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878889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一、定时器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计数器的概念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76" name="内容占位符 135175"/>
          <p:cNvSpPr>
            <a:spLocks noGrp="1" noChangeArrowheads="1"/>
          </p:cNvSpPr>
          <p:nvPr>
            <p:ph idx="1"/>
          </p:nvPr>
        </p:nvSpPr>
        <p:spPr>
          <a:xfrm>
            <a:off x="410845" y="1315720"/>
            <a:ext cx="11196955" cy="427799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定时器（计数器）是单片机的最重要的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片内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外设之一，是学习单片机的最主要的内容之一。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定时器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（计数器）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的工作，是由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硬件电路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完成的一项工作，是独立于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的，不用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干预，但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可以对其设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初值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计数模式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的设定、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启动或禁止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等操作。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如果脉冲源来自单片机的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管脚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，则为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计数器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如果脉冲来自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系统时钟或其分频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，则为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定时器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        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nimBg="1"/>
      <p:bldP spid="13517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819785" y="1089660"/>
          <a:ext cx="10552430" cy="4609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7985"/>
                <a:gridCol w="3693160"/>
                <a:gridCol w="5201285"/>
              </a:tblGrid>
              <a:tr h="381000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3200" b="1">
                          <a:solidFill>
                            <a:schemeClr val="tx1"/>
                          </a:solidFill>
                        </a:rPr>
                        <a:t>总结与理解</a:t>
                      </a:r>
                      <a:endParaRPr lang="zh-CN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 b="1"/>
                        <a:t>方面</a:t>
                      </a:r>
                      <a:endParaRPr lang="zh-CN" altLang="en-US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 b="1">
                          <a:solidFill>
                            <a:srgbClr val="3333FF"/>
                          </a:solidFill>
                        </a:rPr>
                        <a:t>定时器（</a:t>
                      </a:r>
                      <a:r>
                        <a:rPr lang="en-US" altLang="zh-CN" sz="2800" b="1">
                          <a:solidFill>
                            <a:srgbClr val="3333FF"/>
                          </a:solidFill>
                        </a:rPr>
                        <a:t>Timer</a:t>
                      </a:r>
                      <a:r>
                        <a:rPr lang="zh-CN" altLang="en-US" sz="2800" b="1">
                          <a:solidFill>
                            <a:srgbClr val="3333FF"/>
                          </a:solidFill>
                        </a:rPr>
                        <a:t>）</a:t>
                      </a:r>
                      <a:endParaRPr lang="zh-CN" altLang="en-US" sz="2800" b="1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 b="1">
                          <a:solidFill>
                            <a:srgbClr val="3333FF"/>
                          </a:solidFill>
                        </a:rPr>
                        <a:t>计数器（</a:t>
                      </a:r>
                      <a:r>
                        <a:rPr lang="en-US" altLang="zh-CN" sz="2800" b="1">
                          <a:solidFill>
                            <a:srgbClr val="3333FF"/>
                          </a:solidFill>
                        </a:rPr>
                        <a:t>Counter</a:t>
                      </a:r>
                      <a:r>
                        <a:rPr lang="zh-CN" altLang="en-US" sz="2800" b="1">
                          <a:solidFill>
                            <a:srgbClr val="3333FF"/>
                          </a:solidFill>
                        </a:rPr>
                        <a:t>）</a:t>
                      </a:r>
                      <a:endParaRPr lang="zh-CN" altLang="en-US" sz="2800" b="1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脉冲源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65631" marT="65631" marB="65631"/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单片机内部时钟或其分频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65631" marT="65631" marB="65631"/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外部脉冲源，如单片机管脚输入的脉冲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0" marT="65631" marB="65631"/>
                </a:tc>
              </a:tr>
              <a:tr h="381000"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脉冲特点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65631" marT="65631" marB="65631"/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频率固定、周期稳定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65631" marT="65631" marB="65631"/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频率不固定、由外部事件决定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0" marT="65631" marB="65631"/>
                </a:tc>
              </a:tr>
              <a:tr h="381000"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主要作用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65631" marT="65631" marB="65631"/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实现精准</a:t>
                      </a:r>
                      <a:r>
                        <a:rPr lang="zh-CN" altLang="en-US" sz="28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定时与计时</a:t>
                      </a:r>
                      <a:endParaRPr lang="zh-CN" altLang="en-US" sz="28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65631" marT="65631" marB="65631"/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 dirty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计量</a:t>
                      </a:r>
                      <a:r>
                        <a:rPr lang="zh-CN" altLang="en-US" sz="2800" b="1" i="0" dirty="0">
                          <a:solidFill>
                            <a:srgbClr val="3333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外部脉冲次数</a:t>
                      </a:r>
                      <a:r>
                        <a:rPr lang="zh-CN" altLang="en-US" sz="2800" b="1" i="0" dirty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zh-CN" altLang="en-US" sz="2800" b="1" i="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事件发生的次数</a:t>
                      </a:r>
                      <a:r>
                        <a:rPr lang="zh-CN" altLang="en-US" sz="2800" b="1" i="0" dirty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2800" b="1" i="0" dirty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0" marT="65631" marB="65631"/>
                </a:tc>
              </a:tr>
              <a:tr h="381000"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应用场景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65631" marT="65631" marB="65631"/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延时、</a:t>
                      </a:r>
                      <a:r>
                        <a:rPr lang="en-US" altLang="zh-CN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PWM</a:t>
                      </a:r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生成、周期性中断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31" marR="65631" marT="65631" marB="65631"/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 dirty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测转速、计数、频率等</a:t>
                      </a:r>
                      <a:endParaRPr lang="zh-CN" altLang="en-US" sz="2800" b="1" i="0" dirty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0" marT="65631" marB="65631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0" b="9928"/>
          <a:stretch>
            <a:fillRect/>
          </a:stretch>
        </p:blipFill>
        <p:spPr>
          <a:xfrm>
            <a:off x="596900" y="2598420"/>
            <a:ext cx="10601325" cy="28892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09575" y="284480"/>
            <a:ext cx="11202035" cy="1383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一个四位十六进制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计数器</a:t>
            </a:r>
            <a:r>
              <a:rPr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分频器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四个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D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触发器组成。每个触发器的</a:t>
            </a:r>
            <a:r>
              <a:rPr lang="zh-CN" altLang="en-US" sz="280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输出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都连接到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下一个触发器的</a:t>
            </a:r>
            <a:r>
              <a:rPr lang="zh-CN" altLang="en-US" sz="280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时钟输入端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，这样就形成了一个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串联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的触发器网络。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553335" y="1784350"/>
                <a:ext cx="9239250" cy="93916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r>
                  <a:rPr lang="en-US" altLang="zh-CN" sz="28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  2</a:t>
                </a:r>
                <a:r>
                  <a:rPr lang="zh-CN" sz="28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分频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/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2</m:t>
                    </m:r>
                  </m:oMath>
                </a14:m>
                <a:r>
                  <a:rPr lang="en-US" altLang="zh-CN" sz="28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     4</a:t>
                </a:r>
                <a:r>
                  <a:rPr lang="zh-CN" altLang="en-US" sz="28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分频</a:t>
                </a:r>
                <a:r>
                  <a:rPr lang="en-US" altLang="zh-CN" sz="28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       8</a:t>
                </a:r>
                <a:r>
                  <a:rPr lang="zh-CN" altLang="en-US" sz="28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分频</a:t>
                </a:r>
                <a:r>
                  <a:rPr lang="en-US" altLang="zh-CN" sz="28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    16</a:t>
                </a:r>
                <a:r>
                  <a:rPr lang="zh-CN" altLang="en-US" sz="28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分频</a:t>
                </a:r>
                <a:endParaRPr lang="zh-CN" altLang="en-US" sz="28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r>
                  <a:rPr lang="en-US" altLang="zh-CN" sz="24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(</a:t>
                </a:r>
                <a:r>
                  <a:rPr lang="zh-CN" altLang="en-US" sz="24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二进制计数器</a:t>
                </a:r>
                <a:r>
                  <a:rPr lang="en-US" altLang="zh-CN" sz="24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)      </a:t>
                </a:r>
                <a:r>
                  <a:rPr lang="en-US" altLang="zh-CN" sz="24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(</a:t>
                </a:r>
                <a:r>
                  <a:rPr lang="zh-CN" altLang="en-US" sz="24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四进制</a:t>
                </a:r>
                <a:r>
                  <a:rPr lang="en-US" altLang="zh-CN" sz="24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)      (</a:t>
                </a:r>
                <a:r>
                  <a:rPr lang="zh-CN" altLang="en-US" sz="24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八进制</a:t>
                </a:r>
                <a:r>
                  <a:rPr lang="en-US" altLang="zh-CN" sz="24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)    (</a:t>
                </a:r>
                <a:r>
                  <a:rPr lang="zh-CN" altLang="en-US" sz="24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十六进制</a:t>
                </a:r>
                <a:r>
                  <a:rPr lang="en-US" altLang="zh-CN" sz="24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)</a:t>
                </a:r>
                <a:endParaRPr lang="en-US" altLang="zh-CN" sz="24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r>
                  <a:rPr lang="en-US" altLang="zh-CN" sz="24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 </a:t>
                </a:r>
                <a:endParaRPr lang="en-US" altLang="zh-CN" sz="24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335" y="1784350"/>
                <a:ext cx="9239250" cy="939165"/>
              </a:xfrm>
              <a:prstGeom prst="rect">
                <a:avLst/>
              </a:prstGeom>
              <a:blipFill rotWithShape="1">
                <a:blip r:embed="rId2"/>
                <a:stretch>
                  <a:fillRect b="-28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3044825" y="5653405"/>
            <a:ext cx="6383020" cy="9455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indent="0">
              <a:spcBef>
                <a:spcPts val="300"/>
              </a:spcBef>
              <a:spcAft>
                <a:spcPts val="500"/>
              </a:spcAft>
              <a:buFont typeface="Arial" panose="020B0604020202020204"/>
              <a:buChar char="•"/>
            </a:pPr>
            <a:r>
              <a:rPr lang="en-US" altLang="zh-CN" sz="2400" b="1" i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D </a:t>
            </a:r>
            <a:r>
              <a:rPr lang="zh-CN" altLang="en-US" sz="2400" b="1" i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触发器的反向输出 </a:t>
            </a:r>
            <a:r>
              <a:rPr lang="en-US" altLang="zh-CN" sz="2400" b="1" i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Q̄ </a:t>
            </a:r>
            <a:r>
              <a:rPr lang="zh-CN" altLang="en-US" sz="2400" b="1" i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接回 </a:t>
            </a:r>
            <a:r>
              <a:rPr lang="en-US" altLang="zh-CN" sz="2400" b="1" i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D </a:t>
            </a:r>
            <a:r>
              <a:rPr lang="zh-CN" altLang="en-US" sz="2400" b="1" i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输入</a:t>
            </a:r>
            <a:endParaRPr lang="zh-CN" altLang="en-US" sz="2400" b="1" i="0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spcBef>
                <a:spcPts val="400"/>
              </a:spcBef>
              <a:spcAft>
                <a:spcPts val="500"/>
              </a:spcAft>
              <a:buFont typeface="Arial" panose="020B0604020202020204"/>
              <a:buChar char="•"/>
            </a:pPr>
            <a:r>
              <a:rPr lang="zh-CN" altLang="en-US" sz="2400" b="1" i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时钟信号接到触发器的时钟端</a:t>
            </a:r>
            <a:endParaRPr lang="zh-CN" altLang="en-US" sz="2400" b="1" i="0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b="15826"/>
          <a:stretch>
            <a:fillRect/>
          </a:stretch>
        </p:blipFill>
        <p:spPr>
          <a:xfrm>
            <a:off x="2456815" y="2307590"/>
            <a:ext cx="7907020" cy="41586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0395" y="219710"/>
            <a:ext cx="9926955" cy="1999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3333FF"/>
                </a:solidFill>
              </a:rPr>
              <a:t>D </a:t>
            </a:r>
            <a:r>
              <a:rPr lang="zh-CN" altLang="en-US" sz="2800" b="1">
                <a:solidFill>
                  <a:srgbClr val="3333FF"/>
                </a:solidFill>
              </a:rPr>
              <a:t>触发器内部电路：</a:t>
            </a:r>
            <a:endParaRPr lang="zh-CN" altLang="en-US" sz="2800" b="1">
              <a:solidFill>
                <a:srgbClr val="3333FF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1F2329"/>
                </a:solidFill>
              </a:rPr>
              <a:t>核心是 </a:t>
            </a:r>
            <a:r>
              <a:rPr lang="en-US" altLang="zh-CN" sz="2400" b="1">
                <a:solidFill>
                  <a:srgbClr val="1F2329"/>
                </a:solidFill>
              </a:rPr>
              <a:t>6 </a:t>
            </a:r>
            <a:r>
              <a:rPr lang="zh-CN" altLang="en-US" sz="2400" b="1">
                <a:solidFill>
                  <a:srgbClr val="1F2329"/>
                </a:solidFill>
              </a:rPr>
              <a:t>个与非门构成：</a:t>
            </a:r>
            <a:endParaRPr lang="zh-CN" altLang="en-US" sz="2400" b="1">
              <a:solidFill>
                <a:srgbClr val="1F2329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400" b="1">
                <a:solidFill>
                  <a:srgbClr val="1F2329"/>
                </a:solidFill>
              </a:rPr>
              <a:t>G1</a:t>
            </a:r>
            <a:r>
              <a:rPr lang="zh-CN" altLang="en-US" sz="2400" b="1">
                <a:solidFill>
                  <a:srgbClr val="1F2329"/>
                </a:solidFill>
              </a:rPr>
              <a:t>、</a:t>
            </a:r>
            <a:r>
              <a:rPr lang="en-US" altLang="zh-CN" sz="2400" b="1">
                <a:solidFill>
                  <a:srgbClr val="1F2329"/>
                </a:solidFill>
              </a:rPr>
              <a:t>G2</a:t>
            </a:r>
            <a:r>
              <a:rPr lang="zh-CN" altLang="en-US" sz="2400" b="1">
                <a:solidFill>
                  <a:srgbClr val="1F2329"/>
                </a:solidFill>
              </a:rPr>
              <a:t>：基本 </a:t>
            </a:r>
            <a:r>
              <a:rPr lang="en-US" altLang="zh-CN" sz="2400" b="1">
                <a:solidFill>
                  <a:srgbClr val="1F2329"/>
                </a:solidFill>
              </a:rPr>
              <a:t>RS </a:t>
            </a:r>
            <a:r>
              <a:rPr lang="zh-CN" altLang="en-US" sz="2400" b="1">
                <a:solidFill>
                  <a:srgbClr val="1F2329"/>
                </a:solidFill>
              </a:rPr>
              <a:t>触发器（存储单元）</a:t>
            </a:r>
            <a:endParaRPr lang="zh-CN" altLang="en-US" sz="2400" b="1">
              <a:solidFill>
                <a:srgbClr val="1F2329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400" b="1">
                <a:solidFill>
                  <a:srgbClr val="1F2329"/>
                </a:solidFill>
              </a:rPr>
              <a:t>G3</a:t>
            </a:r>
            <a:r>
              <a:rPr lang="zh-CN" altLang="en-US" sz="2400" b="1">
                <a:solidFill>
                  <a:srgbClr val="1F2329"/>
                </a:solidFill>
              </a:rPr>
              <a:t>、</a:t>
            </a:r>
            <a:r>
              <a:rPr lang="en-US" altLang="zh-CN" sz="2400" b="1">
                <a:solidFill>
                  <a:srgbClr val="1F2329"/>
                </a:solidFill>
              </a:rPr>
              <a:t>G4</a:t>
            </a:r>
            <a:r>
              <a:rPr lang="zh-CN" altLang="en-US" sz="2400" b="1">
                <a:solidFill>
                  <a:srgbClr val="1F2329"/>
                </a:solidFill>
              </a:rPr>
              <a:t>、</a:t>
            </a:r>
            <a:r>
              <a:rPr lang="en-US" altLang="zh-CN" sz="2400" b="1">
                <a:solidFill>
                  <a:srgbClr val="1F2329"/>
                </a:solidFill>
              </a:rPr>
              <a:t>G5</a:t>
            </a:r>
            <a:r>
              <a:rPr lang="zh-CN" altLang="en-US" sz="2400" b="1">
                <a:solidFill>
                  <a:srgbClr val="1F2329"/>
                </a:solidFill>
              </a:rPr>
              <a:t>、</a:t>
            </a:r>
            <a:r>
              <a:rPr lang="en-US" altLang="zh-CN" sz="2400" b="1">
                <a:solidFill>
                  <a:srgbClr val="1F2329"/>
                </a:solidFill>
              </a:rPr>
              <a:t>G6</a:t>
            </a:r>
            <a:r>
              <a:rPr lang="zh-CN" altLang="en-US" sz="2400" b="1">
                <a:solidFill>
                  <a:srgbClr val="1F2329"/>
                </a:solidFill>
              </a:rPr>
              <a:t>：时钟引导与维持阻塞逻辑</a:t>
            </a:r>
            <a:endParaRPr lang="zh-CN" altLang="en-US" sz="2400" b="1">
              <a:solidFill>
                <a:srgbClr val="1F2329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400" b="1">
                <a:solidFill>
                  <a:srgbClr val="1F2329"/>
                </a:solidFill>
              </a:rPr>
              <a:t>异步置位 </a:t>
            </a:r>
            <a:r>
              <a:rPr lang="en-US" altLang="zh-CN" sz="2400" b="1">
                <a:solidFill>
                  <a:srgbClr val="1F2329"/>
                </a:solidFill>
              </a:rPr>
              <a:t>SD‘​​</a:t>
            </a:r>
            <a:r>
              <a:rPr lang="zh-CN" altLang="en-US" sz="2400" b="1">
                <a:solidFill>
                  <a:srgbClr val="1F2329"/>
                </a:solidFill>
              </a:rPr>
              <a:t>、清零 </a:t>
            </a:r>
            <a:r>
              <a:rPr lang="en-US" altLang="zh-CN" sz="2400" b="1">
                <a:solidFill>
                  <a:srgbClr val="1F2329"/>
                </a:solidFill>
              </a:rPr>
              <a:t>RD​​’</a:t>
            </a:r>
            <a:r>
              <a:rPr lang="zh-CN" altLang="en-US" sz="2400" b="1">
                <a:solidFill>
                  <a:srgbClr val="1F2329"/>
                </a:solidFill>
              </a:rPr>
              <a:t>（低电平有效）</a:t>
            </a:r>
            <a:endParaRPr lang="zh-CN" altLang="en-US" sz="2400" b="1">
              <a:solidFill>
                <a:srgbClr val="1F232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534670" y="1599565"/>
            <a:ext cx="4105275" cy="34321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619696" y="333311"/>
                <a:ext cx="3935095" cy="6051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:r>
                  <a:rPr lang="zh-CN" altLang="en-US" sz="3200" b="1">
                    <a:solidFill>
                      <a:srgbClr val="3333FF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与非门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solidFill>
                          <a:srgbClr val="3333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    </m:t>
                    </m:r>
                    <m:r>
                      <a:rPr lang="en-US" altLang="zh-CN" sz="3200" b="1" i="1">
                        <a:solidFill>
                          <a:srgbClr val="3333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𝒀</m:t>
                    </m:r>
                    <m:r>
                      <a:rPr lang="en-US" altLang="zh-CN" sz="3200" b="1" i="1">
                        <a:solidFill>
                          <a:srgbClr val="3333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sz="3200" b="1" i="1">
                            <a:solidFill>
                              <a:srgbClr val="3333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1" i="1">
                                <a:solidFill>
                                  <a:srgbClr val="3333FF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3200" b="1" i="1">
                                <a:solidFill>
                                  <a:srgbClr val="3333FF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𝑨𝑩</m:t>
                            </m:r>
                          </m:e>
                        </m:d>
                      </m:e>
                      <m:sup>
                        <m:r>
                          <a:rPr lang="en-US" altLang="zh-CN" sz="3200" b="1" i="1">
                            <a:solidFill>
                              <a:srgbClr val="3333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  <m:r>
                      <a:rPr lang="en-US" altLang="zh-CN" sz="3200" b="1" i="1">
                        <a:solidFill>
                          <a:srgbClr val="3333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：</m:t>
                    </m:r>
                  </m:oMath>
                </a14:m>
                <a:endParaRPr lang="en-US" altLang="zh-CN" sz="3200" b="1" i="1">
                  <a:solidFill>
                    <a:srgbClr val="3333FF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96" y="333311"/>
                <a:ext cx="3935095" cy="605155"/>
              </a:xfrm>
              <a:prstGeom prst="rect">
                <a:avLst/>
              </a:prstGeom>
              <a:blipFill rotWithShape="1">
                <a:blip r:embed="rId2"/>
                <a:stretch>
                  <a:fillRect l="-15" t="-94" r="-534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990465" y="1341755"/>
            <a:ext cx="6839585" cy="25380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T1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T3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为两个并联的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PMOS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，低电平导通</a:t>
            </a:r>
            <a:endParaRPr lang="zh-CN" altLang="en-US" sz="2400" b="1" i="0">
              <a:solidFill>
                <a:srgbClr val="4D4D4D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T2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T4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为两个串联的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NMOS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，高电平导通</a:t>
            </a:r>
            <a:endParaRPr lang="en-US" altLang="zh-CN" sz="2400" b="1" i="0">
              <a:solidFill>
                <a:srgbClr val="4D4D4D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有一个为“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0”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时，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T2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T4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至少有一个截止， 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T1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T3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至少有一个导通，故输出为高电平，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Y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＝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1.</a:t>
            </a:r>
            <a:endParaRPr lang="en-US" altLang="zh-CN" sz="2400" b="1" i="0">
              <a:solidFill>
                <a:srgbClr val="4D4D4D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同时为“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1”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时，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T2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 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T4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同时导通， 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T1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 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T3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同时截止，故输出为低电平，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Y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＝</a:t>
            </a:r>
            <a:r>
              <a:rPr lang="en-US" altLang="zh-CN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0</a:t>
            </a:r>
            <a:r>
              <a:rPr lang="zh-CN" altLang="en-US" sz="2400" b="1" i="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1" i="0">
              <a:solidFill>
                <a:srgbClr val="4D4D4D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5092065" y="4283075"/>
          <a:ext cx="4999990" cy="2267400"/>
        </p:xfrm>
        <a:graphic>
          <a:graphicData uri="http://schemas.openxmlformats.org/drawingml/2006/table">
            <a:tbl>
              <a:tblPr/>
              <a:tblGrid>
                <a:gridCol w="1202690"/>
                <a:gridCol w="1830705"/>
                <a:gridCol w="1966595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/>
                        <a:t>输入 </a:t>
                      </a:r>
                      <a:r>
                        <a:rPr lang="en-US" altLang="zh-CN" sz="2400" b="1"/>
                        <a:t>A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/>
                        <a:t>输入 </a:t>
                      </a:r>
                      <a:r>
                        <a:rPr lang="en-US" altLang="zh-CN" sz="2400" b="1"/>
                        <a:t>B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/>
                        <a:t>输出 </a:t>
                      </a:r>
                      <a:r>
                        <a:rPr lang="en-US" altLang="zh-CN" sz="2400" b="1"/>
                        <a:t>Y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</a:t>
                      </a:r>
                      <a:endParaRPr lang="en-US" altLang="zh-CN" sz="2400" b="1" dirty="0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3144520"/>
            <a:ext cx="7305040" cy="34385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09930" y="92710"/>
            <a:ext cx="2243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</a:rPr>
              <a:t>系统时钟：</a:t>
            </a:r>
            <a:endParaRPr lang="zh-CN" altLang="en-US" sz="3600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1810" y="722630"/>
            <a:ext cx="11513820" cy="22453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 altLang="zh-CN" sz="2800" b="1"/>
              <a:t>STM32F103RBT6</a:t>
            </a:r>
            <a:r>
              <a:rPr lang="zh-CN" altLang="en-US" sz="2800" b="1"/>
              <a:t>单片机一般用两种外部晶振：</a:t>
            </a:r>
            <a:endParaRPr lang="en-US" altLang="zh-CN" sz="2800" b="1"/>
          </a:p>
          <a:p>
            <a:r>
              <a:rPr lang="zh-CN" altLang="en-US" sz="2800" b="1">
                <a:solidFill>
                  <a:srgbClr val="3333FF"/>
                </a:solidFill>
              </a:rPr>
              <a:t>主晶振（</a:t>
            </a:r>
            <a:r>
              <a:rPr lang="en-US" altLang="zh-CN" sz="2800" b="1">
                <a:solidFill>
                  <a:srgbClr val="3333FF"/>
                </a:solidFill>
              </a:rPr>
              <a:t>HSE</a:t>
            </a:r>
            <a:r>
              <a:rPr lang="zh-CN" altLang="en-US" sz="2800" b="1">
                <a:solidFill>
                  <a:srgbClr val="3333FF"/>
                </a:solidFill>
              </a:rPr>
              <a:t>：</a:t>
            </a:r>
            <a:r>
              <a:rPr lang="en-US" altLang="zh-CN" sz="2800" b="1">
                <a:solidFill>
                  <a:srgbClr val="3333FF"/>
                </a:solidFill>
              </a:rPr>
              <a:t>High-Speed External </a:t>
            </a:r>
            <a:r>
              <a:rPr lang="zh-CN" altLang="en-US" sz="2800" b="1">
                <a:solidFill>
                  <a:srgbClr val="3333FF"/>
                </a:solidFill>
              </a:rPr>
              <a:t>高速外部晶振）：</a:t>
            </a:r>
            <a:r>
              <a:rPr lang="zh-CN" altLang="en-US" sz="2800" b="1"/>
              <a:t>常见</a:t>
            </a:r>
            <a:r>
              <a:rPr lang="en-US" altLang="zh-CN" sz="2800" b="1"/>
              <a:t>8MHz</a:t>
            </a:r>
            <a:r>
              <a:rPr lang="zh-CN" altLang="en-US" sz="2800" b="1"/>
              <a:t>，用来提供主</a:t>
            </a:r>
            <a:r>
              <a:rPr lang="en-US" altLang="zh-CN" sz="2800" b="1"/>
              <a:t>CPU</a:t>
            </a:r>
            <a:r>
              <a:rPr lang="zh-CN" altLang="en-US" sz="2800" b="1"/>
              <a:t>时钟和系统时钟参考。</a:t>
            </a:r>
            <a:endParaRPr lang="zh-CN" altLang="en-US" sz="2800" b="1"/>
          </a:p>
          <a:p>
            <a:r>
              <a:rPr lang="zh-CN" altLang="en-US" sz="2800" b="1">
                <a:solidFill>
                  <a:srgbClr val="3333FF"/>
                </a:solidFill>
              </a:rPr>
              <a:t>低速晶振（</a:t>
            </a:r>
            <a:r>
              <a:rPr lang="en-US" altLang="zh-CN" sz="2800" b="1">
                <a:solidFill>
                  <a:srgbClr val="3333FF"/>
                </a:solidFill>
              </a:rPr>
              <a:t>LSE</a:t>
            </a:r>
            <a:r>
              <a:rPr lang="zh-CN" altLang="en-US" sz="2800" b="1">
                <a:solidFill>
                  <a:srgbClr val="3333FF"/>
                </a:solidFill>
              </a:rPr>
              <a:t>：</a:t>
            </a:r>
            <a:r>
              <a:rPr lang="en-US" altLang="zh-CN" sz="2800" b="1">
                <a:solidFill>
                  <a:srgbClr val="3333FF"/>
                </a:solidFill>
                <a:sym typeface="+mn-ea"/>
              </a:rPr>
              <a:t>Low-Speed External</a:t>
            </a:r>
            <a:r>
              <a:rPr lang="zh-CN" altLang="en-US" sz="2800" b="1">
                <a:solidFill>
                  <a:srgbClr val="3333FF"/>
                </a:solidFill>
              </a:rPr>
              <a:t>低速外部晶振）：</a:t>
            </a:r>
            <a:r>
              <a:rPr lang="zh-CN" altLang="en-US" sz="2800" b="1"/>
              <a:t>标准</a:t>
            </a:r>
            <a:r>
              <a:rPr lang="en-US" altLang="zh-CN" sz="2800" b="1"/>
              <a:t>32.768kHz</a:t>
            </a:r>
            <a:r>
              <a:rPr lang="zh-CN" altLang="en-US" sz="2800" b="1"/>
              <a:t>，用于</a:t>
            </a:r>
            <a:r>
              <a:rPr lang="en-US" altLang="zh-CN" sz="2800" b="1"/>
              <a:t>RTC</a:t>
            </a:r>
            <a:r>
              <a:rPr lang="zh-CN" altLang="en-US" sz="2800" b="1"/>
              <a:t>（实时时钟）和低功耗定时。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00025" y="2584450"/>
            <a:ext cx="11791315" cy="5219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/>
            <a:r>
              <a:rPr lang="zh-CN" altLang="en-US" sz="2800" b="1" i="0">
                <a:solidFill>
                  <a:srgbClr val="3333FF"/>
                </a:solidFill>
                <a:latin typeface="ui-sans-serif"/>
                <a:ea typeface="ui-sans-serif"/>
              </a:rPr>
              <a:t>石英晶体</a:t>
            </a:r>
            <a:r>
              <a:rPr lang="zh-CN" altLang="en-US" sz="2800" b="1" i="0">
                <a:solidFill>
                  <a:srgbClr val="24292F"/>
                </a:solidFill>
                <a:latin typeface="ui-sans-serif"/>
                <a:ea typeface="ui-sans-serif"/>
              </a:rPr>
              <a:t>是一种天然压电材料，结构规则且稳定，非常适合用于频率控制。</a:t>
            </a:r>
            <a:endParaRPr lang="zh-CN" altLang="en-US" sz="2800" b="1" i="0">
              <a:solidFill>
                <a:srgbClr val="24292F"/>
              </a:solidFill>
              <a:latin typeface="ui-sans-serif"/>
              <a:ea typeface="ui-sans-serif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03145" y="1100455"/>
            <a:ext cx="778700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/>
              <a:t>正压电效应：机械压迫晶体，晶体产生电势差。</a:t>
            </a:r>
            <a:endParaRPr lang="zh-CN" altLang="en-US" sz="2800" b="1"/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逆压电效应</a:t>
            </a:r>
            <a:r>
              <a:rPr lang="zh-CN" altLang="en-US" sz="2800" b="1"/>
              <a:t>：外加电压使晶体机械形变。</a:t>
            </a:r>
            <a:endParaRPr lang="zh-CN" altLang="en-US" sz="2800" b="1"/>
          </a:p>
        </p:txBody>
      </p:sp>
      <p:sp>
        <p:nvSpPr>
          <p:cNvPr id="5" name="文本框 4"/>
          <p:cNvSpPr txBox="1"/>
          <p:nvPr/>
        </p:nvSpPr>
        <p:spPr>
          <a:xfrm>
            <a:off x="199390" y="3429000"/>
            <a:ext cx="1157541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</a:rPr>
              <a:t>●</a:t>
            </a:r>
            <a:r>
              <a:rPr lang="zh-CN" altLang="en-US" sz="2400" b="1"/>
              <a:t>在晶体两端接上交变电压，利用逆压电效应使其微小震动。</a:t>
            </a:r>
            <a:endParaRPr lang="zh-CN" altLang="en-US" sz="2400" b="1"/>
          </a:p>
          <a:p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●</a:t>
            </a:r>
            <a:r>
              <a:rPr lang="zh-CN" altLang="en-US" sz="2400" b="1"/>
              <a:t>晶体机械震动又因正压电效应产生电压反馈给电路，形成一个机电耦合的振荡系统。</a:t>
            </a:r>
            <a:endParaRPr lang="zh-CN" altLang="en-US" sz="2400" b="1"/>
          </a:p>
          <a:p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●</a:t>
            </a:r>
            <a:r>
              <a:rPr lang="zh-CN" altLang="en-US" sz="2400" b="1"/>
              <a:t>当外部电路提供的驱动频率接近晶体的固有机械谐振频率时，晶体震动幅度极大，产生稳定、强烈的谐振信号。</a:t>
            </a:r>
            <a:endParaRPr lang="zh-CN" altLang="en-US" sz="2400" b="1"/>
          </a:p>
          <a:p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●</a:t>
            </a:r>
            <a:r>
              <a:rPr lang="zh-CN" altLang="en-US" sz="2400" b="1"/>
              <a:t>这个频率由晶体的切割方向和尺寸决定，且不易受温度、电压影响，因而极其稳定。</a:t>
            </a:r>
            <a:endParaRPr lang="zh-CN" altLang="en-US" sz="2400" b="1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241550" y="107950"/>
            <a:ext cx="7285990" cy="106362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Priciple of Crystal Oscillator</a:t>
            </a:r>
            <a:b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晶振原理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350" y="1572260"/>
            <a:ext cx="6281420" cy="3178175"/>
          </a:xfrm>
        </p:spPr>
        <p:txBody>
          <a:bodyPr>
            <a:noAutofit/>
          </a:bodyPr>
          <a:lstStyle/>
          <a:p>
            <a:r>
              <a:rPr lang="zh-CN" altLang="en-US" sz="2300" b="1"/>
              <a:t>晶振可以产生极为稳定的时钟，相位噪声极低</a:t>
            </a:r>
            <a:endParaRPr lang="zh-CN" altLang="en-US" sz="2300" b="1"/>
          </a:p>
          <a:p>
            <a:r>
              <a:rPr lang="zh-CN" altLang="en-US" sz="2300" b="1"/>
              <a:t>皮尔斯震荡器所需零件很少</a:t>
            </a:r>
            <a:r>
              <a:rPr lang="en-US" altLang="zh-CN" sz="2300" b="1"/>
              <a:t>: </a:t>
            </a:r>
            <a:r>
              <a:rPr lang="zh-CN" altLang="en-US" sz="2300" b="1"/>
              <a:t>一个反相器、一个电阻、一个石英晶体、两个小电容。</a:t>
            </a:r>
            <a:endParaRPr lang="zh-CN" altLang="en-US" sz="2300" b="1"/>
          </a:p>
          <a:p>
            <a:r>
              <a:rPr lang="en-US" altLang="zh-CN" sz="2300" b="1"/>
              <a:t> </a:t>
            </a:r>
            <a:r>
              <a:rPr lang="zh-CN" altLang="en-US" sz="2300" b="1"/>
              <a:t>石英晶体与</a:t>
            </a:r>
            <a:r>
              <a:rPr lang="en-US" altLang="zh-CN" sz="2300" b="1"/>
              <a:t> C1, C2 </a:t>
            </a:r>
            <a:r>
              <a:rPr lang="zh-CN" altLang="en-US" sz="2300" b="1"/>
              <a:t>两电容构成</a:t>
            </a:r>
            <a:r>
              <a:rPr lang="en-US" altLang="zh-CN" sz="2300" b="1"/>
              <a:t>π</a:t>
            </a:r>
            <a:r>
              <a:rPr lang="zh-CN" altLang="en-US" sz="2300" b="1"/>
              <a:t>型网络形式的</a:t>
            </a:r>
            <a:r>
              <a:rPr lang="zh-CN" altLang="en-US" sz="2300" b="1">
                <a:sym typeface="+mn-ea"/>
              </a:rPr>
              <a:t>高选择度的滤波元件</a:t>
            </a:r>
            <a:r>
              <a:rPr lang="zh-CN" altLang="en-US" sz="2300" b="1"/>
              <a:t>，约在石英晶体的共振频率上，提供</a:t>
            </a:r>
            <a:r>
              <a:rPr lang="en-US" altLang="zh-CN" sz="2300" b="1"/>
              <a:t> 180 </a:t>
            </a:r>
            <a:r>
              <a:rPr lang="zh-CN" altLang="en-US" sz="2300" b="1"/>
              <a:t>度相移与所需的电压增益。</a:t>
            </a:r>
            <a:endParaRPr lang="zh-CN" altLang="en-US" sz="2300" b="1"/>
          </a:p>
          <a:p>
            <a:r>
              <a:rPr lang="zh-CN" altLang="en-US" sz="2300" b="1"/>
              <a:t>此外，很多</a:t>
            </a:r>
            <a:r>
              <a:rPr lang="en-US" altLang="zh-CN" sz="2300" b="1"/>
              <a:t> IC </a:t>
            </a:r>
            <a:r>
              <a:rPr lang="zh-CN" altLang="en-US" sz="2300" b="1"/>
              <a:t>已内建反相器与电阻，只要在外部加上石英晶体与两个电容就可以工作。</a:t>
            </a:r>
            <a:endParaRPr lang="zh-CN" altLang="en-US" sz="2300" b="1"/>
          </a:p>
        </p:txBody>
      </p:sp>
      <p:sp>
        <p:nvSpPr>
          <p:cNvPr id="4" name="文本框 3"/>
          <p:cNvSpPr txBox="1"/>
          <p:nvPr/>
        </p:nvSpPr>
        <p:spPr>
          <a:xfrm>
            <a:off x="493395" y="6131560"/>
            <a:ext cx="112058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https://www.bilibili.com/video/BV1WC4y1d7AH/?spm_id_from=333.337.search-card.all.click&amp;vd_source=3151c3d92457bfe73be7ceb80ae241bb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142605" y="4975860"/>
            <a:ext cx="25914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皮尔斯震荡器</a:t>
            </a:r>
            <a:r>
              <a:rPr lang="en-US" altLang="zh-CN" sz="2800"/>
              <a:t>Pierce oscillator</a:t>
            </a:r>
            <a:endParaRPr lang="en-US" altLang="zh-CN" sz="2800"/>
          </a:p>
        </p:txBody>
      </p:sp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6623685" y="1294765"/>
            <a:ext cx="5274310" cy="315595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625850" y="195580"/>
            <a:ext cx="4632325" cy="64071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晶振电路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650" y="3557270"/>
            <a:ext cx="3392170" cy="30543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035" y="3557270"/>
            <a:ext cx="3198495" cy="30353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660" y="175895"/>
            <a:ext cx="3439160" cy="276923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9130" y="136525"/>
            <a:ext cx="3195955" cy="2808605"/>
          </a:xfrm>
          <a:prstGeom prst="rect">
            <a:avLst/>
          </a:prstGeom>
        </p:spPr>
      </p:pic>
      <p:sp>
        <p:nvSpPr>
          <p:cNvPr id="2" name="右箭头 1"/>
          <p:cNvSpPr/>
          <p:nvPr/>
        </p:nvSpPr>
        <p:spPr>
          <a:xfrm>
            <a:off x="5788025" y="1047115"/>
            <a:ext cx="615950" cy="87884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左箭头 2"/>
          <p:cNvSpPr/>
          <p:nvPr/>
        </p:nvSpPr>
        <p:spPr>
          <a:xfrm>
            <a:off x="5880100" y="4365625"/>
            <a:ext cx="570865" cy="90741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下箭头 3"/>
          <p:cNvSpPr/>
          <p:nvPr/>
        </p:nvSpPr>
        <p:spPr>
          <a:xfrm>
            <a:off x="8376285" y="3129280"/>
            <a:ext cx="1075055" cy="36322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51000" y="3060700"/>
            <a:ext cx="9165590" cy="522605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altLang="zh-CN" sz="2800" b="1"/>
              <a:t>15</a:t>
            </a:r>
            <a:r>
              <a:rPr lang="zh-CN" altLang="en-US" sz="2800" b="1"/>
              <a:t>次分频，</a:t>
            </a:r>
            <a:r>
              <a:rPr lang="en-US" altLang="zh-CN" sz="2800" b="1"/>
              <a:t>1</a:t>
            </a:r>
            <a:r>
              <a:rPr lang="zh-CN" altLang="en-US" sz="2800" b="1"/>
              <a:t>个脉冲就是</a:t>
            </a:r>
            <a:r>
              <a:rPr lang="en-US" altLang="zh-CN" sz="2800" b="1"/>
              <a:t>1s</a:t>
            </a:r>
            <a:r>
              <a:rPr lang="zh-CN" altLang="en-US" sz="2800" b="1"/>
              <a:t>，手表常用，</a:t>
            </a:r>
            <a:r>
              <a:rPr lang="en-US" altLang="zh-CN" sz="2800" b="1"/>
              <a:t>32768=2</a:t>
            </a:r>
            <a:r>
              <a:rPr lang="en-US" altLang="zh-CN" sz="2800" b="1" baseline="30000"/>
              <a:t>15</a:t>
            </a:r>
            <a:endParaRPr lang="en-US" altLang="zh-CN" sz="2800" b="1" baseline="3000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15260" y="3583305"/>
            <a:ext cx="6646545" cy="25126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8940" y="6096000"/>
            <a:ext cx="116503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https://www.bilibili.com/video/BV1JD8dzDEVN/?spm_id_from=333.337.search-card.all.click&amp;vd_source=3151c3d92457bfe73be7ceb80ae241bb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175" y="153670"/>
            <a:ext cx="3649980" cy="28460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39725" y="314960"/>
            <a:ext cx="34620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3333FF"/>
                </a:solidFill>
                <a:sym typeface="+mn-ea"/>
              </a:rPr>
              <a:t>32.768kHz</a:t>
            </a:r>
            <a:r>
              <a:rPr lang="zh-CN" altLang="en-US" sz="2800" b="1">
                <a:solidFill>
                  <a:srgbClr val="3333FF"/>
                </a:solidFill>
                <a:sym typeface="+mn-ea"/>
              </a:rPr>
              <a:t>低频晶振：</a:t>
            </a:r>
            <a:endParaRPr lang="zh-CN" altLang="en-US" sz="2800" b="1">
              <a:solidFill>
                <a:srgbClr val="3333FF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3685" y="1114425"/>
            <a:ext cx="11711305" cy="318262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zh-CN" altLang="en-US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为什么选</a:t>
            </a:r>
            <a:r>
              <a:rPr lang="en-US" altLang="zh-CN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32.768kHz</a:t>
            </a:r>
            <a:r>
              <a:rPr lang="zh-CN" altLang="en-US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？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该频率的周期是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1/32768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秒，且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32768 = 2^15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，方便数字电路通过简单的</a:t>
            </a:r>
            <a:r>
              <a:rPr lang="en-US" altLang="zh-CN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15</a:t>
            </a:r>
            <a:r>
              <a:rPr lang="zh-CN" altLang="en-US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级二进制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计数即可精确产生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秒的时间基准。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功能：提供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RTC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模块的基础时钟，用于</a:t>
            </a:r>
            <a:r>
              <a:rPr lang="zh-CN" altLang="en-US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计时、闹钟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zh-CN" altLang="en-US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万年历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低功耗模式下时间基准。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振荡方式：同样利用晶体压电效应产生机械谐振，但因频率更低，晶体体积较小，</a:t>
            </a:r>
            <a:r>
              <a:rPr lang="zh-CN" altLang="en-US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功耗更低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，适合长期运行。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晶振电路：同样由晶体和负载电容构成电路，电容较小，一般为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6~7pF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085" y="266065"/>
            <a:ext cx="10515600" cy="35382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b="1">
                <a:solidFill>
                  <a:srgbClr val="3333FF"/>
                </a:solidFill>
              </a:rPr>
              <a:t>8MHz</a:t>
            </a:r>
            <a:r>
              <a:rPr lang="zh-CN" altLang="en-US" b="1">
                <a:solidFill>
                  <a:srgbClr val="3333FF"/>
                </a:solidFill>
              </a:rPr>
              <a:t>主晶振</a:t>
            </a:r>
            <a:r>
              <a:rPr lang="en-US" altLang="zh-CN" b="1">
                <a:solidFill>
                  <a:srgbClr val="3333FF"/>
                </a:solidFill>
              </a:rPr>
              <a:t>:</a:t>
            </a:r>
            <a:endParaRPr lang="zh-CN" altLang="en-US" b="1">
              <a:solidFill>
                <a:srgbClr val="3333FF"/>
              </a:solidFill>
            </a:endParaRPr>
          </a:p>
          <a:p>
            <a:r>
              <a:rPr lang="zh-CN" altLang="en-US" b="1"/>
              <a:t>功能：提供高频时钟源，供</a:t>
            </a:r>
            <a:r>
              <a:rPr lang="en-US" altLang="zh-CN" b="1">
                <a:solidFill>
                  <a:srgbClr val="3333FF"/>
                </a:solidFill>
              </a:rPr>
              <a:t>CPU</a:t>
            </a:r>
            <a:r>
              <a:rPr lang="zh-CN" altLang="en-US" b="1">
                <a:solidFill>
                  <a:srgbClr val="3333FF"/>
                </a:solidFill>
              </a:rPr>
              <a:t>核</a:t>
            </a:r>
            <a:r>
              <a:rPr lang="zh-CN" altLang="en-US" b="1"/>
              <a:t>、总线、外设等高速部分使用。</a:t>
            </a:r>
            <a:endParaRPr lang="zh-CN" altLang="en-US" b="1"/>
          </a:p>
          <a:p>
            <a:r>
              <a:rPr lang="zh-CN" altLang="en-US" b="1"/>
              <a:t>稳定</a:t>
            </a:r>
            <a:r>
              <a:rPr lang="zh-CN" altLang="en-US" b="1">
                <a:solidFill>
                  <a:srgbClr val="3333FF"/>
                </a:solidFill>
              </a:rPr>
              <a:t>系统时钟</a:t>
            </a:r>
            <a:r>
              <a:rPr lang="zh-CN" altLang="en-US" b="1"/>
              <a:t>，配合</a:t>
            </a:r>
            <a:r>
              <a:rPr lang="en-US" altLang="zh-CN" b="1"/>
              <a:t>PLL</a:t>
            </a:r>
            <a:r>
              <a:rPr lang="zh-CN" altLang="en-US" b="1"/>
              <a:t>倍频生成</a:t>
            </a:r>
            <a:r>
              <a:rPr lang="en-US" altLang="zh-CN" b="1"/>
              <a:t>MCU</a:t>
            </a:r>
            <a:r>
              <a:rPr lang="zh-CN" altLang="en-US" b="1">
                <a:solidFill>
                  <a:srgbClr val="3333FF"/>
                </a:solidFill>
              </a:rPr>
              <a:t>主频</a:t>
            </a:r>
            <a:r>
              <a:rPr lang="zh-CN" altLang="en-US" b="1"/>
              <a:t>。</a:t>
            </a:r>
            <a:endParaRPr lang="zh-CN" altLang="en-US" b="1"/>
          </a:p>
          <a:p>
            <a:r>
              <a:rPr lang="zh-CN" altLang="en-US" b="1"/>
              <a:t>特点：高频率，允许系统获得较高主频，执行速度快。信号波形稳定，频率误差小于几十</a:t>
            </a:r>
            <a:r>
              <a:rPr lang="en-US" altLang="zh-CN" b="1"/>
              <a:t>ppm</a:t>
            </a:r>
            <a:r>
              <a:rPr lang="zh-CN" altLang="en-US" b="1"/>
              <a:t>。</a:t>
            </a:r>
            <a:endParaRPr lang="zh-CN" altLang="en-US" b="1"/>
          </a:p>
          <a:p>
            <a:r>
              <a:rPr lang="zh-CN" altLang="en-US" b="1"/>
              <a:t>晶振电路：由晶体和两个负载电容构成反馈回路，共同决定共振频率。</a:t>
            </a:r>
            <a:r>
              <a:rPr lang="en-US" altLang="zh-CN" b="1"/>
              <a:t>STM32</a:t>
            </a:r>
            <a:r>
              <a:rPr lang="zh-CN" altLang="en-US" b="1"/>
              <a:t>标准板常见的负载电容约在</a:t>
            </a:r>
            <a:r>
              <a:rPr lang="en-US" altLang="zh-CN" b="1"/>
              <a:t>18~22pF</a:t>
            </a:r>
            <a:r>
              <a:rPr lang="zh-CN" altLang="en-US" b="1"/>
              <a:t>。</a:t>
            </a:r>
            <a:endParaRPr lang="zh-CN" altLang="en-US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/>
          <p:nvPr/>
        </p:nvGraphicFramePr>
        <p:xfrm>
          <a:off x="534670" y="793115"/>
          <a:ext cx="11233785" cy="5164264"/>
        </p:xfrm>
        <a:graphic>
          <a:graphicData uri="http://schemas.openxmlformats.org/drawingml/2006/table">
            <a:tbl>
              <a:tblPr/>
              <a:tblGrid>
                <a:gridCol w="2290445"/>
                <a:gridCol w="4699635"/>
                <a:gridCol w="4243705"/>
              </a:tblGrid>
              <a:tr h="518160"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333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特性</a:t>
                      </a:r>
                      <a:endParaRPr lang="zh-CN" altLang="en-US" sz="2800" b="1" i="0">
                        <a:solidFill>
                          <a:srgbClr val="3333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65631" marT="54746" marB="54746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en-US" altLang="zh-CN" sz="2800" b="1" i="0">
                          <a:solidFill>
                            <a:srgbClr val="3333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8MHz</a:t>
                      </a:r>
                      <a:r>
                        <a:rPr lang="zh-CN" altLang="en-US" sz="2800" b="1" i="0">
                          <a:solidFill>
                            <a:srgbClr val="3333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主晶振</a:t>
                      </a:r>
                      <a:endParaRPr lang="zh-CN" altLang="en-US" sz="2800" b="1" i="0">
                        <a:solidFill>
                          <a:srgbClr val="3333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31" marR="65631" marT="54746" marB="54746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en-US" altLang="zh-CN" sz="2800" b="1" i="0">
                          <a:solidFill>
                            <a:srgbClr val="3333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32.768kHz</a:t>
                      </a:r>
                      <a:r>
                        <a:rPr lang="zh-CN" altLang="en-US" sz="2800" b="1" i="0">
                          <a:solidFill>
                            <a:srgbClr val="3333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低频晶振</a:t>
                      </a:r>
                      <a:endParaRPr lang="zh-CN" altLang="en-US" sz="2800" b="1" i="0">
                        <a:solidFill>
                          <a:srgbClr val="3333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31" marR="0" marT="54746" marB="54746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用途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65631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en-US" altLang="zh-CN" sz="2800" b="1" i="0">
                          <a:solidFill>
                            <a:srgbClr val="3333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CPU</a:t>
                      </a:r>
                      <a:r>
                        <a:rPr lang="zh-CN" altLang="en-US" sz="2800" b="1" i="0">
                          <a:solidFill>
                            <a:srgbClr val="3333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主时钟</a:t>
                      </a:r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、高速外设时钟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31" marR="65631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en-US" altLang="zh-CN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RTC</a:t>
                      </a:r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altLang="zh-CN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Real-Time Clock</a:t>
                      </a:r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）实时时钟，低功耗计时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31" marR="0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功耗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65631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较高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65631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极低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0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计时精度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65631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高频率允许更多分辨率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65631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利于数字计时（</a:t>
                      </a:r>
                      <a:r>
                        <a:rPr lang="en-US" altLang="zh-CN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2^15</a:t>
                      </a:r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周期精确秒）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31" marR="0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电路负载电容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65631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en-US" altLang="zh-CN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~18-22 pF</a:t>
                      </a:r>
                      <a:endParaRPr lang="en-US" altLang="zh-CN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65631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en-US" altLang="zh-CN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~6-7 pF</a:t>
                      </a:r>
                      <a:endParaRPr lang="en-US" altLang="zh-CN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0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封装及体积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65631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通常较大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65631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通常较小，适合嵌入式大规模集成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0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使用优势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65631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高速、高精度系统时钟</a:t>
                      </a:r>
                      <a:endParaRPr lang="zh-CN" altLang="en-US" sz="2800" b="1" i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65631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t"/>
                      <a:r>
                        <a:rPr lang="zh-CN" altLang="en-US" sz="2800" b="1" i="0" dirty="0">
                          <a:solidFill>
                            <a:srgbClr val="37415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长时间稳定计时且功耗低</a:t>
                      </a:r>
                      <a:endParaRPr lang="zh-CN" altLang="en-US" sz="2800" b="1" i="0" dirty="0">
                        <a:solidFill>
                          <a:srgbClr val="37415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5631" marR="0" marT="65631" marB="6563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314950" y="86995"/>
            <a:ext cx="22047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总</a:t>
            </a:r>
            <a:r>
              <a:rPr lang="en-US" altLang="zh-CN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结</a:t>
            </a:r>
            <a:endParaRPr lang="zh-CN" altLang="en-US" sz="3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3517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878889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一、定时器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计数器的概念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76" name="内容占位符 135175"/>
          <p:cNvSpPr>
            <a:spLocks noGrp="1" noChangeArrowheads="1"/>
          </p:cNvSpPr>
          <p:nvPr>
            <p:ph idx="1"/>
          </p:nvPr>
        </p:nvSpPr>
        <p:spPr>
          <a:xfrm>
            <a:off x="485140" y="1160145"/>
            <a:ext cx="11050905" cy="5048250"/>
          </a:xfrm>
        </p:spPr>
        <p:txBody>
          <a:bodyPr>
            <a:normAutofit/>
          </a:bodyPr>
          <a:lstStyle/>
          <a:p>
            <a:pPr marL="0" indent="0" fontAlgn="auto">
              <a:lnSpc>
                <a:spcPts val="4000"/>
              </a:lnSpc>
              <a:spcAft>
                <a:spcPts val="0"/>
              </a:spcAft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●</a:t>
            </a:r>
            <a:r>
              <a:rPr lang="en-US" altLang="zh-CN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可以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产生中断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：通常当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定时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计数器溢出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时，产生中断。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fontAlgn="auto">
              <a:lnSpc>
                <a:spcPts val="4000"/>
              </a:lnSpc>
              <a:spcAft>
                <a:spcPts val="0"/>
              </a:spcAft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有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加法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计数、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减法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计数二种形式。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fontAlgn="auto">
              <a:lnSpc>
                <a:spcPts val="4000"/>
              </a:lnSpc>
              <a:spcAft>
                <a:spcPts val="0"/>
              </a:spcAft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如果来一个时钟脉冲后，所有的计数器的位，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加法模式下全部清零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或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减法模式下全部置</a:t>
            </a:r>
            <a:r>
              <a:rPr lang="en-US" altLang="zh-CN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，我们称为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计数器溢出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。溢出后，将会产生一个相应的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标志位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。如果允许，还会引起中断。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indent="0" fontAlgn="auto">
              <a:lnSpc>
                <a:spcPts val="4000"/>
              </a:lnSpc>
              <a:spcAft>
                <a:spcPts val="0"/>
              </a:spcAft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也可以当计数器为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某一特定值时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，产生中断，这叫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输出比较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lnSpc>
                <a:spcPts val="4000"/>
              </a:lnSpc>
              <a:spcAft>
                <a:spcPts val="0"/>
              </a:spcAft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定时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/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计数器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有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8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位、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16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位、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24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位、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位等多种。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8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位的，最多可以计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256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个脉冲，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16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位，则最多可以计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65536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个脉冲。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5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5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5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5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5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5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5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5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5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5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5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5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5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5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5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nimBg="1"/>
      <p:bldP spid="13517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972" y="1086791"/>
            <a:ext cx="10511161" cy="5298074"/>
          </a:xfrm>
        </p:spPr>
        <p:txBody>
          <a:bodyPr>
            <a:noAutofit/>
          </a:bodyPr>
          <a:lstStyle/>
          <a:p>
            <a:pPr marL="0" indent="0" fontAlgn="auto">
              <a:lnSpc>
                <a:spcPts val="4000"/>
              </a:lnSpc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为了产生一个特定的时间，我们常常会，给定时器一个适当的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初值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从这个初值，到产生溢出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，这个时间就是我们需要的特定时间。当然，初值不同，这个时间段就不同，这个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时间段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叫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溢出周期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fontAlgn="auto">
              <a:lnSpc>
                <a:spcPts val="4000"/>
              </a:lnSpc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为了使计数器每次的溢出周期都相同，这个初值，需要在在定时器每次溢出后来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重新设定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fontAlgn="auto">
              <a:lnSpc>
                <a:spcPts val="4000"/>
              </a:lnSpc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这个重新设定，传统上，一般用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软件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来完成。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fontAlgn="auto">
              <a:lnSpc>
                <a:spcPts val="4000"/>
              </a:lnSpc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有的单片机的某些定时器，可以由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硬件电路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来完成，我们称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定时器初值的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自动重装。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定时器初值的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自动重装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功能，是当今单片机的基本功能。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" name="标题 13517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41388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一、定时器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计数器的概念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7922" y="1092518"/>
            <a:ext cx="10768614" cy="5235575"/>
          </a:xfrm>
        </p:spPr>
        <p:txBody>
          <a:bodyPr>
            <a:normAutofit fontScale="97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STM32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单片机，有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一个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嘀嗒定时器和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四个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TIM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通用定时计数器，通过一定的技术手段，可以变化出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十多个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定时计数器。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嘀嗒定时器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SYSTICK</a:t>
            </a:r>
            <a:r>
              <a:rPr lang="zh-CN" altLang="en-US" dirty="0" err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en-US" altLang="zh-CN" b="1">
                <a:sym typeface="+mn-ea"/>
              </a:rPr>
              <a:t>System Tick Timer</a:t>
            </a:r>
            <a:r>
              <a:rPr lang="zh-CN" altLang="en-US" dirty="0" err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，是属于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ARM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内核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的定时器。所有使用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ARM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内核的单片机或微控制器，都有一个功能相同的嘀嗒定时器。如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NXP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、高通公司、三星、瑞萨等公司的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ARM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核单片机等。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SYSTICK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是一个</a:t>
            </a:r>
            <a:r>
              <a:rPr lang="en-US" altLang="zh-CN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24</a:t>
            </a:r>
            <a:r>
              <a:rPr lang="zh-CN" altLang="zh-CN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位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</a:t>
            </a:r>
            <a:r>
              <a:rPr lang="zh-CN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减法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计数器。当该定时器</a:t>
            </a:r>
            <a:r>
              <a:rPr lang="zh-CN" altLang="zh-CN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设定了初值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并使能后，每经过一个</a:t>
            </a:r>
            <a:r>
              <a:rPr lang="zh-CN" altLang="zh-CN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系统的周期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，计数器就减１，当计数器的值</a:t>
            </a:r>
            <a:r>
              <a:rPr lang="zh-CN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减到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0</a:t>
            </a:r>
            <a:r>
              <a:rPr lang="zh-CN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，单片机由相关</a:t>
            </a:r>
            <a:r>
              <a:rPr lang="zh-CN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硬件电路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自动重装初值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，并继续计数。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" name="标题 13517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41388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二、</a:t>
            </a:r>
            <a:r>
              <a:rPr lang="en-US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36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SYSTICK</a:t>
            </a:r>
            <a:r>
              <a:rPr lang="zh-CN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定时器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3865" y="941705"/>
            <a:ext cx="11070590" cy="5412105"/>
          </a:xfrm>
        </p:spPr>
        <p:txBody>
          <a:bodyPr>
            <a:noAutofit/>
          </a:bodyPr>
          <a:lstStyle/>
          <a:p>
            <a:pPr marL="0" indent="0" algn="just" fontAlgn="auto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7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zh-CN" altLang="zh-CN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如果中断</a:t>
            </a:r>
            <a:r>
              <a:rPr lang="zh-CN" altLang="zh-CN" sz="27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使能</a:t>
            </a:r>
            <a:r>
              <a:rPr lang="zh-CN" altLang="zh-CN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，将会触发中断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en-US" sz="2700" u="sng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每次溢出，将会产生中断</a:t>
            </a:r>
            <a:r>
              <a:rPr lang="zh-CN" altLang="zh-CN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zh-CN" sz="27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algn="just" fontAlgn="auto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7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sz="2700" dirty="0" err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SYSTICK</a:t>
            </a:r>
            <a:r>
              <a:rPr lang="zh-CN" altLang="zh-CN" sz="27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时钟源</a:t>
            </a:r>
            <a:r>
              <a:rPr lang="zh-CN" altLang="zh-CN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就是内核时钟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en-US" sz="2700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不可以</a:t>
            </a:r>
            <a:r>
              <a:rPr lang="zh-CN" altLang="en-US" sz="2700" u="sng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用</a:t>
            </a:r>
            <a:r>
              <a:rPr lang="zh-CN" altLang="en-US" sz="2700" u="sng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引脚脉冲</a:t>
            </a:r>
            <a:r>
              <a:rPr lang="zh-CN" altLang="en-US" sz="2700" u="sng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做为其时钟</a:t>
            </a:r>
            <a:r>
              <a:rPr lang="zh-CN" altLang="zh-CN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。如果单片机的系统时钟是</a:t>
            </a:r>
            <a:r>
              <a:rPr lang="en-US" altLang="zh-CN" sz="2700" dirty="0" err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72M</a:t>
            </a:r>
            <a:r>
              <a:rPr lang="zh-CN" altLang="zh-CN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，则该定时器的时钟源频率也是</a:t>
            </a:r>
            <a:r>
              <a:rPr lang="en-US" altLang="zh-CN" sz="2700" dirty="0" err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72M</a:t>
            </a:r>
            <a:r>
              <a:rPr lang="zh-CN" altLang="zh-CN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zh-CN" sz="27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27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en-US" altLang="zh-CN" sz="2700" dirty="0" err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SYSTICK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所能计的最大脉冲数为</a:t>
            </a:r>
            <a:r>
              <a:rPr lang="en-US" altLang="zh-CN" sz="27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zh-CN" sz="27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</a:t>
            </a:r>
            <a:r>
              <a:rPr lang="en-US" altLang="zh-CN" sz="27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24</a:t>
            </a:r>
            <a:r>
              <a:rPr lang="zh-CN" altLang="zh-CN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次方，即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16777216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个。</a:t>
            </a:r>
            <a:endParaRPr lang="en-US" altLang="zh-CN" sz="27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27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在</a:t>
            </a:r>
            <a:r>
              <a:rPr lang="en-US" altLang="zh-CN" sz="2700" dirty="0" err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72M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脉冲频率下， </a:t>
            </a:r>
            <a:r>
              <a:rPr lang="zh-CN" altLang="en-US" sz="2700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最大计数时间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为：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16777216/72000000=0.233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秒，即</a:t>
            </a:r>
            <a:r>
              <a:rPr lang="en-US" altLang="zh-CN" sz="27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233</a:t>
            </a:r>
            <a:r>
              <a:rPr lang="zh-CN" altLang="en-US" sz="27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毫秒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en-US" altLang="zh-CN" sz="27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27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●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一般我们</a:t>
            </a:r>
            <a:r>
              <a:rPr lang="zh-CN" altLang="en-US" sz="27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不需要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233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毫秒的数值，这就要我们根据所要求的定时长度，来给嘀嗒定时器设定一个</a:t>
            </a:r>
            <a:r>
              <a:rPr lang="zh-CN" altLang="en-US" sz="2700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初值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7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" name="标题 13517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41388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二、</a:t>
            </a:r>
            <a:r>
              <a:rPr lang="en-US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36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SYSTICK</a:t>
            </a:r>
            <a:r>
              <a:rPr lang="zh-CN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定时器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24865" y="993140"/>
            <a:ext cx="10534015" cy="11112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38455" y="2296160"/>
            <a:ext cx="11621770" cy="41636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i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static</a:t>
            </a:r>
            <a:r>
              <a:rPr lang="zh-CN" altLang="en-US" sz="2800" b="1" i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800" b="1" i="0">
                <a:solidFill>
                  <a:srgbClr val="2429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函数只在当前文件可见，内部链接</a:t>
            </a:r>
            <a:endParaRPr lang="zh-CN" altLang="en-US" sz="2800" b="1" i="0">
              <a:solidFill>
                <a:srgbClr val="2429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i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inline</a:t>
            </a:r>
            <a:r>
              <a:rPr lang="zh-CN" altLang="en-US" sz="2800" b="1" i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800" b="1" i="0">
                <a:solidFill>
                  <a:srgbClr val="2429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建议</a:t>
            </a: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编译器</a:t>
            </a:r>
            <a:r>
              <a:rPr lang="zh-CN" altLang="en-US" sz="2800" b="1" i="0">
                <a:solidFill>
                  <a:srgbClr val="2429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将函数代码</a:t>
            </a:r>
            <a:r>
              <a:rPr lang="zh-CN" altLang="en-US" sz="2800" b="1" i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直接嵌入调用处</a:t>
            </a:r>
            <a:r>
              <a:rPr lang="zh-CN" altLang="en-US" sz="2800" b="1" i="0">
                <a:solidFill>
                  <a:srgbClr val="2429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，而不是跳转调用</a:t>
            </a:r>
            <a:endParaRPr lang="zh-CN" altLang="en-US" sz="2800" b="1" i="0">
              <a:solidFill>
                <a:srgbClr val="2429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i="0">
                <a:solidFill>
                  <a:srgbClr val="2429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2800" b="1" i="0">
                <a:solidFill>
                  <a:srgbClr val="2429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目的：提高执行效率，减少函数调用开销</a:t>
            </a:r>
            <a:endParaRPr lang="zh-CN" altLang="en-US" sz="2800" b="1" i="0">
              <a:solidFill>
                <a:srgbClr val="2429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SysTick_Config 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Cortex-M3 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内核提供的标准函数，位于内核文件 </a:t>
            </a:r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core_cm3.h</a:t>
            </a:r>
            <a:endParaRPr lang="en-US" altLang="zh-CN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uint32_t ticks</a:t>
            </a:r>
            <a:r>
              <a:rPr lang="zh-CN" altLang="en-US" sz="2800" b="1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8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要配置的重装载值（多少个时钟周期触发一次中断）</a:t>
            </a:r>
            <a:endParaRPr lang="en-US" altLang="zh-CN" sz="2800" b="1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标题 13517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41388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en-US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36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SYSTICK</a:t>
            </a:r>
            <a:r>
              <a:rPr lang="zh-CN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定时器</a:t>
            </a:r>
            <a:r>
              <a:rPr lang="zh-CN" altLang="en-US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3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初值设定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4790" y="889000"/>
            <a:ext cx="11789410" cy="3935095"/>
          </a:xfrm>
        </p:spPr>
        <p:txBody>
          <a:bodyPr>
            <a:noAutofit/>
          </a:bodyPr>
          <a:lstStyle/>
          <a:p>
            <a:pPr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配置中断周期脉冲数</a:t>
            </a:r>
            <a:endParaRPr lang="zh-CN" altLang="en-US" sz="3200" b="1" dirty="0">
              <a:solidFill>
                <a:srgbClr val="3333FF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__</a:t>
            </a:r>
            <a:r>
              <a:rPr lang="en-US" altLang="zh-CN" sz="3200" dirty="0" err="1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STATIC_INLINE</a:t>
            </a: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uint32_ t</a:t>
            </a: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solidFill>
                  <a:srgbClr val="3333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SysTick_Config</a:t>
            </a: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uint32_t</a:t>
            </a: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ticks)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这一行就是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启动定时器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，它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内部自动做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3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件事：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①设置重装载值</a:t>
            </a:r>
            <a:r>
              <a:rPr lang="en-US" altLang="zh-CN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②</a:t>
            </a:r>
            <a:r>
              <a:rPr lang="zh-CN" altLang="en-US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选择时钟源（内核时钟）③使能定时器</a:t>
            </a:r>
            <a:endParaRPr lang="en-US" altLang="zh-CN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SystemCoreClock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------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1S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                   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每秒：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72000000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个</a:t>
            </a:r>
            <a:endParaRPr lang="en-US" altLang="zh-CN" dirty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dirty="0" err="1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SystemCoreClock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/1000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--------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1(mS)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每毫秒：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72000</a:t>
            </a:r>
            <a:endParaRPr lang="en-US" altLang="zh-CN" dirty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SystemCoreClock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/1000*x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----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x(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ms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,  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x=0.5, 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0.5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毫秒：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36000</a:t>
            </a:r>
            <a:endParaRPr lang="en-US" altLang="zh-CN" dirty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标题 13517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41388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en-US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36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SYSTICK</a:t>
            </a:r>
            <a:r>
              <a:rPr lang="zh-CN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定时器</a:t>
            </a:r>
            <a:r>
              <a:rPr lang="zh-CN" altLang="en-US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3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初值设定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517" b="65469"/>
          <a:stretch>
            <a:fillRect/>
          </a:stretch>
        </p:blipFill>
        <p:spPr>
          <a:xfrm>
            <a:off x="2496820" y="5234305"/>
            <a:ext cx="7964170" cy="1390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3370" y="22225"/>
            <a:ext cx="4775835" cy="72898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补充：</a:t>
            </a:r>
            <a:r>
              <a:rPr lang="en-US" altLang="zh-CN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inline 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内联函数详解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2275" y="751205"/>
            <a:ext cx="5205730" cy="508635"/>
          </a:xfrm>
        </p:spPr>
        <p:txBody>
          <a:bodyPr/>
          <a:lstStyle/>
          <a:p>
            <a:r>
              <a:rPr lang="zh-CN" altLang="en-US" b="1"/>
              <a:t>一、普通函数调用（跳转调用）</a:t>
            </a:r>
            <a:endParaRPr lang="zh-CN" altLang="en-US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6116" r="5585"/>
          <a:stretch>
            <a:fillRect/>
          </a:stretch>
        </p:blipFill>
        <p:spPr>
          <a:xfrm>
            <a:off x="4734560" y="1259840"/>
            <a:ext cx="6537960" cy="28168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8635" y="3968115"/>
            <a:ext cx="1158113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调用</a:t>
            </a:r>
            <a:r>
              <a:rPr lang="en-US" altLang="zh-CN" sz="2400" b="1"/>
              <a:t> add(3, 5) </a:t>
            </a:r>
            <a:r>
              <a:rPr lang="zh-CN" altLang="en-US" sz="2400" b="1"/>
              <a:t>时，</a:t>
            </a:r>
            <a:r>
              <a:rPr lang="en-US" altLang="zh-CN" sz="2400" b="1"/>
              <a:t>CPU</a:t>
            </a:r>
            <a:r>
              <a:rPr lang="zh-CN" altLang="en-US" sz="2400" b="1"/>
              <a:t>要做这些事：</a:t>
            </a:r>
            <a:endParaRPr lang="en-US" altLang="zh-CN" sz="2400" b="1"/>
          </a:p>
          <a:p>
            <a:r>
              <a:rPr lang="en-US" altLang="en-US" sz="2400" b="1"/>
              <a:t>①</a:t>
            </a:r>
            <a:r>
              <a:rPr lang="en-US" altLang="zh-CN" sz="2400" b="1"/>
              <a:t> </a:t>
            </a:r>
            <a:r>
              <a:rPr lang="zh-CN" altLang="en-US" sz="2400" b="1"/>
              <a:t>保存现场：把当前执行位置（返回地址）压入栈</a:t>
            </a:r>
            <a:endParaRPr lang="zh-CN" altLang="en-US" sz="2400" b="1"/>
          </a:p>
          <a:p>
            <a:r>
              <a:rPr lang="en-US" altLang="en-US" sz="2400" b="1"/>
              <a:t>②</a:t>
            </a:r>
            <a:r>
              <a:rPr lang="en-US" altLang="zh-CN" sz="2400" b="1"/>
              <a:t> </a:t>
            </a:r>
            <a:r>
              <a:rPr lang="zh-CN" altLang="en-US" sz="2400" b="1"/>
              <a:t>传递参数：把</a:t>
            </a:r>
            <a:r>
              <a:rPr lang="en-US" altLang="zh-CN" sz="2400" b="1"/>
              <a:t> 3 </a:t>
            </a:r>
            <a:r>
              <a:rPr lang="zh-CN" altLang="en-US" sz="2400" b="1"/>
              <a:t>和</a:t>
            </a:r>
            <a:r>
              <a:rPr lang="en-US" altLang="zh-CN" sz="2400" b="1"/>
              <a:t> 5 </a:t>
            </a:r>
            <a:r>
              <a:rPr lang="zh-CN" altLang="en-US" sz="2400" b="1"/>
              <a:t>压入栈或放入寄存器</a:t>
            </a:r>
            <a:endParaRPr lang="zh-CN" altLang="en-US" sz="2400" b="1"/>
          </a:p>
          <a:p>
            <a:r>
              <a:rPr lang="en-US" altLang="en-US" sz="2400" b="1"/>
              <a:t>③</a:t>
            </a:r>
            <a:r>
              <a:rPr lang="en-US" altLang="zh-CN" sz="2400" b="1"/>
              <a:t> </a:t>
            </a:r>
            <a:r>
              <a:rPr lang="zh-CN" altLang="en-US" sz="2400" b="1"/>
              <a:t>跳转：</a:t>
            </a:r>
            <a:r>
              <a:rPr lang="en-US" altLang="zh-CN" sz="2400" b="1"/>
              <a:t> CPU</a:t>
            </a:r>
            <a:r>
              <a:rPr lang="zh-CN" altLang="en-US" sz="2400" b="1"/>
              <a:t>跳到</a:t>
            </a:r>
            <a:r>
              <a:rPr lang="en-US" altLang="zh-CN" sz="2400" b="1"/>
              <a:t> add </a:t>
            </a:r>
            <a:r>
              <a:rPr lang="zh-CN" altLang="en-US" sz="2400" b="1"/>
              <a:t>函数的内存地址</a:t>
            </a:r>
            <a:endParaRPr lang="zh-CN" altLang="en-US" sz="2400" b="1"/>
          </a:p>
          <a:p>
            <a:r>
              <a:rPr lang="en-US" altLang="en-US" sz="2400" b="1">
                <a:solidFill>
                  <a:srgbClr val="FF0000"/>
                </a:solidFill>
              </a:rPr>
              <a:t>④</a:t>
            </a:r>
            <a:r>
              <a:rPr lang="en-US" altLang="zh-CN" sz="2400" b="1">
                <a:solidFill>
                  <a:srgbClr val="FF0000"/>
                </a:solidFill>
              </a:rPr>
              <a:t> </a:t>
            </a:r>
            <a:r>
              <a:rPr lang="zh-CN" altLang="en-US" sz="2400" b="1">
                <a:solidFill>
                  <a:srgbClr val="FF0000"/>
                </a:solidFill>
              </a:rPr>
              <a:t>执行函数：执行</a:t>
            </a:r>
            <a:r>
              <a:rPr lang="en-US" altLang="zh-CN" sz="2400" b="1">
                <a:solidFill>
                  <a:srgbClr val="FF0000"/>
                </a:solidFill>
              </a:rPr>
              <a:t> a + b   </a:t>
            </a:r>
            <a:r>
              <a:rPr lang="en-US" altLang="en-US" sz="2400" b="1"/>
              <a:t>⑤</a:t>
            </a:r>
            <a:r>
              <a:rPr lang="en-US" altLang="zh-CN" sz="2400" b="1"/>
              <a:t> </a:t>
            </a:r>
            <a:r>
              <a:rPr lang="zh-CN" altLang="en-US" sz="2400" b="1"/>
              <a:t>返回值：</a:t>
            </a:r>
            <a:r>
              <a:rPr lang="en-US" altLang="zh-CN" sz="2400" b="1"/>
              <a:t> </a:t>
            </a:r>
            <a:r>
              <a:rPr lang="zh-CN" altLang="en-US" sz="2400" b="1"/>
              <a:t>把结果放到寄存器</a:t>
            </a:r>
            <a:r>
              <a:rPr lang="en-US" altLang="zh-CN" sz="2400" b="1"/>
              <a:t>  </a:t>
            </a:r>
            <a:endParaRPr lang="en-US" altLang="zh-CN" sz="2400" b="1"/>
          </a:p>
          <a:p>
            <a:r>
              <a:rPr lang="en-US" altLang="en-US" sz="2400" b="1"/>
              <a:t>⑥</a:t>
            </a:r>
            <a:r>
              <a:rPr lang="en-US" altLang="zh-CN" sz="2400" b="1"/>
              <a:t> </a:t>
            </a:r>
            <a:r>
              <a:rPr lang="zh-CN" altLang="en-US" sz="2400" b="1"/>
              <a:t>恢复现场：</a:t>
            </a:r>
            <a:r>
              <a:rPr lang="en-US" altLang="zh-CN" sz="2400" b="1"/>
              <a:t> </a:t>
            </a:r>
            <a:r>
              <a:rPr lang="zh-CN" altLang="en-US" sz="2400" b="1"/>
              <a:t>从栈中取出返回地址</a:t>
            </a:r>
            <a:r>
              <a:rPr lang="en-US" altLang="zh-CN" sz="2400" b="1"/>
              <a:t>     </a:t>
            </a:r>
            <a:r>
              <a:rPr lang="en-US" altLang="en-US" sz="2400" b="1"/>
              <a:t>⑦</a:t>
            </a:r>
            <a:r>
              <a:rPr lang="en-US" altLang="zh-CN" sz="2400" b="1"/>
              <a:t> </a:t>
            </a:r>
            <a:r>
              <a:rPr lang="zh-CN" altLang="en-US" sz="2400" b="1"/>
              <a:t>跳回：</a:t>
            </a:r>
            <a:r>
              <a:rPr lang="en-US" altLang="zh-CN" sz="2400" b="1"/>
              <a:t> CPU</a:t>
            </a:r>
            <a:r>
              <a:rPr lang="zh-CN" altLang="en-US" sz="2400" b="1"/>
              <a:t>跳回</a:t>
            </a:r>
            <a:r>
              <a:rPr lang="en-US" altLang="zh-CN" sz="2400" b="1"/>
              <a:t> main </a:t>
            </a:r>
            <a:r>
              <a:rPr lang="zh-CN" altLang="en-US" sz="2400" b="1"/>
              <a:t>继续执行</a:t>
            </a:r>
            <a:endParaRPr lang="en-US" altLang="zh-CN" sz="2400" b="1"/>
          </a:p>
          <a:p>
            <a:pPr algn="ctr"/>
            <a:r>
              <a:rPr lang="zh-CN" altLang="en-US" sz="2400" b="1">
                <a:solidFill>
                  <a:srgbClr val="3333FF"/>
                </a:solidFill>
              </a:rPr>
              <a:t>真正有用的只有</a:t>
            </a:r>
            <a:r>
              <a:rPr lang="en-US" altLang="zh-CN" sz="2400" b="1">
                <a:solidFill>
                  <a:srgbClr val="3333FF"/>
                </a:solidFill>
              </a:rPr>
              <a:t> </a:t>
            </a:r>
            <a:r>
              <a:rPr lang="en-US" altLang="en-US" sz="2400" b="1">
                <a:solidFill>
                  <a:srgbClr val="3333FF"/>
                </a:solidFill>
              </a:rPr>
              <a:t>④</a:t>
            </a:r>
            <a:r>
              <a:rPr lang="zh-CN" altLang="en-US" sz="2400" b="1">
                <a:solidFill>
                  <a:srgbClr val="3333FF"/>
                </a:solidFill>
              </a:rPr>
              <a:t>，其余都是</a:t>
            </a:r>
            <a:r>
              <a:rPr lang="en-US" altLang="zh-CN" sz="2400" b="1">
                <a:solidFill>
                  <a:srgbClr val="3333FF"/>
                </a:solidFill>
              </a:rPr>
              <a:t>"</a:t>
            </a:r>
            <a:r>
              <a:rPr lang="zh-CN" altLang="en-US" sz="2400" b="1">
                <a:solidFill>
                  <a:srgbClr val="3333FF"/>
                </a:solidFill>
              </a:rPr>
              <a:t>开销</a:t>
            </a:r>
            <a:r>
              <a:rPr lang="en-US" altLang="zh-CN" sz="2400" b="1">
                <a:solidFill>
                  <a:srgbClr val="3333FF"/>
                </a:solidFill>
              </a:rPr>
              <a:t>"</a:t>
            </a:r>
            <a:endParaRPr lang="en-US" altLang="zh-CN" sz="2400" b="1">
              <a:solidFill>
                <a:srgbClr val="3333FF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" y="1212215"/>
            <a:ext cx="4315460" cy="26485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" y="84455"/>
            <a:ext cx="6622415" cy="1068705"/>
          </a:xfrm>
        </p:spPr>
        <p:txBody>
          <a:bodyPr/>
          <a:lstStyle/>
          <a:p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二、内联函数（直接嵌入）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10" y="998855"/>
            <a:ext cx="4768215" cy="28771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34415" y="4046855"/>
            <a:ext cx="248729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600"/>
              </a:spcAft>
            </a:pPr>
            <a:r>
              <a:rPr lang="zh-CN" altLang="en-US" sz="2800" b="1" i="0">
                <a:solidFill>
                  <a:srgbClr val="FF0000"/>
                </a:solidFill>
                <a:latin typeface="ui-sans-serif"/>
                <a:ea typeface="ui-sans-serif"/>
              </a:rPr>
              <a:t>编译器处理后：</a:t>
            </a:r>
            <a:endParaRPr lang="zh-CN" altLang="en-US" sz="2800" b="1" i="0">
              <a:solidFill>
                <a:srgbClr val="FF0000"/>
              </a:solidFill>
              <a:latin typeface="ui-sans-serif"/>
              <a:ea typeface="ui-sans-serif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170" y="4678680"/>
            <a:ext cx="8232140" cy="14052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890" y="518795"/>
            <a:ext cx="6298565" cy="35845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6545"/>
            <a:ext cx="6864350" cy="50673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080885" y="76200"/>
            <a:ext cx="340804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600"/>
              </a:spcAft>
            </a:pPr>
            <a:r>
              <a:rPr lang="zh-CN" altLang="en-US" sz="2800" b="1" i="0">
                <a:solidFill>
                  <a:srgbClr val="FF0000"/>
                </a:solidFill>
                <a:latin typeface="ui-sans-serif"/>
                <a:ea typeface="ui-sans-serif"/>
              </a:rPr>
              <a:t>什么时候用 </a:t>
            </a:r>
            <a:r>
              <a:rPr lang="en-US" altLang="zh-CN" sz="2800" b="1" i="0">
                <a:solidFill>
                  <a:srgbClr val="FF0000"/>
                </a:solidFill>
                <a:latin typeface="ui-sans-serif"/>
                <a:ea typeface="ui-sans-serif"/>
              </a:rPr>
              <a:t>inline</a:t>
            </a:r>
            <a:r>
              <a:rPr lang="zh-CN" altLang="en-US" sz="2800" b="1" i="0">
                <a:solidFill>
                  <a:srgbClr val="FF0000"/>
                </a:solidFill>
                <a:latin typeface="ui-sans-serif"/>
                <a:ea typeface="宋体" panose="02010600030101010101" pitchFamily="2" charset="-122"/>
              </a:rPr>
              <a:t>？</a:t>
            </a:r>
            <a:endParaRPr lang="zh-CN" altLang="en-US" sz="2800" b="1" i="0">
              <a:solidFill>
                <a:srgbClr val="FF0000"/>
              </a:solidFill>
              <a:latin typeface="ui-sans-serif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155" y="539750"/>
            <a:ext cx="5038725" cy="36766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155" y="4216400"/>
            <a:ext cx="4035425" cy="217614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41388"/>
            <a:ext cx="5449077" cy="5450081"/>
          </a:xfrm>
        </p:spPr>
        <p:txBody>
          <a:bodyPr>
            <a:normAutofit/>
          </a:bodyPr>
          <a:lstStyle/>
          <a:p>
            <a:pPr marL="685800" indent="-4572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使用</a:t>
            </a:r>
            <a:r>
              <a:rPr lang="en-AU" altLang="zh-CN" b="1" dirty="0" err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SysTick_Handler</a:t>
            </a:r>
            <a:r>
              <a:rPr lang="zh-CN" altLang="en-US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（）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来写中断服务函数。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685800" indent="-4572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不需要清中断标志。</a:t>
            </a:r>
            <a:r>
              <a:rPr lang="en-US" altLang="zh-CN" b="1" dirty="0" err="1">
                <a:sym typeface="+mn-ea"/>
              </a:rPr>
              <a:t>SysTick</a:t>
            </a:r>
            <a:r>
              <a:rPr lang="zh-CN" altLang="en-US" b="1" dirty="0">
                <a:sym typeface="+mn-ea"/>
              </a:rPr>
              <a:t>属于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异常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”</a:t>
            </a:r>
            <a:r>
              <a:rPr lang="zh-CN" altLang="en-US" b="1" dirty="0">
                <a:sym typeface="+mn-ea"/>
              </a:rPr>
              <a:t>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685800" indent="-4572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这是个特例，其它的中断，均需要清中断标志。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685800" indent="-4572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不需要重新设定初值。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indent="304800" algn="just">
              <a:lnSpc>
                <a:spcPct val="150000"/>
              </a:lnSpc>
              <a:spcBef>
                <a:spcPts val="600"/>
              </a:spcBef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" name="标题 13517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41388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四、</a:t>
            </a:r>
            <a:r>
              <a:rPr lang="en-US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36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SYSTICK</a:t>
            </a:r>
            <a:r>
              <a:rPr lang="zh-CN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定时器</a:t>
            </a:r>
            <a:r>
              <a:rPr lang="zh-CN" altLang="en-US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3600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中断服务程序</a:t>
            </a:r>
            <a:endParaRPr lang="zh-CN" altLang="en-US" sz="3600" dirty="0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041" y="1304724"/>
            <a:ext cx="5980500" cy="46409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935" y="1393190"/>
            <a:ext cx="11334750" cy="2367915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lang="en-US" altLang="zh-CN" sz="3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程：</a:t>
            </a:r>
            <a:br>
              <a:rPr lang="zh-CN" altLang="en-US" sz="3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3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3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系统滴答定时器实现计时精度</a:t>
            </a:r>
            <a:r>
              <a:rPr lang="en-US" altLang="zh-CN" sz="3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0.1s</a:t>
            </a:r>
            <a:r>
              <a:rPr lang="zh-CN" altLang="en-US" sz="3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3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PA2</a:t>
            </a:r>
            <a:r>
              <a:rPr lang="zh-CN" altLang="en-US" sz="3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按键控制计时暂停和继续。</a:t>
            </a:r>
            <a:endParaRPr lang="zh-CN" altLang="en-US" sz="36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/>
          <p:nvPr/>
        </p:nvGraphicFramePr>
        <p:xfrm>
          <a:off x="882015" y="1536573"/>
          <a:ext cx="4958715" cy="4988280"/>
        </p:xfrm>
        <a:graphic>
          <a:graphicData uri="http://schemas.openxmlformats.org/drawingml/2006/table">
            <a:tbl>
              <a:tblPr/>
              <a:tblGrid>
                <a:gridCol w="1476375"/>
                <a:gridCol w="1932940"/>
                <a:gridCol w="1549400"/>
              </a:tblGrid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/>
                        <a:t>数组下标</a:t>
                      </a:r>
                      <a:endParaRPr lang="zh-CN" altLang="en-US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/>
                        <a:t>十六进制代码</a:t>
                      </a:r>
                      <a:endParaRPr lang="zh-CN" altLang="en-US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/>
                        <a:t>显示内容</a:t>
                      </a:r>
                      <a:endParaRPr lang="zh-CN" altLang="en-US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0X3F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0X06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2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0X5B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2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3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0X4F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3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4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0X66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4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5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0X6D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5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6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0X7D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6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7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0X07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7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8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0X7F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8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9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0X6F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9</a:t>
                      </a:r>
                      <a:endParaRPr lang="en-US" altLang="zh-CN" sz="2400" b="1" dirty="0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6411595" y="1903603"/>
          <a:ext cx="3308985" cy="4988280"/>
        </p:xfrm>
        <a:graphic>
          <a:graphicData uri="http://schemas.openxmlformats.org/drawingml/2006/table">
            <a:tbl>
              <a:tblPr/>
              <a:tblGrid>
                <a:gridCol w="975360"/>
                <a:gridCol w="1313815"/>
                <a:gridCol w="1019810"/>
              </a:tblGrid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10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0XBF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altLang="zh-CN" sz="2400" b="1">
                        <a:solidFill>
                          <a:srgbClr val="FF0000"/>
                        </a:solidFill>
                      </a:endParaRPr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11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0X86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altLang="zh-CN" sz="2400" b="1">
                        <a:solidFill>
                          <a:srgbClr val="FF0000"/>
                        </a:solidFill>
                      </a:endParaRPr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12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0XDB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2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altLang="zh-CN" sz="2400" b="1">
                        <a:solidFill>
                          <a:srgbClr val="FF0000"/>
                        </a:solidFill>
                      </a:endParaRPr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13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0XCF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3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altLang="zh-CN" sz="2400" b="1">
                        <a:solidFill>
                          <a:srgbClr val="FF0000"/>
                        </a:solidFill>
                      </a:endParaRPr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14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0XE6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4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altLang="zh-CN" sz="2400" b="1">
                        <a:solidFill>
                          <a:srgbClr val="FF0000"/>
                        </a:solidFill>
                      </a:endParaRPr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15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0XED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5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altLang="zh-CN" sz="2400" b="1">
                        <a:solidFill>
                          <a:srgbClr val="FF0000"/>
                        </a:solidFill>
                      </a:endParaRPr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16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0XFD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6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altLang="zh-CN" sz="2400" b="1">
                        <a:solidFill>
                          <a:srgbClr val="FF0000"/>
                        </a:solidFill>
                      </a:endParaRPr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17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0X87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7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altLang="zh-CN" sz="2400" b="1">
                        <a:solidFill>
                          <a:srgbClr val="FF0000"/>
                        </a:solidFill>
                      </a:endParaRPr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18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0XFF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8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altLang="zh-CN" sz="2400" b="1">
                        <a:solidFill>
                          <a:srgbClr val="FF0000"/>
                        </a:solidFill>
                      </a:endParaRPr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19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0XEF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9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altLang="zh-CN" sz="2400" b="1">
                        <a:solidFill>
                          <a:srgbClr val="FF0000"/>
                        </a:solidFill>
                      </a:endParaRPr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20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0X00</a:t>
                      </a:r>
                      <a:endParaRPr lang="en-US" altLang="zh-CN" sz="2400" b="1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熄灭</a:t>
                      </a:r>
                      <a:endParaRPr lang="zh-CN" altLang="en-US" sz="2400" b="1" dirty="0"/>
                    </a:p>
                  </a:txBody>
                  <a:tcPr marL="43860" marR="43860" marT="43860" marB="43860" anchor="ctr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4489" t="39593" b="11114"/>
          <a:stretch>
            <a:fillRect/>
          </a:stretch>
        </p:blipFill>
        <p:spPr>
          <a:xfrm>
            <a:off x="462915" y="342265"/>
            <a:ext cx="11417300" cy="118046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995" y="723900"/>
            <a:ext cx="11265535" cy="1325880"/>
          </a:xfrm>
        </p:spPr>
        <p:txBody>
          <a:bodyPr>
            <a:normAutofit fontScale="90000"/>
          </a:bodyPr>
          <a:lstStyle/>
          <a:p>
            <a:r>
              <a:rPr lang="zh-CN" altLang="en-US" sz="3555" b="1" dirty="0">
                <a:solidFill>
                  <a:srgbClr val="7030A0"/>
                </a:solidFill>
              </a:rPr>
              <a:t>例程：</a:t>
            </a:r>
            <a:br>
              <a:rPr lang="zh-CN" altLang="en-US" sz="3555" b="1" dirty="0">
                <a:solidFill>
                  <a:srgbClr val="7030A0"/>
                </a:solidFill>
              </a:rPr>
            </a:br>
            <a:r>
              <a:rPr lang="zh-CN" altLang="en-US" sz="3555" b="1" dirty="0">
                <a:solidFill>
                  <a:srgbClr val="7030A0"/>
                </a:solidFill>
              </a:rPr>
              <a:t> </a:t>
            </a:r>
            <a:r>
              <a:rPr lang="en-US" altLang="zh-CN" sz="3555" b="1" dirty="0">
                <a:solidFill>
                  <a:srgbClr val="7030A0"/>
                </a:solidFill>
              </a:rPr>
              <a:t>   PA2</a:t>
            </a:r>
            <a:r>
              <a:rPr lang="zh-CN" altLang="en-US" sz="3555" b="1" dirty="0">
                <a:solidFill>
                  <a:srgbClr val="7030A0"/>
                </a:solidFill>
              </a:rPr>
              <a:t>控制加</a:t>
            </a:r>
            <a:r>
              <a:rPr lang="en-US" altLang="zh-CN" sz="3555" b="1" dirty="0">
                <a:solidFill>
                  <a:srgbClr val="7030A0"/>
                </a:solidFill>
              </a:rPr>
              <a:t>1</a:t>
            </a:r>
            <a:r>
              <a:rPr lang="zh-CN" altLang="en-US" sz="3555" b="1" dirty="0">
                <a:solidFill>
                  <a:srgbClr val="7030A0"/>
                </a:solidFill>
              </a:rPr>
              <a:t>计数器，软件消抖；自动流水灯体会粗略延时。</a:t>
            </a:r>
            <a:endParaRPr lang="zh-CN" altLang="en-US" sz="3555" b="1" dirty="0">
              <a:solidFill>
                <a:srgbClr val="7030A0"/>
              </a:solidFill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594995" y="2538730"/>
            <a:ext cx="111855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7030A0"/>
                </a:solidFill>
              </a:rPr>
              <a:t>例程：</a:t>
            </a:r>
            <a:endParaRPr lang="zh-CN" altLang="en-US" sz="3200" b="1" dirty="0">
              <a:solidFill>
                <a:srgbClr val="7030A0"/>
              </a:solidFill>
            </a:endParaRPr>
          </a:p>
          <a:p>
            <a:r>
              <a:rPr lang="zh-CN" altLang="en-US" sz="3200" b="1" dirty="0">
                <a:solidFill>
                  <a:srgbClr val="7030A0"/>
                </a:solidFill>
              </a:rPr>
              <a:t> </a:t>
            </a:r>
            <a:r>
              <a:rPr lang="en-US" altLang="zh-CN" sz="3200" b="1" dirty="0">
                <a:solidFill>
                  <a:srgbClr val="7030A0"/>
                </a:solidFill>
              </a:rPr>
              <a:t>   PA2</a:t>
            </a:r>
            <a:r>
              <a:rPr lang="zh-CN" altLang="en-US" sz="3200" b="1" dirty="0">
                <a:solidFill>
                  <a:srgbClr val="7030A0"/>
                </a:solidFill>
              </a:rPr>
              <a:t>控制加</a:t>
            </a:r>
            <a:r>
              <a:rPr lang="en-US" altLang="zh-CN" sz="3200" b="1" dirty="0">
                <a:solidFill>
                  <a:srgbClr val="7030A0"/>
                </a:solidFill>
              </a:rPr>
              <a:t>1</a:t>
            </a:r>
            <a:r>
              <a:rPr lang="zh-CN" altLang="en-US" sz="3200" b="1" dirty="0">
                <a:solidFill>
                  <a:srgbClr val="7030A0"/>
                </a:solidFill>
              </a:rPr>
              <a:t>计数器，软件消抖；自动流水灯体会精确延时</a:t>
            </a:r>
            <a:endParaRPr lang="zh-CN" altLang="en-US" sz="32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0995" y="278130"/>
            <a:ext cx="3775710" cy="748030"/>
          </a:xfrm>
        </p:spPr>
        <p:txBody>
          <a:bodyPr>
            <a:normAutofit fontScale="90000"/>
          </a:bodyPr>
          <a:lstStyle/>
          <a:p>
            <a:r>
              <a:rPr lang="zh-CN" altLang="en-US"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粗略延时</a:t>
            </a:r>
            <a:r>
              <a:rPr lang="en-US" altLang="zh-CN"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精确延时</a:t>
            </a:r>
            <a:endParaRPr lang="zh-CN" altLang="en-US" sz="2800" b="1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492760"/>
            <a:ext cx="5314950" cy="5562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26758"/>
          <a:stretch>
            <a:fillRect/>
          </a:stretch>
        </p:blipFill>
        <p:spPr>
          <a:xfrm>
            <a:off x="1054100" y="2590165"/>
            <a:ext cx="3583305" cy="16160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1159" y="1347787"/>
            <a:ext cx="4909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在滴答定时器中：实现精确延时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00545" y="163281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7030A0"/>
                </a:solidFill>
              </a:rPr>
              <a:t>例程：滴答定时器实现</a:t>
            </a:r>
            <a:r>
              <a:rPr lang="zh-CN" sz="3600" b="1" dirty="0">
                <a:solidFill>
                  <a:srgbClr val="7030A0"/>
                </a:solidFill>
              </a:rPr>
              <a:t>电子时钟，并且可以手动调时、分、秒。</a:t>
            </a:r>
            <a:endParaRPr lang="zh-CN" sz="36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424" y="367671"/>
            <a:ext cx="6698676" cy="198011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241" y="2678177"/>
            <a:ext cx="5767291" cy="366408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130290" cy="934720"/>
          </a:xfrm>
        </p:spPr>
        <p:txBody>
          <a:bodyPr>
            <a:normAutofit/>
          </a:bodyPr>
          <a:lstStyle/>
          <a:p>
            <a:r>
              <a:rPr lang="zh-CN" altLang="en-US" sz="3110" b="1"/>
              <a:t>示例计算（</a:t>
            </a:r>
            <a:r>
              <a:rPr lang="en-US" altLang="zh-CN" sz="3110" b="1"/>
              <a:t>second = 3661</a:t>
            </a:r>
            <a:r>
              <a:rPr lang="zh-CN" altLang="en-US" sz="3110" b="1"/>
              <a:t>）：</a:t>
            </a:r>
            <a:endParaRPr lang="zh-CN" altLang="en-US" sz="311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855" y="1424305"/>
            <a:ext cx="5477510" cy="4351655"/>
          </a:xfrm>
        </p:spPr>
        <p:txBody>
          <a:bodyPr>
            <a:noAutofit/>
          </a:bodyPr>
          <a:lstStyle/>
          <a:p>
            <a:r>
              <a:rPr lang="en-US" altLang="zh-CN" sz="2300" b="1"/>
              <a:t>second = 3661</a:t>
            </a:r>
            <a:r>
              <a:rPr lang="zh-CN" altLang="en-US" sz="2300" b="1"/>
              <a:t>秒</a:t>
            </a:r>
            <a:r>
              <a:rPr lang="en-US" altLang="zh-CN" sz="2300" b="1"/>
              <a:t> = 1</a:t>
            </a:r>
            <a:r>
              <a:rPr lang="zh-CN" altLang="en-US" sz="2300" b="1"/>
              <a:t>小时</a:t>
            </a:r>
            <a:r>
              <a:rPr lang="en-US" altLang="zh-CN" sz="2300" b="1"/>
              <a:t>1</a:t>
            </a:r>
            <a:r>
              <a:rPr lang="zh-CN" altLang="en-US" sz="2300" b="1"/>
              <a:t>分</a:t>
            </a:r>
            <a:r>
              <a:rPr lang="en-US" altLang="zh-CN" sz="2300" b="1"/>
              <a:t>1</a:t>
            </a:r>
            <a:r>
              <a:rPr lang="zh-CN" altLang="en-US" sz="2300" b="1"/>
              <a:t>秒</a:t>
            </a:r>
            <a:endParaRPr lang="zh-CN" altLang="en-US" sz="2300" b="1"/>
          </a:p>
          <a:p>
            <a:endParaRPr lang="en-US" altLang="zh-CN" sz="2300" b="1"/>
          </a:p>
          <a:p>
            <a:r>
              <a:rPr lang="zh-CN" altLang="en-US" sz="2300" b="1"/>
              <a:t>秒数</a:t>
            </a:r>
            <a:r>
              <a:rPr lang="en-US" altLang="zh-CN" sz="2300" b="1"/>
              <a:t>: 3661 % 60 = 1</a:t>
            </a:r>
            <a:endParaRPr lang="en-US" altLang="zh-CN" sz="2300" b="1"/>
          </a:p>
          <a:p>
            <a:r>
              <a:rPr lang="en-US" altLang="zh-CN" sz="2300" b="1"/>
              <a:t>  disbuf[7] = 1 % 10 = 1 (</a:t>
            </a:r>
            <a:r>
              <a:rPr lang="zh-CN" altLang="en-US" sz="2300" b="1"/>
              <a:t>个位</a:t>
            </a:r>
            <a:r>
              <a:rPr lang="en-US" altLang="zh-CN" sz="2300" b="1"/>
              <a:t>)</a:t>
            </a:r>
            <a:endParaRPr lang="en-US" altLang="zh-CN" sz="2300" b="1"/>
          </a:p>
          <a:p>
            <a:r>
              <a:rPr lang="en-US" altLang="zh-CN" sz="2300" b="1"/>
              <a:t>  disbuf[6] = 1 / 10 = 0 (</a:t>
            </a:r>
            <a:r>
              <a:rPr lang="zh-CN" altLang="en-US" sz="2300" b="1"/>
              <a:t>十位</a:t>
            </a:r>
            <a:r>
              <a:rPr lang="en-US" altLang="zh-CN" sz="2300" b="1"/>
              <a:t>)</a:t>
            </a:r>
            <a:endParaRPr lang="en-US" altLang="zh-CN" sz="2300" b="1"/>
          </a:p>
          <a:p>
            <a:endParaRPr lang="en-US" altLang="zh-CN" sz="2300" b="1"/>
          </a:p>
          <a:p>
            <a:r>
              <a:rPr lang="zh-CN" altLang="en-US" sz="2300" b="1"/>
              <a:t>分钟</a:t>
            </a:r>
            <a:r>
              <a:rPr lang="en-US" altLang="zh-CN" sz="2300" b="1"/>
              <a:t>: 3661 / 60 % 60 = 61 % 60 = 1</a:t>
            </a:r>
            <a:endParaRPr lang="en-US" altLang="zh-CN" sz="2300" b="1"/>
          </a:p>
          <a:p>
            <a:r>
              <a:rPr lang="en-US" altLang="zh-CN" sz="2300" b="1"/>
              <a:t>  disbuf[4] = 1 % 10 = 1</a:t>
            </a:r>
            <a:endParaRPr lang="en-US" altLang="zh-CN" sz="2300" b="1"/>
          </a:p>
          <a:p>
            <a:r>
              <a:rPr lang="en-US" altLang="zh-CN" sz="2300" b="1"/>
              <a:t>  disbuf[3] = 1 / 10 = 0</a:t>
            </a:r>
            <a:endParaRPr lang="en-US" altLang="zh-CN" sz="2300" b="1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968490" y="1424305"/>
            <a:ext cx="4184015" cy="43516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300" b="1"/>
          </a:p>
          <a:p>
            <a:r>
              <a:rPr lang="zh-CN" altLang="en-US" sz="2300" b="1"/>
              <a:t>小时</a:t>
            </a:r>
            <a:r>
              <a:rPr lang="en-US" altLang="zh-CN" sz="2300" b="1"/>
              <a:t>: 3661 / 3600 = 1</a:t>
            </a:r>
            <a:endParaRPr lang="en-US" altLang="zh-CN" sz="2300" b="1"/>
          </a:p>
          <a:p>
            <a:r>
              <a:rPr lang="en-US" altLang="zh-CN" sz="2300" b="1"/>
              <a:t>  disbuf[1] = 1 % 10 = 1</a:t>
            </a:r>
            <a:endParaRPr lang="en-US" altLang="zh-CN" sz="2300" b="1"/>
          </a:p>
          <a:p>
            <a:r>
              <a:rPr lang="en-US" altLang="zh-CN" sz="2300" b="1"/>
              <a:t>  disbuf[0] = 1 / 10 = 0</a:t>
            </a:r>
            <a:endParaRPr lang="en-US" altLang="zh-CN" sz="2300" b="1"/>
          </a:p>
          <a:p>
            <a:endParaRPr lang="en-US" altLang="zh-CN" sz="2300" b="1"/>
          </a:p>
          <a:p>
            <a:r>
              <a:rPr lang="zh-CN" altLang="en-US" b="1">
                <a:solidFill>
                  <a:srgbClr val="FF0000"/>
                </a:solidFill>
              </a:rPr>
              <a:t>显示</a:t>
            </a:r>
            <a:r>
              <a:rPr lang="en-US" altLang="zh-CN" b="1">
                <a:solidFill>
                  <a:srgbClr val="FF0000"/>
                </a:solidFill>
              </a:rPr>
              <a:t>: 01-01-01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2815" y="244475"/>
            <a:ext cx="4582795" cy="983615"/>
          </a:xfrm>
        </p:spPr>
        <p:txBody>
          <a:bodyPr/>
          <a:lstStyle/>
          <a:p>
            <a:r>
              <a:rPr lang="en-US" altLang="zh-CN" sz="2800" b="1">
                <a:solidFill>
                  <a:srgbClr val="FF0000"/>
                </a:solidFill>
              </a:rPr>
              <a:t>1ms</a:t>
            </a:r>
            <a:r>
              <a:rPr lang="zh-CN" altLang="en-US" sz="2800" b="1"/>
              <a:t>采一次电平，消抖</a:t>
            </a:r>
            <a:endParaRPr lang="zh-CN" altLang="en-US" sz="280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630" y="1039495"/>
            <a:ext cx="10515600" cy="1603375"/>
          </a:xfrm>
        </p:spPr>
        <p:txBody>
          <a:bodyPr/>
          <a:lstStyle/>
          <a:p>
            <a:r>
              <a:rPr lang="zh-CN" altLang="en-US"/>
              <a:t>计数器</a:t>
            </a:r>
            <a:r>
              <a:rPr lang="en-US" altLang="zh-CN"/>
              <a:t>/</a:t>
            </a:r>
            <a:r>
              <a:rPr lang="zh-CN" altLang="en-US"/>
              <a:t>延时消抖</a:t>
            </a:r>
            <a:endParaRPr lang="zh-CN" altLang="en-US"/>
          </a:p>
          <a:p>
            <a:r>
              <a:rPr lang="zh-CN" altLang="en-US"/>
              <a:t>用计数器对按键信号采样，只有连续多个时钟周期检测到同一电平才认为是有效按键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815" y="2829560"/>
            <a:ext cx="8026400" cy="33477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9815" y="303341"/>
            <a:ext cx="1668163" cy="1325563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练习：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2351" y="1467280"/>
            <a:ext cx="5439033" cy="1078213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日历钟，手动调年、月、日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715" y="213995"/>
            <a:ext cx="10515600" cy="1130300"/>
          </a:xfrm>
        </p:spPr>
        <p:txBody>
          <a:bodyPr/>
          <a:lstStyle/>
          <a:p>
            <a:r>
              <a:rPr lang="en-US" altLang="zh-CN"/>
              <a:t>!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逻辑运算，结果只有</a:t>
            </a:r>
            <a:r>
              <a:rPr lang="en-US" altLang="zh-CN"/>
              <a:t>0</a:t>
            </a:r>
            <a:r>
              <a:rPr lang="zh-CN" altLang="en-US"/>
              <a:t>或</a:t>
            </a:r>
            <a:r>
              <a:rPr lang="en-US" altLang="zh-CN"/>
              <a:t>1</a:t>
            </a:r>
            <a:endParaRPr lang="en-US" altLang="zh-CN"/>
          </a:p>
          <a:p>
            <a:r>
              <a:rPr lang="en-US" altLang="zh-CN"/>
              <a:t>~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位运算，每位都取反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935" y="1567815"/>
            <a:ext cx="5781675" cy="16668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65" y="3973830"/>
            <a:ext cx="6229350" cy="19145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715" y="213995"/>
            <a:ext cx="10515600" cy="1191895"/>
          </a:xfrm>
        </p:spPr>
        <p:txBody>
          <a:bodyPr/>
          <a:lstStyle/>
          <a:p>
            <a:r>
              <a:rPr lang="zh-CN" altLang="en-US"/>
              <a:t>多个</a:t>
            </a:r>
            <a:r>
              <a:rPr lang="en-US" altLang="zh-CN"/>
              <a:t>if</a:t>
            </a:r>
            <a:r>
              <a:rPr lang="zh-CN" altLang="en-US"/>
              <a:t>：每个都会检查</a:t>
            </a:r>
            <a:endParaRPr lang="zh-CN" altLang="en-US"/>
          </a:p>
          <a:p>
            <a:r>
              <a:rPr lang="en-US" altLang="zh-CN"/>
              <a:t>else if</a:t>
            </a:r>
            <a:r>
              <a:rPr lang="zh-CN" altLang="en-US"/>
              <a:t>：找到一个就停止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595" y="1405890"/>
            <a:ext cx="4419600" cy="39909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69950" y="5452110"/>
            <a:ext cx="3289935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0" i="0">
                <a:solidFill>
                  <a:srgbClr val="24292F"/>
                </a:solidFill>
                <a:latin typeface="ui-sans-serif"/>
                <a:ea typeface="ui-sans-serif"/>
              </a:rPr>
              <a:t>特点：</a:t>
            </a:r>
            <a:endParaRPr lang="zh-CN" altLang="en-US" sz="2000" b="0" i="0">
              <a:solidFill>
                <a:srgbClr val="24292F"/>
              </a:solidFill>
              <a:latin typeface="ui-sans-serif"/>
              <a:ea typeface="ui-sans-serif"/>
            </a:endParaRPr>
          </a:p>
          <a:p>
            <a:pPr marL="0" inden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24292F"/>
                </a:solidFill>
                <a:latin typeface="ui-sans-serif"/>
                <a:ea typeface="ui-sans-serif"/>
              </a:rPr>
              <a:t>所有条件都会判断</a:t>
            </a:r>
            <a:endParaRPr lang="zh-CN" altLang="en-US" sz="2000" b="0" i="0">
              <a:solidFill>
                <a:srgbClr val="24292F"/>
              </a:solidFill>
              <a:latin typeface="ui-sans-serif"/>
              <a:ea typeface="ui-sans-serif"/>
            </a:endParaRPr>
          </a:p>
          <a:p>
            <a:pPr marL="0" inden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24292F"/>
                </a:solidFill>
                <a:latin typeface="ui-sans-serif"/>
                <a:ea typeface="ui-sans-serif"/>
              </a:rPr>
              <a:t>可能执行多个分支</a:t>
            </a:r>
            <a:endParaRPr lang="zh-CN" altLang="en-US" sz="2000" b="0" i="0">
              <a:solidFill>
                <a:srgbClr val="24292F"/>
              </a:solidFill>
              <a:latin typeface="ui-sans-serif"/>
              <a:ea typeface="ui-sans-serif"/>
            </a:endParaRPr>
          </a:p>
          <a:p>
            <a:pPr marL="0" inden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24292F"/>
                </a:solidFill>
                <a:latin typeface="ui-sans-serif"/>
                <a:ea typeface="ui-sans-serif"/>
              </a:rPr>
              <a:t>效率较低</a:t>
            </a:r>
            <a:endParaRPr lang="zh-CN" altLang="en-US" sz="2000" b="0" i="0">
              <a:solidFill>
                <a:srgbClr val="24292F"/>
              </a:solidFill>
              <a:latin typeface="ui-sans-serif"/>
              <a:ea typeface="ui-sans-serif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925" y="1611630"/>
            <a:ext cx="4657725" cy="3276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58230" y="5241925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特点：</a:t>
            </a:r>
            <a:endParaRPr lang="en-US" altLang="zh-CN"/>
          </a:p>
          <a:p>
            <a:r>
              <a:rPr lang="zh-CN" altLang="en-US"/>
              <a:t>找到第一个满足的就停止</a:t>
            </a:r>
            <a:endParaRPr lang="zh-CN" altLang="en-US"/>
          </a:p>
          <a:p>
            <a:r>
              <a:rPr lang="zh-CN" altLang="en-US"/>
              <a:t>只执行一个分支</a:t>
            </a:r>
            <a:endParaRPr lang="zh-CN" altLang="en-US"/>
          </a:p>
          <a:p>
            <a:r>
              <a:rPr lang="zh-CN" altLang="en-US"/>
              <a:t>效率更高</a:t>
            </a:r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912235" cy="614680"/>
          </a:xfrm>
        </p:spPr>
        <p:txBody>
          <a:bodyPr>
            <a:normAutofit/>
          </a:bodyPr>
          <a:lstStyle/>
          <a:p>
            <a:r>
              <a:rPr lang="en-US" altLang="zh-CN" sz="3110" b="1">
                <a:solidFill>
                  <a:srgbClr val="FF0000"/>
                </a:solidFill>
              </a:rPr>
              <a:t>1. .c </a:t>
            </a:r>
            <a:r>
              <a:rPr lang="zh-CN" altLang="en-US" sz="3110" b="1">
                <a:solidFill>
                  <a:srgbClr val="FF0000"/>
                </a:solidFill>
              </a:rPr>
              <a:t>文件（</a:t>
            </a:r>
            <a:r>
              <a:rPr lang="en-US" altLang="zh-CN" sz="3110" b="1">
                <a:solidFill>
                  <a:srgbClr val="FF0000"/>
                </a:solidFill>
              </a:rPr>
              <a:t>C</a:t>
            </a:r>
            <a:r>
              <a:rPr lang="zh-CN" altLang="en-US" sz="3110" b="1">
                <a:solidFill>
                  <a:srgbClr val="FF0000"/>
                </a:solidFill>
              </a:rPr>
              <a:t>源文件）</a:t>
            </a:r>
            <a:endParaRPr lang="zh-CN" altLang="en-US" sz="3110" b="1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3070" y="1328420"/>
            <a:ext cx="5081270" cy="2814955"/>
          </a:xfrm>
        </p:spPr>
        <p:txBody>
          <a:bodyPr/>
          <a:lstStyle/>
          <a:p>
            <a:r>
              <a:rPr lang="zh-CN" altLang="en-US" sz="2400"/>
              <a:t>作用：</a:t>
            </a:r>
            <a:r>
              <a:rPr lang="en-US" altLang="zh-CN" sz="2400"/>
              <a:t>C</a:t>
            </a:r>
            <a:r>
              <a:rPr lang="zh-CN" altLang="en-US" sz="2400"/>
              <a:t>语言源代码</a:t>
            </a:r>
            <a:endParaRPr lang="zh-CN" altLang="en-US" sz="2400"/>
          </a:p>
          <a:p>
            <a:r>
              <a:rPr lang="zh-CN" altLang="en-US" sz="2400"/>
              <a:t>常见文件：</a:t>
            </a:r>
            <a:endParaRPr lang="zh-CN" altLang="en-US" sz="2400"/>
          </a:p>
          <a:p>
            <a:r>
              <a:rPr lang="en-US" altLang="zh-CN" sz="2400"/>
              <a:t>main.c - </a:t>
            </a:r>
            <a:r>
              <a:rPr lang="zh-CN" altLang="en-US" sz="2400"/>
              <a:t>主程序</a:t>
            </a:r>
            <a:endParaRPr lang="zh-CN" altLang="en-US" sz="2400"/>
          </a:p>
          <a:p>
            <a:r>
              <a:rPr lang="en-US" altLang="zh-CN" sz="2400"/>
              <a:t>stm32f10x_it.c - </a:t>
            </a:r>
            <a:r>
              <a:rPr lang="zh-CN" altLang="en-US" sz="2400"/>
              <a:t>中断服务函数</a:t>
            </a:r>
            <a:endParaRPr lang="zh-CN" altLang="en-US" sz="2400"/>
          </a:p>
          <a:p>
            <a:r>
              <a:rPr lang="en-US" altLang="zh-CN" sz="2400"/>
              <a:t>system_stm32f10x.c - </a:t>
            </a:r>
            <a:r>
              <a:rPr lang="zh-CN" altLang="en-US" sz="2400"/>
              <a:t>系统初始化</a:t>
            </a:r>
            <a:endParaRPr lang="zh-CN" altLang="en-US" sz="2400"/>
          </a:p>
          <a:p>
            <a:r>
              <a:rPr lang="zh-CN" altLang="en-US" sz="2400"/>
              <a:t>各外设驱动</a:t>
            </a:r>
            <a:r>
              <a:rPr lang="en-US" altLang="zh-CN" sz="2400"/>
              <a:t>.c</a:t>
            </a:r>
            <a:r>
              <a:rPr lang="zh-CN" altLang="en-US" sz="2400"/>
              <a:t>文件</a:t>
            </a:r>
            <a:endParaRPr lang="zh-CN" altLang="en-US" sz="2400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6667500" y="365125"/>
            <a:ext cx="3912235" cy="614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110" b="1">
                <a:solidFill>
                  <a:srgbClr val="FF0000"/>
                </a:solidFill>
              </a:rPr>
              <a:t>2. .h </a:t>
            </a:r>
            <a:r>
              <a:rPr lang="zh-CN" altLang="en-US" sz="3110" b="1">
                <a:solidFill>
                  <a:srgbClr val="FF0000"/>
                </a:solidFill>
              </a:rPr>
              <a:t>文件（头文件）</a:t>
            </a:r>
            <a:endParaRPr lang="zh-CN" altLang="en-US" sz="3110" b="1">
              <a:solidFill>
                <a:srgbClr val="FF0000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262370" y="1328420"/>
            <a:ext cx="5562600" cy="464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/>
              <a:t>作用：</a:t>
            </a:r>
            <a:endParaRPr lang="zh-CN" altLang="en-US" sz="2400"/>
          </a:p>
          <a:p>
            <a:r>
              <a:rPr lang="zh-CN" altLang="en-US" sz="2400"/>
              <a:t>函数声明</a:t>
            </a:r>
            <a:endParaRPr lang="zh-CN" altLang="en-US" sz="2400"/>
          </a:p>
          <a:p>
            <a:r>
              <a:rPr lang="zh-CN" altLang="en-US" sz="2400"/>
              <a:t>宏定义</a:t>
            </a:r>
            <a:endParaRPr lang="zh-CN" altLang="en-US" sz="2400"/>
          </a:p>
          <a:p>
            <a:r>
              <a:rPr lang="zh-CN" altLang="en-US" sz="2400"/>
              <a:t>结构体定义</a:t>
            </a:r>
            <a:endParaRPr lang="zh-CN" altLang="en-US" sz="2400"/>
          </a:p>
          <a:p>
            <a:r>
              <a:rPr lang="zh-CN" altLang="en-US" sz="2400"/>
              <a:t>外部变量声明</a:t>
            </a:r>
            <a:endParaRPr lang="zh-CN" altLang="en-US" sz="2400"/>
          </a:p>
          <a:p>
            <a:r>
              <a:rPr lang="zh-CN" altLang="en-US" sz="2400"/>
              <a:t>常见文件：</a:t>
            </a:r>
            <a:endParaRPr lang="zh-CN" altLang="en-US" sz="2400"/>
          </a:p>
          <a:p>
            <a:r>
              <a:rPr lang="en-US" altLang="zh-CN" sz="2400"/>
              <a:t>stm32f10x.h - </a:t>
            </a:r>
            <a:r>
              <a:rPr lang="zh-CN" altLang="en-US" sz="2400"/>
              <a:t>芯片寄存器定义</a:t>
            </a:r>
            <a:endParaRPr lang="zh-CN" altLang="en-US" sz="2400"/>
          </a:p>
          <a:p>
            <a:r>
              <a:rPr lang="en-US" altLang="zh-CN" sz="2400"/>
              <a:t>stm32f10x_conf.h - </a:t>
            </a:r>
            <a:r>
              <a:rPr lang="zh-CN" altLang="en-US" sz="2400"/>
              <a:t>库配置文件</a:t>
            </a:r>
            <a:endParaRPr lang="zh-CN" altLang="en-US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676775" cy="614680"/>
          </a:xfrm>
        </p:spPr>
        <p:txBody>
          <a:bodyPr>
            <a:normAutofit fontScale="90000"/>
          </a:bodyPr>
          <a:lstStyle/>
          <a:p>
            <a:r>
              <a:rPr lang="en-US" altLang="zh-CN" sz="3110" b="1">
                <a:solidFill>
                  <a:srgbClr val="FF0000"/>
                </a:solidFill>
              </a:rPr>
              <a:t>3. .s / .asm </a:t>
            </a:r>
            <a:r>
              <a:rPr lang="zh-CN" altLang="en-US" sz="3110" b="1">
                <a:solidFill>
                  <a:srgbClr val="FF0000"/>
                </a:solidFill>
              </a:rPr>
              <a:t>文件（汇编文件）</a:t>
            </a:r>
            <a:endParaRPr lang="zh-CN" altLang="en-US" sz="3110" b="1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3070" y="1328420"/>
            <a:ext cx="5081270" cy="2814955"/>
          </a:xfrm>
        </p:spPr>
        <p:txBody>
          <a:bodyPr/>
          <a:lstStyle/>
          <a:p>
            <a:r>
              <a:rPr lang="zh-CN" altLang="en-US" sz="2400"/>
              <a:t>作用：</a:t>
            </a:r>
            <a:endParaRPr lang="zh-CN" altLang="en-US" sz="2400"/>
          </a:p>
          <a:p>
            <a:r>
              <a:rPr lang="zh-CN" altLang="en-US" sz="2400"/>
              <a:t>启动代码</a:t>
            </a:r>
            <a:endParaRPr lang="zh-CN" altLang="en-US" sz="2400"/>
          </a:p>
          <a:p>
            <a:r>
              <a:rPr lang="zh-CN" altLang="en-US" sz="2400"/>
              <a:t>中断向量表</a:t>
            </a:r>
            <a:endParaRPr lang="zh-CN" altLang="en-US" sz="2400"/>
          </a:p>
          <a:p>
            <a:r>
              <a:rPr lang="zh-CN" altLang="en-US" sz="2400"/>
              <a:t>底层硬件操作</a:t>
            </a:r>
            <a:endParaRPr lang="zh-CN" altLang="en-US" sz="2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34*502"/>
  <p:tag name="TABLE_ENDDRAG_RECT" val="45*108*734*50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5135</Words>
  <Application>WPS 演示</Application>
  <PresentationFormat>宽屏</PresentationFormat>
  <Paragraphs>492</Paragraphs>
  <Slides>38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4" baseType="lpstr">
      <vt:lpstr>Arial</vt:lpstr>
      <vt:lpstr>宋体</vt:lpstr>
      <vt:lpstr>Wingdings</vt:lpstr>
      <vt:lpstr>华文新魏</vt:lpstr>
      <vt:lpstr>黑体</vt:lpstr>
      <vt:lpstr>Cambria Math</vt:lpstr>
      <vt:lpstr>Arial</vt:lpstr>
      <vt:lpstr>ui-sans-serif</vt:lpstr>
      <vt:lpstr>Segoe Print</vt:lpstr>
      <vt:lpstr>Times New Roman</vt:lpstr>
      <vt:lpstr>微软雅黑</vt:lpstr>
      <vt:lpstr>等线</vt:lpstr>
      <vt:lpstr>Arial Unicode MS</vt:lpstr>
      <vt:lpstr>等线 Light</vt:lpstr>
      <vt:lpstr>Calibri</vt:lpstr>
      <vt:lpstr>Office 主题​​</vt:lpstr>
      <vt:lpstr>微机原理及应用</vt:lpstr>
      <vt:lpstr>第五讲  stm32单片机的定时器</vt:lpstr>
      <vt:lpstr>一、定时器/计数器的概念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Priciple of Crystal Oscillator 晶振原理</vt:lpstr>
      <vt:lpstr>晶振电路</vt:lpstr>
      <vt:lpstr>PowerPoint 演示文稿</vt:lpstr>
      <vt:lpstr>15次分频，1个脉冲就是1s，手表常用，32768=215</vt:lpstr>
      <vt:lpstr>PowerPoint 演示文稿</vt:lpstr>
      <vt:lpstr>PowerPoint 演示文稿</vt:lpstr>
      <vt:lpstr>PowerPoint 演示文稿</vt:lpstr>
      <vt:lpstr>一、定时器/计数器的概念</vt:lpstr>
      <vt:lpstr>一、定时器/计数器的概念</vt:lpstr>
      <vt:lpstr>二、 SYSTICK定时器</vt:lpstr>
      <vt:lpstr>二、 SYSTICK定时器</vt:lpstr>
      <vt:lpstr>三、 SYSTICK定时器的初值设定</vt:lpstr>
      <vt:lpstr>三、 SYSTICK定时器的初值设定</vt:lpstr>
      <vt:lpstr>补充：inline 内联函数详解</vt:lpstr>
      <vt:lpstr>二、内联函数（直接嵌入）</vt:lpstr>
      <vt:lpstr>PowerPoint 演示文稿</vt:lpstr>
      <vt:lpstr>四、 SYSTICK定时器的中断服务程序</vt:lpstr>
      <vt:lpstr>例 程：       系统滴答定时器实现计时精度0.1s，PA2按键控制计时暂停和继续。</vt:lpstr>
      <vt:lpstr>PowerPoint 演示文稿</vt:lpstr>
      <vt:lpstr>例程：     PA2控制加1计数器，软件消抖；自动流水灯体会粗略延时。</vt:lpstr>
      <vt:lpstr>粗略延时  与  精确延时</vt:lpstr>
      <vt:lpstr>例程：滴答定时器实现电子时钟，并且可以手动调时、分、秒。</vt:lpstr>
      <vt:lpstr>PowerPoint 演示文稿</vt:lpstr>
      <vt:lpstr>示例计算（second = 3661）：</vt:lpstr>
      <vt:lpstr>1ms采一次电平，消抖</vt:lpstr>
      <vt:lpstr>练习：</vt:lpstr>
      <vt:lpstr>PowerPoint 演示文稿</vt:lpstr>
      <vt:lpstr>PowerPoint 演示文稿</vt:lpstr>
      <vt:lpstr>1. .c 文件（C源文件）</vt:lpstr>
      <vt:lpstr>3. .s / .asm 文件（汇编文件）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微机原理及应用</dc:title>
  <dc:creator>kj681109@163.com</dc:creator>
  <cp:lastModifiedBy>panda</cp:lastModifiedBy>
  <cp:revision>221</cp:revision>
  <dcterms:created xsi:type="dcterms:W3CDTF">2022-02-27T00:37:00Z</dcterms:created>
  <dcterms:modified xsi:type="dcterms:W3CDTF">2026-04-20T10:02:04Z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C2FE4BE7588A4C4E9AFB9E1DAA4184A1_13</vt:lpwstr>
  </property>
  <property fmtid="{D5CDD505-2E9C-101B-9397-08002B2CF9AE}" pid="3" name="KSOProductBuildVer">
    <vt:lpwstr>2052-12.1.0.25225</vt:lpwstr>
  </property>
</Properties>
</file>