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3"/>
    <p:sldId id="567" r:id="rId4"/>
    <p:sldId id="257" r:id="rId5"/>
    <p:sldId id="345" r:id="rId6"/>
    <p:sldId id="358" r:id="rId8"/>
    <p:sldId id="355" r:id="rId9"/>
    <p:sldId id="356" r:id="rId10"/>
    <p:sldId id="357" r:id="rId11"/>
    <p:sldId id="359" r:id="rId12"/>
    <p:sldId id="360" r:id="rId13"/>
    <p:sldId id="361" r:id="rId14"/>
    <p:sldId id="576" r:id="rId15"/>
    <p:sldId id="501" r:id="rId16"/>
    <p:sldId id="404" r:id="rId17"/>
    <p:sldId id="368" r:id="rId18"/>
    <p:sldId id="363" r:id="rId19"/>
    <p:sldId id="364" r:id="rId20"/>
    <p:sldId id="509" r:id="rId21"/>
    <p:sldId id="369" r:id="rId22"/>
    <p:sldId id="508" r:id="rId23"/>
    <p:sldId id="502" r:id="rId24"/>
    <p:sldId id="367" r:id="rId25"/>
    <p:sldId id="572" r:id="rId26"/>
    <p:sldId id="365" r:id="rId27"/>
    <p:sldId id="532" r:id="rId28"/>
    <p:sldId id="370" r:id="rId29"/>
    <p:sldId id="512" r:id="rId30"/>
    <p:sldId id="514" r:id="rId31"/>
    <p:sldId id="515" r:id="rId32"/>
    <p:sldId id="516" r:id="rId33"/>
    <p:sldId id="517" r:id="rId34"/>
    <p:sldId id="518" r:id="rId35"/>
    <p:sldId id="519" r:id="rId36"/>
    <p:sldId id="520" r:id="rId37"/>
    <p:sldId id="521" r:id="rId38"/>
    <p:sldId id="373" r:id="rId39"/>
    <p:sldId id="374" r:id="rId40"/>
    <p:sldId id="375" r:id="rId41"/>
    <p:sldId id="376" r:id="rId42"/>
    <p:sldId id="377" r:id="rId43"/>
    <p:sldId id="379" r:id="rId44"/>
    <p:sldId id="524" r:id="rId45"/>
    <p:sldId id="525" r:id="rId46"/>
    <p:sldId id="534" r:id="rId47"/>
    <p:sldId id="569" r:id="rId48"/>
    <p:sldId id="570" r:id="rId49"/>
    <p:sldId id="573" r:id="rId50"/>
    <p:sldId id="581" r:id="rId51"/>
    <p:sldId id="586" r:id="rId52"/>
    <p:sldId id="582" r:id="rId53"/>
    <p:sldId id="584" r:id="rId54"/>
    <p:sldId id="539" r:id="rId55"/>
    <p:sldId id="538" r:id="rId56"/>
    <p:sldId id="575" r:id="rId57"/>
    <p:sldId id="587" r:id="rId58"/>
    <p:sldId id="589" r:id="rId59"/>
    <p:sldId id="577" r:id="rId60"/>
    <p:sldId id="588" r:id="rId61"/>
    <p:sldId id="578" r:id="rId62"/>
    <p:sldId id="579" r:id="rId63"/>
    <p:sldId id="580" r:id="rId64"/>
    <p:sldId id="540" r:id="rId65"/>
    <p:sldId id="541" r:id="rId66"/>
    <p:sldId id="583" r:id="rId6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j681109@163.co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8571" autoAdjust="0"/>
  </p:normalViewPr>
  <p:slideViewPr>
    <p:cSldViewPr snapToGrid="0">
      <p:cViewPr varScale="1">
        <p:scale>
          <a:sx n="70" d="100"/>
          <a:sy n="70" d="100"/>
        </p:scale>
        <p:origin x="998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1" Type="http://schemas.openxmlformats.org/officeDocument/2006/relationships/commentAuthors" Target="commentAuthors.xml"/><Relationship Id="rId70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69" Type="http://schemas.openxmlformats.org/officeDocument/2006/relationships/viewProps" Target="viewProps.xml"/><Relationship Id="rId68" Type="http://schemas.openxmlformats.org/officeDocument/2006/relationships/presProps" Target="presProps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#1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#3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E40EF7-4FDB-46DC-AD5C-7AA9927BCDC4}" type="doc">
      <dgm:prSet loTypeId="urn:microsoft.com/office/officeart/2005/8/layout/bProcess3#1" loCatId="process" qsTypeId="urn:microsoft.com/office/officeart/2005/8/quickstyle/simple3#1" qsCatId="simple" csTypeId="urn:microsoft.com/office/officeart/2005/8/colors/accent1_5#1" csCatId="accent1" phldr="0"/>
      <dgm:spPr/>
      <dgm:t>
        <a:bodyPr/>
        <a:lstStyle/>
        <a:p>
          <a:endParaRPr lang="zh-CN" altLang="en-US"/>
        </a:p>
      </dgm:t>
    </dgm:pt>
    <dgm:pt modelId="{79A907BE-6A57-46F9-949B-2F83975E5013}">
      <dgm:prSet phldrT="[文本]" phldr="0" custT="1"/>
      <dgm:spPr/>
      <dgm:t>
        <a:bodyPr vert="horz" wrap="square"/>
        <a:lstStyle/>
        <a:p>
          <a:pPr algn="ctr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 </a:t>
          </a:r>
          <a:r>
            <a:rPr lang="en-US" altLang="zh-CN" sz="2400" b="1">
              <a:solidFill>
                <a:srgbClr val="FF0000"/>
              </a:solidFill>
            </a:rPr>
            <a:t>1. </a:t>
          </a:r>
          <a:r>
            <a:rPr lang="zh-CN" altLang="en-US" sz="2400" b="1">
              <a:solidFill>
                <a:srgbClr val="FF0000"/>
              </a:solidFill>
            </a:rPr>
            <a:t>使能外设时钟</a:t>
          </a:r>
          <a:r>
            <a:rPr lang="en-US" altLang="zh-CN" sz="2400" b="1"/>
            <a:t>   </a:t>
          </a:r>
        </a:p>
        <a:p>
          <a:pPr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RCC_APB2PeriphClockCmd</a:t>
          </a:r>
          <a:r>
            <a:rPr lang="zh-CN" altLang="en-US" sz="2400" b="1"/>
            <a:t>（）</a:t>
          </a:r>
          <a:endParaRPr lang="en-US" altLang="zh-CN" sz="2400" b="1"/>
        </a:p>
        <a:p>
          <a:pPr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zh-CN" altLang="en-US" sz="2400" b="1"/>
            <a:t>使能</a:t>
          </a:r>
          <a:r>
            <a:rPr lang="en-US" altLang="zh-CN" sz="2400" b="1"/>
            <a:t>GPIO</a:t>
          </a:r>
          <a:r>
            <a:rPr lang="zh-CN" altLang="en-US" sz="2400" b="1"/>
            <a:t>时钟</a:t>
          </a:r>
          <a:r>
            <a:rPr lang="en-US" altLang="zh-CN" sz="2400" b="1"/>
            <a:t>         </a:t>
          </a:r>
        </a:p>
        <a:p>
          <a:pPr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zh-CN" altLang="en-US" sz="2400" b="1">
              <a:solidFill>
                <a:srgbClr val="FF0000"/>
              </a:solidFill>
            </a:rPr>
            <a:t>使能</a:t>
          </a:r>
          <a:r>
            <a:rPr lang="en-US" altLang="zh-CN" sz="2400" b="1">
              <a:solidFill>
                <a:srgbClr val="FF0000"/>
              </a:solidFill>
            </a:rPr>
            <a:t>AFIO</a:t>
          </a:r>
          <a:r>
            <a:rPr lang="zh-CN" altLang="en-US" sz="2400" b="1">
              <a:solidFill>
                <a:srgbClr val="FF0000"/>
              </a:solidFill>
            </a:rPr>
            <a:t>时钟</a:t>
          </a:r>
          <a:r>
            <a:rPr lang="en-US" altLang="zh-CN" sz="2400" b="1">
              <a:solidFill>
                <a:srgbClr val="FF0000"/>
              </a:solidFill>
            </a:rPr>
            <a:t>(</a:t>
          </a:r>
          <a:r>
            <a:rPr lang="zh-CN" altLang="en-US" sz="2400" b="1">
              <a:solidFill>
                <a:srgbClr val="FF0000"/>
              </a:solidFill>
            </a:rPr>
            <a:t>必需</a:t>
          </a:r>
          <a:r>
            <a:rPr lang="en-US" altLang="zh-CN" sz="2400" b="1">
              <a:solidFill>
                <a:srgbClr val="FF0000"/>
              </a:solidFill>
            </a:rPr>
            <a:t>)</a:t>
          </a:r>
          <a:r>
            <a:rPr lang="en-US" altLang="zh-CN" sz="2400" b="1"/>
            <a:t> </a:t>
          </a:r>
        </a:p>
      </dgm:t>
    </dgm:pt>
    <dgm:pt modelId="{27508ADE-09B9-4692-B3B1-997C0A038367}" cxnId="{F7405114-E905-431C-BDEC-8DA01BCB39A9}" type="parTrans">
      <dgm:prSet/>
      <dgm:spPr/>
      <dgm:t>
        <a:bodyPr/>
        <a:lstStyle/>
        <a:p>
          <a:endParaRPr lang="zh-CN" altLang="en-US"/>
        </a:p>
      </dgm:t>
    </dgm:pt>
    <dgm:pt modelId="{6E764295-1C97-4A8A-BB23-8F6587B65D20}" cxnId="{F7405114-E905-431C-BDEC-8DA01BCB39A9}" type="sibTrans">
      <dgm:prSet/>
      <dgm:spPr/>
      <dgm:t>
        <a:bodyPr/>
        <a:lstStyle/>
        <a:p>
          <a:endParaRPr lang="zh-CN" altLang="en-US"/>
        </a:p>
      </dgm:t>
    </dgm:pt>
    <dgm:pt modelId="{047E9EF6-99D9-47D4-8421-7851F36A512F}">
      <dgm:prSet phldrT="[文本]" phldr="0" custT="1"/>
      <dgm:spPr/>
      <dgm:t>
        <a:bodyPr vert="horz" wrap="square"/>
        <a:lstStyle/>
        <a:p>
          <a:pPr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>
              <a:solidFill>
                <a:srgbClr val="FF0000"/>
              </a:solidFill>
            </a:rPr>
            <a:t>2. </a:t>
          </a:r>
          <a:r>
            <a:rPr lang="zh-CN" altLang="en-US" sz="2400" b="1">
              <a:solidFill>
                <a:srgbClr val="FF0000"/>
              </a:solidFill>
            </a:rPr>
            <a:t>配置</a:t>
          </a:r>
          <a:r>
            <a:rPr lang="en-US" altLang="zh-CN" sz="2400" b="1">
              <a:solidFill>
                <a:srgbClr val="FF0000"/>
              </a:solidFill>
            </a:rPr>
            <a:t>GPIO</a:t>
          </a:r>
          <a:r>
            <a:rPr lang="zh-CN" altLang="en-US" sz="2400" b="1">
              <a:solidFill>
                <a:srgbClr val="FF0000"/>
              </a:solidFill>
            </a:rPr>
            <a:t>引脚</a:t>
          </a:r>
          <a:r>
            <a:rPr lang="en-US" altLang="zh-CN" sz="2400" b="1"/>
            <a:t>     </a:t>
          </a:r>
        </a:p>
        <a:p>
          <a:pPr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   GPIO_Init()           </a:t>
          </a:r>
          <a:endParaRPr lang="en-US" altLang="en-US" sz="2400" b="1"/>
        </a:p>
        <a:p>
          <a:pPr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 - </a:t>
          </a:r>
          <a:r>
            <a:rPr lang="zh-CN" altLang="en-US" sz="2400" b="1"/>
            <a:t>设置为</a:t>
          </a:r>
          <a:r>
            <a:rPr lang="zh-CN" altLang="en-US" sz="2400" b="1">
              <a:solidFill>
                <a:srgbClr val="FF0000"/>
              </a:solidFill>
            </a:rPr>
            <a:t>输入</a:t>
          </a:r>
          <a:r>
            <a:rPr lang="zh-CN" altLang="en-US" sz="2400" b="1"/>
            <a:t>模式</a:t>
          </a:r>
          <a:r>
            <a:rPr lang="en-US" altLang="zh-CN" sz="2400" b="1"/>
            <a:t>        </a:t>
          </a:r>
          <a:endParaRPr lang="en-US" altLang="en-US" sz="2400" b="1"/>
        </a:p>
        <a:p>
          <a:pPr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 - </a:t>
          </a:r>
          <a:r>
            <a:rPr lang="zh-CN" altLang="en-US" sz="2400" b="1"/>
            <a:t>选择上</a:t>
          </a:r>
          <a:r>
            <a:rPr lang="en-US" altLang="zh-CN" sz="2400" b="1"/>
            <a:t>/</a:t>
          </a:r>
          <a:r>
            <a:rPr lang="zh-CN" altLang="en-US" sz="2400" b="1"/>
            <a:t>下拉</a:t>
          </a:r>
          <a:r>
            <a:rPr lang="en-US" altLang="zh-CN" sz="2400" b="1"/>
            <a:t>/</a:t>
          </a:r>
          <a:r>
            <a:rPr lang="zh-CN" altLang="en-US" sz="2400" b="1"/>
            <a:t>浮空</a:t>
          </a:r>
        </a:p>
      </dgm:t>
    </dgm:pt>
    <dgm:pt modelId="{2AC7BC3F-1829-4928-9FDD-1BD085861192}" cxnId="{EA67940A-1855-45F5-BB20-DA6024EBF305}" type="parTrans">
      <dgm:prSet/>
      <dgm:spPr/>
      <dgm:t>
        <a:bodyPr/>
        <a:lstStyle/>
        <a:p>
          <a:endParaRPr lang="zh-CN" altLang="en-US"/>
        </a:p>
      </dgm:t>
    </dgm:pt>
    <dgm:pt modelId="{B3A60D08-4CF1-4AD3-A554-8DA1472F6362}" cxnId="{EA67940A-1855-45F5-BB20-DA6024EBF305}" type="sibTrans">
      <dgm:prSet/>
      <dgm:spPr/>
      <dgm:t>
        <a:bodyPr/>
        <a:lstStyle/>
        <a:p>
          <a:endParaRPr lang="zh-CN" altLang="en-US"/>
        </a:p>
      </dgm:t>
    </dgm:pt>
    <dgm:pt modelId="{9B99C3CE-0550-4254-B164-BB9424E18E56}">
      <dgm:prSet phldrT="[文本]" phldr="0" custT="1"/>
      <dgm:spPr/>
      <dgm:t>
        <a:bodyPr vert="horz" wrap="square"/>
        <a:lstStyle/>
        <a:p>
          <a:pPr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>
              <a:solidFill>
                <a:srgbClr val="FF0000"/>
              </a:solidFill>
            </a:rPr>
            <a:t>3. GPIO</a:t>
          </a:r>
          <a:r>
            <a:rPr lang="zh-CN" altLang="en-US" sz="2400" b="1">
              <a:solidFill>
                <a:srgbClr val="FF0000"/>
              </a:solidFill>
            </a:rPr>
            <a:t>映射到</a:t>
          </a:r>
          <a:r>
            <a:rPr lang="en-US" altLang="zh-CN" sz="2400" b="1">
              <a:solidFill>
                <a:srgbClr val="FF0000"/>
              </a:solidFill>
            </a:rPr>
            <a:t>EXTI</a:t>
          </a:r>
          <a:r>
            <a:rPr lang="zh-CN" altLang="en-US" sz="2400" b="1">
              <a:solidFill>
                <a:srgbClr val="FF0000"/>
              </a:solidFill>
            </a:rPr>
            <a:t>线</a:t>
          </a:r>
          <a:r>
            <a:rPr lang="en-US" altLang="zh-CN" sz="2400" b="1"/>
            <a:t>        </a:t>
          </a:r>
        </a:p>
        <a:p>
          <a:pPr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GPIO_EXTILineConfig </a:t>
          </a:r>
        </a:p>
        <a:p>
          <a:pPr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- </a:t>
          </a:r>
          <a:r>
            <a:rPr lang="zh-CN" altLang="en-US" sz="2400" b="1"/>
            <a:t>指定端口源和引脚源</a:t>
          </a:r>
          <a:r>
            <a:rPr lang="en-US" altLang="zh-CN" sz="2400" b="1"/>
            <a:t>      </a:t>
          </a:r>
        </a:p>
        <a:p>
          <a:pPr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- </a:t>
          </a:r>
          <a:r>
            <a:rPr lang="zh-CN" altLang="en-US" sz="2400" b="1"/>
            <a:t>例</a:t>
          </a:r>
          <a:r>
            <a:rPr lang="en-US" altLang="zh-CN" sz="2400" b="1"/>
            <a:t>: PA0</a:t>
          </a:r>
          <a:r>
            <a:rPr lang="en-US" altLang="en-US" sz="2400" b="1"/>
            <a:t>→</a:t>
          </a:r>
          <a:r>
            <a:rPr lang="en-US" altLang="zh-CN" sz="2400" b="1"/>
            <a:t>EXTI0</a:t>
          </a:r>
        </a:p>
      </dgm:t>
    </dgm:pt>
    <dgm:pt modelId="{CF18C7ED-262E-47EB-A8BC-BC18A4B2756C}" cxnId="{B78706E6-AD47-49A9-8C63-C4F887BD9834}" type="parTrans">
      <dgm:prSet/>
      <dgm:spPr/>
      <dgm:t>
        <a:bodyPr/>
        <a:lstStyle/>
        <a:p>
          <a:endParaRPr lang="zh-CN" altLang="en-US"/>
        </a:p>
      </dgm:t>
    </dgm:pt>
    <dgm:pt modelId="{C20DFEDB-A5DA-48B1-860C-C64E9FB9889D}" cxnId="{B78706E6-AD47-49A9-8C63-C4F887BD9834}" type="sibTrans">
      <dgm:prSet/>
      <dgm:spPr/>
      <dgm:t>
        <a:bodyPr/>
        <a:lstStyle/>
        <a:p>
          <a:endParaRPr lang="zh-CN" altLang="en-US"/>
        </a:p>
      </dgm:t>
    </dgm:pt>
    <dgm:pt modelId="{4DBF9FC0-7F11-49D1-A13A-F9EF16035E78}">
      <dgm:prSet phldrT="[文本]" phldr="0" custT="1"/>
      <dgm:spPr/>
      <dgm:t>
        <a:bodyPr vert="horz" wrap="square"/>
        <a:lstStyle/>
        <a:p>
          <a:pPr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>
              <a:solidFill>
                <a:srgbClr val="FF0000"/>
              </a:solidFill>
            </a:rPr>
            <a:t>4. </a:t>
          </a:r>
          <a:r>
            <a:rPr lang="zh-CN" altLang="en-US" sz="2400" b="1">
              <a:solidFill>
                <a:srgbClr val="FF0000"/>
              </a:solidFill>
            </a:rPr>
            <a:t>配置</a:t>
          </a:r>
          <a:r>
            <a:rPr lang="en-US" altLang="zh-CN" sz="2400" b="1">
              <a:solidFill>
                <a:srgbClr val="FF0000"/>
              </a:solidFill>
            </a:rPr>
            <a:t>EXTI</a:t>
          </a:r>
          <a:r>
            <a:rPr lang="zh-CN" altLang="en-US" sz="2400" b="1">
              <a:solidFill>
                <a:srgbClr val="FF0000"/>
              </a:solidFill>
            </a:rPr>
            <a:t>外部中断线</a:t>
          </a:r>
          <a:r>
            <a:rPr lang="en-US" altLang="zh-CN" sz="2400" b="1"/>
            <a:t>   EXTI_Init()           </a:t>
          </a:r>
        </a:p>
        <a:p>
          <a:pPr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- </a:t>
          </a:r>
          <a:r>
            <a:rPr lang="zh-CN" altLang="en-US" sz="2400" b="1"/>
            <a:t>选择</a:t>
          </a:r>
          <a:r>
            <a:rPr lang="en-US" altLang="zh-CN" sz="2400" b="1"/>
            <a:t>EXTI</a:t>
          </a:r>
          <a:r>
            <a:rPr lang="zh-CN" altLang="en-US" sz="2400" b="1"/>
            <a:t>线</a:t>
          </a:r>
          <a:r>
            <a:rPr lang="en-US" altLang="zh-CN" sz="2400" b="1"/>
            <a:t>(0-15)      </a:t>
          </a:r>
        </a:p>
        <a:p>
          <a:pPr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- </a:t>
          </a:r>
          <a:r>
            <a:rPr lang="zh-CN" altLang="en-US" sz="2400" b="1"/>
            <a:t>设置触发方式</a:t>
          </a:r>
          <a:r>
            <a:rPr lang="en-US" altLang="zh-CN" sz="2400" b="1"/>
            <a:t>      </a:t>
          </a:r>
        </a:p>
        <a:p>
          <a:pPr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- </a:t>
          </a:r>
          <a:r>
            <a:rPr lang="zh-CN" altLang="en-US" sz="2400" b="1"/>
            <a:t>使能</a:t>
          </a:r>
          <a:r>
            <a:rPr lang="en-US" altLang="zh-CN" sz="2400" b="1"/>
            <a:t>EXTI</a:t>
          </a:r>
          <a:r>
            <a:rPr lang="zh-CN" altLang="en-US" sz="2400" b="1"/>
            <a:t>线</a:t>
          </a:r>
        </a:p>
      </dgm:t>
    </dgm:pt>
    <dgm:pt modelId="{716438C4-1259-4C94-B7A8-3756D5685E48}" cxnId="{3FECF644-BDF6-428F-9250-0952ABE6E3FB}" type="parTrans">
      <dgm:prSet/>
      <dgm:spPr/>
      <dgm:t>
        <a:bodyPr/>
        <a:lstStyle/>
        <a:p>
          <a:endParaRPr lang="zh-CN" altLang="en-US"/>
        </a:p>
      </dgm:t>
    </dgm:pt>
    <dgm:pt modelId="{627790A7-E5AF-4DEF-9847-DE068ABD657B}" cxnId="{3FECF644-BDF6-428F-9250-0952ABE6E3FB}" type="sibTrans">
      <dgm:prSet/>
      <dgm:spPr/>
      <dgm:t>
        <a:bodyPr/>
        <a:lstStyle/>
        <a:p>
          <a:endParaRPr lang="zh-CN" altLang="en-US"/>
        </a:p>
      </dgm:t>
    </dgm:pt>
    <dgm:pt modelId="{3B57DE3A-D0CA-4A4A-A50B-01FBE031AA69}">
      <dgm:prSet phldrT="[文本]" phldr="0" custT="1"/>
      <dgm:spPr/>
      <dgm:t>
        <a:bodyPr vert="horz" wrap="square"/>
        <a:lstStyle/>
        <a:p>
          <a:pPr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>
              <a:solidFill>
                <a:srgbClr val="FF0000"/>
              </a:solidFill>
            </a:rPr>
            <a:t>5. </a:t>
          </a:r>
          <a:r>
            <a:rPr lang="zh-CN" altLang="en-US" sz="2400" b="1">
              <a:solidFill>
                <a:srgbClr val="FF0000"/>
              </a:solidFill>
            </a:rPr>
            <a:t>配置</a:t>
          </a:r>
          <a:r>
            <a:rPr lang="en-US" altLang="zh-CN" sz="2400" b="1">
              <a:solidFill>
                <a:srgbClr val="FF0000"/>
              </a:solidFill>
            </a:rPr>
            <a:t>NVIC</a:t>
          </a:r>
          <a:r>
            <a:rPr lang="zh-CN" altLang="en-US" sz="2400" b="1">
              <a:solidFill>
                <a:srgbClr val="FF0000"/>
              </a:solidFill>
            </a:rPr>
            <a:t>中断控制器</a:t>
          </a:r>
          <a:r>
            <a:rPr lang="en-US" altLang="zh-CN" sz="2400" b="1"/>
            <a:t>NVIC_Init()  </a:t>
          </a:r>
        </a:p>
        <a:p>
          <a:pPr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>
              <a:sym typeface="+mn-ea"/>
            </a:rPr>
            <a:t>-</a:t>
          </a:r>
          <a:r>
            <a:rPr lang="zh-CN" altLang="en-US" sz="2400" b="1">
              <a:sym typeface="+mn-ea"/>
            </a:rPr>
            <a:t>设置优先级分组</a:t>
          </a:r>
          <a:endParaRPr lang="en-US" altLang="zh-CN" sz="2400" b="1"/>
        </a:p>
        <a:p>
          <a:pPr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- </a:t>
          </a:r>
          <a:r>
            <a:rPr lang="zh-CN" altLang="en-US" sz="2400" b="1"/>
            <a:t>选择</a:t>
          </a:r>
          <a:r>
            <a:rPr lang="zh-CN" altLang="en-US" sz="2400" b="1">
              <a:solidFill>
                <a:srgbClr val="FF0000"/>
              </a:solidFill>
            </a:rPr>
            <a:t>中断通道</a:t>
          </a:r>
          <a:endParaRPr lang="zh-CN" altLang="en-US" sz="2400" b="1"/>
        </a:p>
        <a:p>
          <a:pPr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- </a:t>
          </a:r>
          <a:r>
            <a:rPr lang="zh-CN" altLang="en-US" sz="2400" b="1"/>
            <a:t>设置抢占优先级</a:t>
          </a:r>
          <a:r>
            <a:rPr lang="en-US" altLang="zh-CN" sz="2400" b="1"/>
            <a:t>  </a:t>
          </a:r>
        </a:p>
        <a:p>
          <a:pPr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- </a:t>
          </a:r>
          <a:r>
            <a:rPr lang="zh-CN" altLang="en-US" sz="2400" b="1"/>
            <a:t>设置响应优先级</a:t>
          </a:r>
          <a:r>
            <a:rPr lang="en-US" altLang="zh-CN" sz="2400" b="1"/>
            <a:t>   </a:t>
          </a:r>
        </a:p>
        <a:p>
          <a:pPr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 - </a:t>
          </a:r>
          <a:r>
            <a:rPr lang="zh-CN" altLang="en-US" sz="2400" b="1"/>
            <a:t>使能中断通道</a:t>
          </a:r>
          <a:endParaRPr sz="6500"/>
        </a:p>
      </dgm:t>
    </dgm:pt>
    <dgm:pt modelId="{98FA3677-4FAE-4C5E-B3CE-CF3B6D80F4A1}" cxnId="{F94EE45F-1312-4F02-B3D9-2B9ED83359FA}" type="parTrans">
      <dgm:prSet/>
      <dgm:spPr/>
      <dgm:t>
        <a:bodyPr/>
        <a:lstStyle/>
        <a:p>
          <a:endParaRPr lang="zh-CN" altLang="en-US"/>
        </a:p>
      </dgm:t>
    </dgm:pt>
    <dgm:pt modelId="{D4875198-FB6C-46A1-9EC3-6A21426D178B}" cxnId="{F94EE45F-1312-4F02-B3D9-2B9ED83359FA}" type="sibTrans">
      <dgm:prSet/>
      <dgm:spPr/>
      <dgm:t>
        <a:bodyPr/>
        <a:lstStyle/>
        <a:p>
          <a:endParaRPr lang="zh-CN" altLang="en-US"/>
        </a:p>
      </dgm:t>
    </dgm:pt>
    <dgm:pt modelId="{1623B4C5-2499-4637-B07C-6AE8AE2BD718}" type="pres">
      <dgm:prSet presAssocID="{4BE40EF7-4FDB-46DC-AD5C-7AA9927BCDC4}" presName="Name0" presStyleCnt="0">
        <dgm:presLayoutVars>
          <dgm:dir/>
          <dgm:resizeHandles val="exact"/>
        </dgm:presLayoutVars>
      </dgm:prSet>
      <dgm:spPr/>
    </dgm:pt>
    <dgm:pt modelId="{2FBE2C1E-1D94-400F-A227-985D4DA10085}" type="pres">
      <dgm:prSet presAssocID="{79A907BE-6A57-46F9-949B-2F83975E5013}" presName="node" presStyleLbl="node1" presStyleIdx="0" presStyleCnt="5">
        <dgm:presLayoutVars>
          <dgm:bulletEnabled val="1"/>
        </dgm:presLayoutVars>
      </dgm:prSet>
      <dgm:spPr/>
    </dgm:pt>
    <dgm:pt modelId="{9F73252C-5345-45F1-A6FA-69E44781CCB0}" type="pres">
      <dgm:prSet presAssocID="{6E764295-1C97-4A8A-BB23-8F6587B65D20}" presName="sibTrans" presStyleLbl="sibTrans1D1" presStyleIdx="0" presStyleCnt="4"/>
      <dgm:spPr/>
    </dgm:pt>
    <dgm:pt modelId="{0A91809B-8299-4CB8-B3C9-28D901126CE1}" type="pres">
      <dgm:prSet presAssocID="{6E764295-1C97-4A8A-BB23-8F6587B65D20}" presName="connectorText" presStyleLbl="sibTrans1D1" presStyleIdx="0" presStyleCnt="4"/>
      <dgm:spPr/>
    </dgm:pt>
    <dgm:pt modelId="{0482690C-586E-41D6-8B40-4CA7581A9CE9}" type="pres">
      <dgm:prSet presAssocID="{047E9EF6-99D9-47D4-8421-7851F36A512F}" presName="node" presStyleLbl="node1" presStyleIdx="1" presStyleCnt="5">
        <dgm:presLayoutVars>
          <dgm:bulletEnabled val="1"/>
        </dgm:presLayoutVars>
      </dgm:prSet>
      <dgm:spPr/>
    </dgm:pt>
    <dgm:pt modelId="{EBB69596-36AB-40F1-91C5-FC3350A00067}" type="pres">
      <dgm:prSet presAssocID="{B3A60D08-4CF1-4AD3-A554-8DA1472F6362}" presName="sibTrans" presStyleLbl="sibTrans1D1" presStyleIdx="1" presStyleCnt="4"/>
      <dgm:spPr/>
    </dgm:pt>
    <dgm:pt modelId="{9F0FF7A9-40E9-4C02-BFFF-6F0641C2389B}" type="pres">
      <dgm:prSet presAssocID="{B3A60D08-4CF1-4AD3-A554-8DA1472F6362}" presName="connectorText" presStyleLbl="sibTrans1D1" presStyleIdx="1" presStyleCnt="4"/>
      <dgm:spPr/>
    </dgm:pt>
    <dgm:pt modelId="{E5145E43-B450-47CE-B1E5-1482BCF4071D}" type="pres">
      <dgm:prSet presAssocID="{9B99C3CE-0550-4254-B164-BB9424E18E56}" presName="node" presStyleLbl="node1" presStyleIdx="2" presStyleCnt="5">
        <dgm:presLayoutVars>
          <dgm:bulletEnabled val="1"/>
        </dgm:presLayoutVars>
      </dgm:prSet>
      <dgm:spPr/>
    </dgm:pt>
    <dgm:pt modelId="{31F3FE5F-74B2-48F8-89DC-AE29DBB498B0}" type="pres">
      <dgm:prSet presAssocID="{C20DFEDB-A5DA-48B1-860C-C64E9FB9889D}" presName="sibTrans" presStyleLbl="sibTrans1D1" presStyleIdx="2" presStyleCnt="4"/>
      <dgm:spPr/>
    </dgm:pt>
    <dgm:pt modelId="{EF27A438-6BA1-43B2-9139-DBAF3CBBEF89}" type="pres">
      <dgm:prSet presAssocID="{C20DFEDB-A5DA-48B1-860C-C64E9FB9889D}" presName="connectorText" presStyleLbl="sibTrans1D1" presStyleIdx="2" presStyleCnt="4"/>
      <dgm:spPr/>
    </dgm:pt>
    <dgm:pt modelId="{13492D71-E670-42C9-A619-1DE9B5F887F1}" type="pres">
      <dgm:prSet presAssocID="{4DBF9FC0-7F11-49D1-A13A-F9EF16035E78}" presName="node" presStyleLbl="node1" presStyleIdx="3" presStyleCnt="5">
        <dgm:presLayoutVars>
          <dgm:bulletEnabled val="1"/>
        </dgm:presLayoutVars>
      </dgm:prSet>
      <dgm:spPr/>
    </dgm:pt>
    <dgm:pt modelId="{E85A6953-055C-454F-835D-7FF8096CA491}" type="pres">
      <dgm:prSet presAssocID="{627790A7-E5AF-4DEF-9847-DE068ABD657B}" presName="sibTrans" presStyleLbl="sibTrans1D1" presStyleIdx="3" presStyleCnt="4"/>
      <dgm:spPr/>
    </dgm:pt>
    <dgm:pt modelId="{EB69ECB2-9BFD-4754-8113-1A1F7EFC836E}" type="pres">
      <dgm:prSet presAssocID="{627790A7-E5AF-4DEF-9847-DE068ABD657B}" presName="connectorText" presStyleLbl="sibTrans1D1" presStyleIdx="3" presStyleCnt="4"/>
      <dgm:spPr/>
    </dgm:pt>
    <dgm:pt modelId="{F80816D7-392E-4741-B9A3-C73586F7EC67}" type="pres">
      <dgm:prSet presAssocID="{3B57DE3A-D0CA-4A4A-A50B-01FBE031AA69}" presName="node" presStyleLbl="node1" presStyleIdx="4" presStyleCnt="5">
        <dgm:presLayoutVars>
          <dgm:bulletEnabled val="1"/>
        </dgm:presLayoutVars>
      </dgm:prSet>
      <dgm:spPr/>
    </dgm:pt>
  </dgm:ptLst>
  <dgm:cxnLst>
    <dgm:cxn modelId="{EA67940A-1855-45F5-BB20-DA6024EBF305}" srcId="{4BE40EF7-4FDB-46DC-AD5C-7AA9927BCDC4}" destId="{047E9EF6-99D9-47D4-8421-7851F36A512F}" srcOrd="1" destOrd="0" parTransId="{2AC7BC3F-1829-4928-9FDD-1BD085861192}" sibTransId="{B3A60D08-4CF1-4AD3-A554-8DA1472F6362}"/>
    <dgm:cxn modelId="{432FCD10-ED95-4334-BC7A-8BF0D09469F5}" type="presOf" srcId="{3B57DE3A-D0CA-4A4A-A50B-01FBE031AA69}" destId="{F80816D7-392E-4741-B9A3-C73586F7EC67}" srcOrd="0" destOrd="0" presId="urn:microsoft.com/office/officeart/2005/8/layout/bProcess3#1"/>
    <dgm:cxn modelId="{F7405114-E905-431C-BDEC-8DA01BCB39A9}" srcId="{4BE40EF7-4FDB-46DC-AD5C-7AA9927BCDC4}" destId="{79A907BE-6A57-46F9-949B-2F83975E5013}" srcOrd="0" destOrd="0" parTransId="{27508ADE-09B9-4692-B3B1-997C0A038367}" sibTransId="{6E764295-1C97-4A8A-BB23-8F6587B65D20}"/>
    <dgm:cxn modelId="{B1249220-96A7-43E8-85D1-7DC79B7FB779}" type="presOf" srcId="{4BE40EF7-4FDB-46DC-AD5C-7AA9927BCDC4}" destId="{1623B4C5-2499-4637-B07C-6AE8AE2BD718}" srcOrd="0" destOrd="0" presId="urn:microsoft.com/office/officeart/2005/8/layout/bProcess3#1"/>
    <dgm:cxn modelId="{7525C820-781A-476E-B9CF-DD619EF6C1DB}" type="presOf" srcId="{79A907BE-6A57-46F9-949B-2F83975E5013}" destId="{2FBE2C1E-1D94-400F-A227-985D4DA10085}" srcOrd="0" destOrd="0" presId="urn:microsoft.com/office/officeart/2005/8/layout/bProcess3#1"/>
    <dgm:cxn modelId="{19BD4839-309E-4681-919B-07D944B6536D}" type="presOf" srcId="{9B99C3CE-0550-4254-B164-BB9424E18E56}" destId="{E5145E43-B450-47CE-B1E5-1482BCF4071D}" srcOrd="0" destOrd="0" presId="urn:microsoft.com/office/officeart/2005/8/layout/bProcess3#1"/>
    <dgm:cxn modelId="{2127EE3A-5B9F-405D-A89B-5A9304CE6B8B}" type="presOf" srcId="{B3A60D08-4CF1-4AD3-A554-8DA1472F6362}" destId="{EBB69596-36AB-40F1-91C5-FC3350A00067}" srcOrd="0" destOrd="0" presId="urn:microsoft.com/office/officeart/2005/8/layout/bProcess3#1"/>
    <dgm:cxn modelId="{172D005F-908C-42EC-BE45-881C078772CD}" type="presOf" srcId="{627790A7-E5AF-4DEF-9847-DE068ABD657B}" destId="{E85A6953-055C-454F-835D-7FF8096CA491}" srcOrd="0" destOrd="0" presId="urn:microsoft.com/office/officeart/2005/8/layout/bProcess3#1"/>
    <dgm:cxn modelId="{F94EE45F-1312-4F02-B3D9-2B9ED83359FA}" srcId="{4BE40EF7-4FDB-46DC-AD5C-7AA9927BCDC4}" destId="{3B57DE3A-D0CA-4A4A-A50B-01FBE031AA69}" srcOrd="4" destOrd="0" parTransId="{98FA3677-4FAE-4C5E-B3CE-CF3B6D80F4A1}" sibTransId="{D4875198-FB6C-46A1-9EC3-6A21426D178B}"/>
    <dgm:cxn modelId="{3FECF644-BDF6-428F-9250-0952ABE6E3FB}" srcId="{4BE40EF7-4FDB-46DC-AD5C-7AA9927BCDC4}" destId="{4DBF9FC0-7F11-49D1-A13A-F9EF16035E78}" srcOrd="3" destOrd="0" parTransId="{716438C4-1259-4C94-B7A8-3756D5685E48}" sibTransId="{627790A7-E5AF-4DEF-9847-DE068ABD657B}"/>
    <dgm:cxn modelId="{C023B952-9F57-4EC3-963F-A89D87E4ED91}" type="presOf" srcId="{6E764295-1C97-4A8A-BB23-8F6587B65D20}" destId="{9F73252C-5345-45F1-A6FA-69E44781CCB0}" srcOrd="0" destOrd="0" presId="urn:microsoft.com/office/officeart/2005/8/layout/bProcess3#1"/>
    <dgm:cxn modelId="{90F21559-F196-4D33-81F7-EDC49228FB5F}" type="presOf" srcId="{C20DFEDB-A5DA-48B1-860C-C64E9FB9889D}" destId="{31F3FE5F-74B2-48F8-89DC-AE29DBB498B0}" srcOrd="0" destOrd="0" presId="urn:microsoft.com/office/officeart/2005/8/layout/bProcess3#1"/>
    <dgm:cxn modelId="{EC77A1B9-3DC1-41B7-AE0F-80B843621019}" type="presOf" srcId="{047E9EF6-99D9-47D4-8421-7851F36A512F}" destId="{0482690C-586E-41D6-8B40-4CA7581A9CE9}" srcOrd="0" destOrd="0" presId="urn:microsoft.com/office/officeart/2005/8/layout/bProcess3#1"/>
    <dgm:cxn modelId="{4B9724BC-1DC7-4D0F-873A-7AEB75E9E100}" type="presOf" srcId="{6E764295-1C97-4A8A-BB23-8F6587B65D20}" destId="{0A91809B-8299-4CB8-B3C9-28D901126CE1}" srcOrd="1" destOrd="0" presId="urn:microsoft.com/office/officeart/2005/8/layout/bProcess3#1"/>
    <dgm:cxn modelId="{A8DEECC1-6EE0-41DA-8328-2A86719C3D53}" type="presOf" srcId="{C20DFEDB-A5DA-48B1-860C-C64E9FB9889D}" destId="{EF27A438-6BA1-43B2-9139-DBAF3CBBEF89}" srcOrd="1" destOrd="0" presId="urn:microsoft.com/office/officeart/2005/8/layout/bProcess3#1"/>
    <dgm:cxn modelId="{2F260CDB-C48C-4CFB-B7F8-9EE6CBAE5DA4}" type="presOf" srcId="{4DBF9FC0-7F11-49D1-A13A-F9EF16035E78}" destId="{13492D71-E670-42C9-A619-1DE9B5F887F1}" srcOrd="0" destOrd="0" presId="urn:microsoft.com/office/officeart/2005/8/layout/bProcess3#1"/>
    <dgm:cxn modelId="{BC5E2FE0-CA88-4DB5-9C4A-5CEAFCD565FD}" type="presOf" srcId="{B3A60D08-4CF1-4AD3-A554-8DA1472F6362}" destId="{9F0FF7A9-40E9-4C02-BFFF-6F0641C2389B}" srcOrd="1" destOrd="0" presId="urn:microsoft.com/office/officeart/2005/8/layout/bProcess3#1"/>
    <dgm:cxn modelId="{B78706E6-AD47-49A9-8C63-C4F887BD9834}" srcId="{4BE40EF7-4FDB-46DC-AD5C-7AA9927BCDC4}" destId="{9B99C3CE-0550-4254-B164-BB9424E18E56}" srcOrd="2" destOrd="0" parTransId="{CF18C7ED-262E-47EB-A8BC-BC18A4B2756C}" sibTransId="{C20DFEDB-A5DA-48B1-860C-C64E9FB9889D}"/>
    <dgm:cxn modelId="{4B02ECFE-19BA-4C12-BF2E-27DB442CFDC5}" type="presOf" srcId="{627790A7-E5AF-4DEF-9847-DE068ABD657B}" destId="{EB69ECB2-9BFD-4754-8113-1A1F7EFC836E}" srcOrd="1" destOrd="0" presId="urn:microsoft.com/office/officeart/2005/8/layout/bProcess3#1"/>
    <dgm:cxn modelId="{1377C5D9-F900-4A77-8C53-C920CB2857B2}" type="presParOf" srcId="{1623B4C5-2499-4637-B07C-6AE8AE2BD718}" destId="{2FBE2C1E-1D94-400F-A227-985D4DA10085}" srcOrd="0" destOrd="0" presId="urn:microsoft.com/office/officeart/2005/8/layout/bProcess3#1"/>
    <dgm:cxn modelId="{F1B2CB68-C862-4A46-A0FA-380F131E3C3C}" type="presParOf" srcId="{1623B4C5-2499-4637-B07C-6AE8AE2BD718}" destId="{9F73252C-5345-45F1-A6FA-69E44781CCB0}" srcOrd="1" destOrd="0" presId="urn:microsoft.com/office/officeart/2005/8/layout/bProcess3#1"/>
    <dgm:cxn modelId="{74CCA00C-41A9-4BD3-BB41-CC945ECBAD80}" type="presParOf" srcId="{9F73252C-5345-45F1-A6FA-69E44781CCB0}" destId="{0A91809B-8299-4CB8-B3C9-28D901126CE1}" srcOrd="0" destOrd="0" presId="urn:microsoft.com/office/officeart/2005/8/layout/bProcess3#1"/>
    <dgm:cxn modelId="{CF14D51F-4E8C-4BD9-A5C9-12E12199191B}" type="presParOf" srcId="{1623B4C5-2499-4637-B07C-6AE8AE2BD718}" destId="{0482690C-586E-41D6-8B40-4CA7581A9CE9}" srcOrd="2" destOrd="0" presId="urn:microsoft.com/office/officeart/2005/8/layout/bProcess3#1"/>
    <dgm:cxn modelId="{1AB8A8D6-A616-45EE-B637-D815315719D4}" type="presParOf" srcId="{1623B4C5-2499-4637-B07C-6AE8AE2BD718}" destId="{EBB69596-36AB-40F1-91C5-FC3350A00067}" srcOrd="3" destOrd="0" presId="urn:microsoft.com/office/officeart/2005/8/layout/bProcess3#1"/>
    <dgm:cxn modelId="{4F04CE4F-AAD6-4236-9A33-75621A3E759D}" type="presParOf" srcId="{EBB69596-36AB-40F1-91C5-FC3350A00067}" destId="{9F0FF7A9-40E9-4C02-BFFF-6F0641C2389B}" srcOrd="0" destOrd="0" presId="urn:microsoft.com/office/officeart/2005/8/layout/bProcess3#1"/>
    <dgm:cxn modelId="{390E4AE9-10B0-40D3-80E8-AE4CB7F176CE}" type="presParOf" srcId="{1623B4C5-2499-4637-B07C-6AE8AE2BD718}" destId="{E5145E43-B450-47CE-B1E5-1482BCF4071D}" srcOrd="4" destOrd="0" presId="urn:microsoft.com/office/officeart/2005/8/layout/bProcess3#1"/>
    <dgm:cxn modelId="{51396625-B571-436C-B665-D8455B657F21}" type="presParOf" srcId="{1623B4C5-2499-4637-B07C-6AE8AE2BD718}" destId="{31F3FE5F-74B2-48F8-89DC-AE29DBB498B0}" srcOrd="5" destOrd="0" presId="urn:microsoft.com/office/officeart/2005/8/layout/bProcess3#1"/>
    <dgm:cxn modelId="{443E605A-2EAF-487C-BE29-540E76F9278C}" type="presParOf" srcId="{31F3FE5F-74B2-48F8-89DC-AE29DBB498B0}" destId="{EF27A438-6BA1-43B2-9139-DBAF3CBBEF89}" srcOrd="0" destOrd="0" presId="urn:microsoft.com/office/officeart/2005/8/layout/bProcess3#1"/>
    <dgm:cxn modelId="{7CDA14E6-654B-4FC6-9453-8940DFAD5613}" type="presParOf" srcId="{1623B4C5-2499-4637-B07C-6AE8AE2BD718}" destId="{13492D71-E670-42C9-A619-1DE9B5F887F1}" srcOrd="6" destOrd="0" presId="urn:microsoft.com/office/officeart/2005/8/layout/bProcess3#1"/>
    <dgm:cxn modelId="{EA25DA2E-0D97-4B5D-B94C-A4EC068AD073}" type="presParOf" srcId="{1623B4C5-2499-4637-B07C-6AE8AE2BD718}" destId="{E85A6953-055C-454F-835D-7FF8096CA491}" srcOrd="7" destOrd="0" presId="urn:microsoft.com/office/officeart/2005/8/layout/bProcess3#1"/>
    <dgm:cxn modelId="{64ECEC3F-9F29-452B-A65D-DBD6AC0E2164}" type="presParOf" srcId="{E85A6953-055C-454F-835D-7FF8096CA491}" destId="{EB69ECB2-9BFD-4754-8113-1A1F7EFC836E}" srcOrd="0" destOrd="0" presId="urn:microsoft.com/office/officeart/2005/8/layout/bProcess3#1"/>
    <dgm:cxn modelId="{F03FF4FC-E67A-4358-A25F-92D22C7B9FE3}" type="presParOf" srcId="{1623B4C5-2499-4637-B07C-6AE8AE2BD718}" destId="{F80816D7-392E-4741-B9A3-C73586F7EC67}" srcOrd="8" destOrd="0" presId="urn:microsoft.com/office/officeart/2005/8/layout/bProcess3#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BE40EF7-4FDB-46DC-AD5C-7AA9927BCDC4}" type="doc">
      <dgm:prSet loTypeId="urn:microsoft.com/office/officeart/2005/8/layout/bProcess3#3" loCatId="process" qsTypeId="urn:microsoft.com/office/officeart/2005/8/quickstyle/simple3#3" qsCatId="simple" csTypeId="urn:microsoft.com/office/officeart/2005/8/colors/accent1_5#3" csCatId="accent1" phldr="0"/>
      <dgm:spPr/>
      <dgm:t>
        <a:bodyPr/>
        <a:lstStyle/>
        <a:p>
          <a:endParaRPr lang="zh-CN" altLang="en-US"/>
        </a:p>
      </dgm:t>
    </dgm:pt>
    <dgm:pt modelId="{79A907BE-6A57-46F9-949B-2F83975E5013}">
      <dgm:prSet phldrT="[文本]" phldr="0" custT="1"/>
      <dgm:spPr/>
      <dgm:t>
        <a:bodyPr vert="horz" wrap="square"/>
        <a:lstStyle/>
        <a:p>
          <a:pPr algn="ctr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 </a:t>
          </a:r>
          <a:r>
            <a:rPr lang="en-US" altLang="zh-CN" sz="2400" b="1">
              <a:solidFill>
                <a:srgbClr val="FF0000"/>
              </a:solidFill>
            </a:rPr>
            <a:t>1. </a:t>
          </a:r>
          <a:r>
            <a:rPr lang="zh-CN" altLang="en-US" sz="2400" b="1">
              <a:solidFill>
                <a:srgbClr val="FF0000"/>
              </a:solidFill>
            </a:rPr>
            <a:t>【硬件自动】外部信号变化</a:t>
          </a:r>
          <a:r>
            <a:rPr lang="en-US" altLang="zh-CN" sz="2400" b="1"/>
            <a:t>   </a:t>
          </a:r>
        </a:p>
        <a:p>
          <a:pPr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>
              <a:sym typeface="+mn-ea"/>
            </a:rPr>
            <a:t> -</a:t>
          </a:r>
          <a:r>
            <a:rPr lang="en-US" altLang="zh-CN" sz="2400" b="1"/>
            <a:t>GPIO</a:t>
          </a:r>
          <a:r>
            <a:rPr lang="zh-CN" altLang="en-US" sz="2400" b="1"/>
            <a:t>引脚检测到边沿信号</a:t>
          </a:r>
          <a:r>
            <a:rPr lang="en-US" altLang="zh-CN" sz="2400" b="1"/>
            <a:t>      </a:t>
          </a:r>
        </a:p>
        <a:p>
          <a:pPr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>
              <a:sym typeface="+mn-ea"/>
            </a:rPr>
            <a:t> -</a:t>
          </a:r>
          <a:r>
            <a:rPr lang="zh-CN" altLang="en-US" sz="2400" b="1"/>
            <a:t>上升沿</a:t>
          </a:r>
          <a:r>
            <a:rPr lang="en-US" altLang="zh-CN" sz="2400" b="1"/>
            <a:t>/</a:t>
          </a:r>
          <a:r>
            <a:rPr lang="zh-CN" altLang="en-US" sz="2400" b="1"/>
            <a:t>下降沿</a:t>
          </a:r>
          <a:r>
            <a:rPr lang="en-US" altLang="zh-CN" sz="2400" b="1"/>
            <a:t>/</a:t>
          </a:r>
          <a:r>
            <a:rPr lang="zh-CN" altLang="en-US" sz="2400" b="1"/>
            <a:t>双边沿</a:t>
          </a:r>
        </a:p>
      </dgm:t>
    </dgm:pt>
    <dgm:pt modelId="{27508ADE-09B9-4692-B3B1-997C0A038367}" cxnId="{9D0B21DF-8372-4B73-B372-CF07036B6530}" type="parTrans">
      <dgm:prSet/>
      <dgm:spPr/>
      <dgm:t>
        <a:bodyPr/>
        <a:lstStyle/>
        <a:p>
          <a:endParaRPr lang="zh-CN" altLang="en-US"/>
        </a:p>
      </dgm:t>
    </dgm:pt>
    <dgm:pt modelId="{6E764295-1C97-4A8A-BB23-8F6587B65D20}" cxnId="{9D0B21DF-8372-4B73-B372-CF07036B6530}" type="sibTrans">
      <dgm:prSet/>
      <dgm:spPr/>
      <dgm:t>
        <a:bodyPr/>
        <a:lstStyle/>
        <a:p>
          <a:endParaRPr lang="zh-CN" altLang="en-US"/>
        </a:p>
      </dgm:t>
    </dgm:pt>
    <dgm:pt modelId="{047E9EF6-99D9-47D4-8421-7851F36A512F}">
      <dgm:prSet phldrT="[文本]" phldr="0" custT="1"/>
      <dgm:spPr/>
      <dgm:t>
        <a:bodyPr vert="horz" wrap="square"/>
        <a:lstStyle/>
        <a:p>
          <a:pPr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>
              <a:solidFill>
                <a:srgbClr val="FF0000"/>
              </a:solidFill>
            </a:rPr>
            <a:t>2. </a:t>
          </a:r>
          <a:r>
            <a:rPr lang="zh-CN" altLang="en-US" sz="2400" b="1">
              <a:solidFill>
                <a:srgbClr val="FF0000"/>
              </a:solidFill>
            </a:rPr>
            <a:t>【硬件自动】</a:t>
          </a:r>
          <a:r>
            <a:rPr lang="en-US" altLang="zh-CN" sz="2400" b="1">
              <a:solidFill>
                <a:srgbClr val="FF0000"/>
              </a:solidFill>
            </a:rPr>
            <a:t>EXTI</a:t>
          </a:r>
          <a:r>
            <a:rPr lang="zh-CN" altLang="en-US" sz="2400" b="1">
              <a:solidFill>
                <a:srgbClr val="FF0000"/>
              </a:solidFill>
            </a:rPr>
            <a:t>线检测</a:t>
          </a:r>
          <a:r>
            <a:rPr lang="en-US" altLang="zh-CN" sz="2400" b="1">
              <a:solidFill>
                <a:srgbClr val="FF0000"/>
              </a:solidFill>
            </a:rPr>
            <a:t> </a:t>
          </a:r>
          <a:r>
            <a:rPr lang="en-US" altLang="zh-CN" sz="2400" b="1"/>
            <a:t>              </a:t>
          </a:r>
          <a:endParaRPr lang="en-US" altLang="en-US" sz="2400" b="1"/>
        </a:p>
        <a:p>
          <a:pPr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 - </a:t>
          </a:r>
          <a:r>
            <a:rPr lang="zh-CN" altLang="en-US" sz="2400" b="1"/>
            <a:t>对应</a:t>
          </a:r>
          <a:r>
            <a:rPr lang="en-US" altLang="zh-CN" sz="2400" b="1"/>
            <a:t>EXTI</a:t>
          </a:r>
          <a:r>
            <a:rPr lang="zh-CN" altLang="en-US" sz="2400" b="1"/>
            <a:t>线的挂起位置</a:t>
          </a:r>
          <a:r>
            <a:rPr lang="en-US" altLang="zh-CN" sz="2400" b="1"/>
            <a:t>1        </a:t>
          </a:r>
          <a:endParaRPr lang="en-US" altLang="en-US" sz="2400" b="1"/>
        </a:p>
        <a:p>
          <a:pPr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 - EXTI_PR</a:t>
          </a:r>
          <a:r>
            <a:rPr lang="zh-CN" altLang="en-US" sz="2400" b="1"/>
            <a:t>寄存器相应位置</a:t>
          </a:r>
          <a:r>
            <a:rPr lang="en-US" altLang="zh-CN" sz="2400" b="1"/>
            <a:t>1</a:t>
          </a:r>
        </a:p>
      </dgm:t>
    </dgm:pt>
    <dgm:pt modelId="{2AC7BC3F-1829-4928-9FDD-1BD085861192}" cxnId="{C65C03FC-C0C9-4C8F-BED7-F1C063EBC412}" type="parTrans">
      <dgm:prSet/>
      <dgm:spPr/>
      <dgm:t>
        <a:bodyPr/>
        <a:lstStyle/>
        <a:p>
          <a:endParaRPr lang="zh-CN" altLang="en-US"/>
        </a:p>
      </dgm:t>
    </dgm:pt>
    <dgm:pt modelId="{B3A60D08-4CF1-4AD3-A554-8DA1472F6362}" cxnId="{C65C03FC-C0C9-4C8F-BED7-F1C063EBC412}" type="sibTrans">
      <dgm:prSet/>
      <dgm:spPr/>
      <dgm:t>
        <a:bodyPr/>
        <a:lstStyle/>
        <a:p>
          <a:endParaRPr lang="zh-CN" altLang="en-US"/>
        </a:p>
      </dgm:t>
    </dgm:pt>
    <dgm:pt modelId="{9B99C3CE-0550-4254-B164-BB9424E18E56}">
      <dgm:prSet phldrT="[文本]" phldr="0" custT="1"/>
      <dgm:spPr/>
      <dgm:t>
        <a:bodyPr vert="horz" wrap="square"/>
        <a:lstStyle/>
        <a:p>
          <a:pPr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>
              <a:solidFill>
                <a:srgbClr val="FF0000"/>
              </a:solidFill>
            </a:rPr>
            <a:t>3. </a:t>
          </a:r>
          <a:r>
            <a:rPr lang="zh-CN" altLang="en-US" sz="2400" b="1">
              <a:solidFill>
                <a:srgbClr val="FF0000"/>
              </a:solidFill>
            </a:rPr>
            <a:t>【硬件自动】</a:t>
          </a:r>
          <a:r>
            <a:rPr lang="en-US" altLang="zh-CN" sz="2400" b="1">
              <a:solidFill>
                <a:srgbClr val="FF0000"/>
              </a:solidFill>
            </a:rPr>
            <a:t>NVIC</a:t>
          </a:r>
          <a:r>
            <a:rPr lang="zh-CN" altLang="en-US" sz="2400" b="1">
              <a:solidFill>
                <a:srgbClr val="FF0000"/>
              </a:solidFill>
            </a:rPr>
            <a:t>仲裁判断</a:t>
          </a:r>
          <a:r>
            <a:rPr lang="en-US" altLang="zh-CN" sz="2400" b="1">
              <a:solidFill>
                <a:srgbClr val="FF0000"/>
              </a:solidFill>
            </a:rPr>
            <a:t>  </a:t>
          </a:r>
          <a:r>
            <a:rPr lang="en-US" altLang="zh-CN" sz="2400" b="1"/>
            <a:t>     </a:t>
          </a:r>
        </a:p>
        <a:p>
          <a:pPr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- </a:t>
          </a:r>
          <a:r>
            <a:rPr lang="zh-CN" altLang="en-US" sz="2400" b="1"/>
            <a:t>检查中断是否使能</a:t>
          </a:r>
        </a:p>
        <a:p>
          <a:pPr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- </a:t>
          </a:r>
          <a:r>
            <a:rPr lang="zh-CN" altLang="en-US" sz="2400" b="1"/>
            <a:t>比较当前优先级</a:t>
          </a:r>
          <a:r>
            <a:rPr lang="en-US" altLang="zh-CN" sz="2400" b="1"/>
            <a:t>   </a:t>
          </a:r>
        </a:p>
        <a:p>
          <a:pPr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- </a:t>
          </a:r>
          <a:r>
            <a:rPr lang="zh-CN" altLang="en-US" sz="2400" b="1"/>
            <a:t>判断是否可以响应</a:t>
          </a:r>
        </a:p>
      </dgm:t>
    </dgm:pt>
    <dgm:pt modelId="{CF18C7ED-262E-47EB-A8BC-BC18A4B2756C}" cxnId="{2A35ECEF-6B53-453A-B986-7FCE03B16D04}" type="parTrans">
      <dgm:prSet/>
      <dgm:spPr/>
      <dgm:t>
        <a:bodyPr/>
        <a:lstStyle/>
        <a:p>
          <a:endParaRPr lang="zh-CN" altLang="en-US"/>
        </a:p>
      </dgm:t>
    </dgm:pt>
    <dgm:pt modelId="{C20DFEDB-A5DA-48B1-860C-C64E9FB9889D}" cxnId="{2A35ECEF-6B53-453A-B986-7FCE03B16D04}" type="sibTrans">
      <dgm:prSet/>
      <dgm:spPr/>
      <dgm:t>
        <a:bodyPr/>
        <a:lstStyle/>
        <a:p>
          <a:endParaRPr lang="zh-CN" altLang="en-US"/>
        </a:p>
      </dgm:t>
    </dgm:pt>
    <dgm:pt modelId="{4DBF9FC0-7F11-49D1-A13A-F9EF16035E78}">
      <dgm:prSet phldrT="[文本]" phldr="0" custT="1"/>
      <dgm:spPr/>
      <dgm:t>
        <a:bodyPr vert="horz" wrap="square"/>
        <a:lstStyle/>
        <a:p>
          <a:pPr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>
              <a:solidFill>
                <a:srgbClr val="FF0000"/>
              </a:solidFill>
            </a:rPr>
            <a:t>4.</a:t>
          </a:r>
          <a:r>
            <a:rPr lang="zh-CN" altLang="en-US" sz="2400" b="1">
              <a:solidFill>
                <a:srgbClr val="FF0000"/>
              </a:solidFill>
            </a:rPr>
            <a:t>【硬件自动】保存现场</a:t>
          </a:r>
          <a:r>
            <a:rPr lang="en-US" altLang="zh-CN" sz="2400" b="1">
              <a:solidFill>
                <a:srgbClr val="FF0000"/>
              </a:solidFill>
            </a:rPr>
            <a:t>(</a:t>
          </a:r>
          <a:r>
            <a:rPr lang="zh-CN" altLang="en-US" sz="2400" b="1">
              <a:solidFill>
                <a:srgbClr val="FF0000"/>
              </a:solidFill>
            </a:rPr>
            <a:t>压栈</a:t>
          </a:r>
          <a:r>
            <a:rPr lang="en-US" altLang="zh-CN" sz="2400" b="1">
              <a:solidFill>
                <a:srgbClr val="FF0000"/>
              </a:solidFill>
            </a:rPr>
            <a:t>)        </a:t>
          </a:r>
          <a:r>
            <a:rPr lang="en-US" altLang="en-US" sz="2400" b="1">
              <a:solidFill>
                <a:srgbClr val="FF0000"/>
              </a:solidFill>
            </a:rPr>
            <a:t>│</a:t>
          </a:r>
        </a:p>
        <a:p>
          <a:pPr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>
              <a:sym typeface="+mn-ea"/>
            </a:rPr>
            <a:t>-</a:t>
          </a:r>
          <a:r>
            <a:rPr lang="zh-CN" altLang="en-US" sz="2400" b="1">
              <a:solidFill>
                <a:schemeClr val="tx1"/>
              </a:solidFill>
            </a:rPr>
            <a:t>自动压入栈的寄存器</a:t>
          </a:r>
          <a:r>
            <a:rPr lang="en-US" altLang="zh-CN" sz="2400" b="1">
              <a:solidFill>
                <a:srgbClr val="FF0000"/>
              </a:solidFill>
            </a:rPr>
            <a:t> </a:t>
          </a:r>
          <a:endParaRPr lang="zh-CN" altLang="en-US" sz="2400" b="1"/>
        </a:p>
      </dgm:t>
    </dgm:pt>
    <dgm:pt modelId="{716438C4-1259-4C94-B7A8-3756D5685E48}" cxnId="{4EAFFE04-8280-4FF5-B3F2-5C71707C72AB}" type="parTrans">
      <dgm:prSet/>
      <dgm:spPr/>
      <dgm:t>
        <a:bodyPr/>
        <a:lstStyle/>
        <a:p>
          <a:endParaRPr lang="zh-CN" altLang="en-US"/>
        </a:p>
      </dgm:t>
    </dgm:pt>
    <dgm:pt modelId="{627790A7-E5AF-4DEF-9847-DE068ABD657B}" cxnId="{4EAFFE04-8280-4FF5-B3F2-5C71707C72AB}" type="sibTrans">
      <dgm:prSet/>
      <dgm:spPr/>
      <dgm:t>
        <a:bodyPr/>
        <a:lstStyle/>
        <a:p>
          <a:endParaRPr lang="zh-CN" altLang="en-US"/>
        </a:p>
      </dgm:t>
    </dgm:pt>
    <dgm:pt modelId="{3B57DE3A-D0CA-4A4A-A50B-01FBE031AA69}">
      <dgm:prSet phldrT="[文本]" phldr="0" custT="1"/>
      <dgm:spPr/>
      <dgm:t>
        <a:bodyPr vert="horz" wrap="square"/>
        <a:lstStyle/>
        <a:p>
          <a:pPr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>
              <a:solidFill>
                <a:srgbClr val="FF0000"/>
              </a:solidFill>
            </a:rPr>
            <a:t>5. </a:t>
          </a:r>
          <a:r>
            <a:rPr lang="zh-CN" altLang="en-US" sz="2400" b="1">
              <a:solidFill>
                <a:srgbClr val="FF0000"/>
              </a:solidFill>
              <a:sym typeface="+mn-ea"/>
            </a:rPr>
            <a:t>【硬件自动】</a:t>
          </a:r>
          <a:r>
            <a:rPr lang="zh-CN" altLang="en-US" sz="2400" b="1" dirty="0">
              <a:sym typeface="+mn-ea"/>
            </a:rPr>
            <a:t>查</a:t>
          </a:r>
          <a:r>
            <a:rPr lang="zh-CN" altLang="en-US" sz="2400" b="1" dirty="0">
              <a:solidFill>
                <a:srgbClr val="3333FF"/>
              </a:solidFill>
              <a:sym typeface="+mn-ea"/>
            </a:rPr>
            <a:t>中断向量表</a:t>
          </a:r>
          <a:r>
            <a:rPr lang="zh-CN" altLang="en-US" sz="2400" b="1" dirty="0">
              <a:sym typeface="+mn-ea"/>
            </a:rPr>
            <a:t>获取</a:t>
          </a:r>
          <a:r>
            <a:rPr lang="en-US" altLang="zh-CN" sz="2400" b="1" dirty="0">
              <a:sym typeface="+mn-ea"/>
            </a:rPr>
            <a:t>ISR</a:t>
          </a:r>
          <a:r>
            <a:rPr lang="zh-CN" altLang="en-US" sz="2400" b="1" dirty="0">
              <a:sym typeface="+mn-ea"/>
            </a:rPr>
            <a:t>地址，跳转到中断服务函数</a:t>
          </a:r>
          <a:endParaRPr lang="en-US" altLang="zh-CN" sz="2400" b="1" dirty="0">
            <a:solidFill>
              <a:srgbClr val="FF0000"/>
            </a:solidFill>
            <a:sym typeface="+mn-ea"/>
          </a:endParaRPr>
        </a:p>
      </dgm:t>
    </dgm:pt>
    <dgm:pt modelId="{98FA3677-4FAE-4C5E-B3CE-CF3B6D80F4A1}" cxnId="{E5360A4E-BE3B-429C-AC69-8BB754F1BE0C}" type="parTrans">
      <dgm:prSet/>
      <dgm:spPr/>
      <dgm:t>
        <a:bodyPr/>
        <a:lstStyle/>
        <a:p>
          <a:endParaRPr lang="zh-CN" altLang="en-US"/>
        </a:p>
      </dgm:t>
    </dgm:pt>
    <dgm:pt modelId="{D4875198-FB6C-46A1-9EC3-6A21426D178B}" cxnId="{E5360A4E-BE3B-429C-AC69-8BB754F1BE0C}" type="sibTrans">
      <dgm:prSet/>
      <dgm:spPr/>
      <dgm:t>
        <a:bodyPr/>
        <a:lstStyle/>
        <a:p>
          <a:endParaRPr lang="zh-CN" altLang="en-US"/>
        </a:p>
      </dgm:t>
    </dgm:pt>
    <dgm:pt modelId="{1623B4C5-2499-4637-B07C-6AE8AE2BD718}" type="pres">
      <dgm:prSet presAssocID="{4BE40EF7-4FDB-46DC-AD5C-7AA9927BCDC4}" presName="Name0" presStyleCnt="0">
        <dgm:presLayoutVars>
          <dgm:dir/>
          <dgm:resizeHandles val="exact"/>
        </dgm:presLayoutVars>
      </dgm:prSet>
      <dgm:spPr/>
    </dgm:pt>
    <dgm:pt modelId="{2FBE2C1E-1D94-400F-A227-985D4DA10085}" type="pres">
      <dgm:prSet presAssocID="{79A907BE-6A57-46F9-949B-2F83975E5013}" presName="node" presStyleLbl="node1" presStyleIdx="0" presStyleCnt="5">
        <dgm:presLayoutVars>
          <dgm:bulletEnabled val="1"/>
        </dgm:presLayoutVars>
      </dgm:prSet>
      <dgm:spPr/>
    </dgm:pt>
    <dgm:pt modelId="{9F73252C-5345-45F1-A6FA-69E44781CCB0}" type="pres">
      <dgm:prSet presAssocID="{6E764295-1C97-4A8A-BB23-8F6587B65D20}" presName="sibTrans" presStyleLbl="sibTrans1D1" presStyleIdx="0" presStyleCnt="4"/>
      <dgm:spPr/>
    </dgm:pt>
    <dgm:pt modelId="{0A91809B-8299-4CB8-B3C9-28D901126CE1}" type="pres">
      <dgm:prSet presAssocID="{6E764295-1C97-4A8A-BB23-8F6587B65D20}" presName="connectorText" presStyleLbl="sibTrans1D1" presStyleIdx="0" presStyleCnt="4"/>
      <dgm:spPr/>
    </dgm:pt>
    <dgm:pt modelId="{0482690C-586E-41D6-8B40-4CA7581A9CE9}" type="pres">
      <dgm:prSet presAssocID="{047E9EF6-99D9-47D4-8421-7851F36A512F}" presName="node" presStyleLbl="node1" presStyleIdx="1" presStyleCnt="5">
        <dgm:presLayoutVars>
          <dgm:bulletEnabled val="1"/>
        </dgm:presLayoutVars>
      </dgm:prSet>
      <dgm:spPr/>
    </dgm:pt>
    <dgm:pt modelId="{EBB69596-36AB-40F1-91C5-FC3350A00067}" type="pres">
      <dgm:prSet presAssocID="{B3A60D08-4CF1-4AD3-A554-8DA1472F6362}" presName="sibTrans" presStyleLbl="sibTrans1D1" presStyleIdx="1" presStyleCnt="4"/>
      <dgm:spPr/>
    </dgm:pt>
    <dgm:pt modelId="{9F0FF7A9-40E9-4C02-BFFF-6F0641C2389B}" type="pres">
      <dgm:prSet presAssocID="{B3A60D08-4CF1-4AD3-A554-8DA1472F6362}" presName="connectorText" presStyleLbl="sibTrans1D1" presStyleIdx="1" presStyleCnt="4"/>
      <dgm:spPr/>
    </dgm:pt>
    <dgm:pt modelId="{E5145E43-B450-47CE-B1E5-1482BCF4071D}" type="pres">
      <dgm:prSet presAssocID="{9B99C3CE-0550-4254-B164-BB9424E18E56}" presName="node" presStyleLbl="node1" presStyleIdx="2" presStyleCnt="5">
        <dgm:presLayoutVars>
          <dgm:bulletEnabled val="1"/>
        </dgm:presLayoutVars>
      </dgm:prSet>
      <dgm:spPr/>
    </dgm:pt>
    <dgm:pt modelId="{31F3FE5F-74B2-48F8-89DC-AE29DBB498B0}" type="pres">
      <dgm:prSet presAssocID="{C20DFEDB-A5DA-48B1-860C-C64E9FB9889D}" presName="sibTrans" presStyleLbl="sibTrans1D1" presStyleIdx="2" presStyleCnt="4"/>
      <dgm:spPr/>
    </dgm:pt>
    <dgm:pt modelId="{EF27A438-6BA1-43B2-9139-DBAF3CBBEF89}" type="pres">
      <dgm:prSet presAssocID="{C20DFEDB-A5DA-48B1-860C-C64E9FB9889D}" presName="connectorText" presStyleLbl="sibTrans1D1" presStyleIdx="2" presStyleCnt="4"/>
      <dgm:spPr/>
    </dgm:pt>
    <dgm:pt modelId="{13492D71-E670-42C9-A619-1DE9B5F887F1}" type="pres">
      <dgm:prSet presAssocID="{4DBF9FC0-7F11-49D1-A13A-F9EF16035E78}" presName="node" presStyleLbl="node1" presStyleIdx="3" presStyleCnt="5">
        <dgm:presLayoutVars>
          <dgm:bulletEnabled val="1"/>
        </dgm:presLayoutVars>
      </dgm:prSet>
      <dgm:spPr/>
    </dgm:pt>
    <dgm:pt modelId="{E85A6953-055C-454F-835D-7FF8096CA491}" type="pres">
      <dgm:prSet presAssocID="{627790A7-E5AF-4DEF-9847-DE068ABD657B}" presName="sibTrans" presStyleLbl="sibTrans1D1" presStyleIdx="3" presStyleCnt="4"/>
      <dgm:spPr/>
    </dgm:pt>
    <dgm:pt modelId="{EB69ECB2-9BFD-4754-8113-1A1F7EFC836E}" type="pres">
      <dgm:prSet presAssocID="{627790A7-E5AF-4DEF-9847-DE068ABD657B}" presName="connectorText" presStyleLbl="sibTrans1D1" presStyleIdx="3" presStyleCnt="4"/>
      <dgm:spPr/>
    </dgm:pt>
    <dgm:pt modelId="{F80816D7-392E-4741-B9A3-C73586F7EC67}" type="pres">
      <dgm:prSet presAssocID="{3B57DE3A-D0CA-4A4A-A50B-01FBE031AA69}" presName="node" presStyleLbl="node1" presStyleIdx="4" presStyleCnt="5">
        <dgm:presLayoutVars>
          <dgm:bulletEnabled val="1"/>
        </dgm:presLayoutVars>
      </dgm:prSet>
      <dgm:spPr/>
    </dgm:pt>
  </dgm:ptLst>
  <dgm:cxnLst>
    <dgm:cxn modelId="{4EAFFE04-8280-4FF5-B3F2-5C71707C72AB}" srcId="{4BE40EF7-4FDB-46DC-AD5C-7AA9927BCDC4}" destId="{4DBF9FC0-7F11-49D1-A13A-F9EF16035E78}" srcOrd="3" destOrd="0" parTransId="{716438C4-1259-4C94-B7A8-3756D5685E48}" sibTransId="{627790A7-E5AF-4DEF-9847-DE068ABD657B}"/>
    <dgm:cxn modelId="{A7678C1D-C0F2-473E-87E1-8C914A153226}" type="presOf" srcId="{B3A60D08-4CF1-4AD3-A554-8DA1472F6362}" destId="{EBB69596-36AB-40F1-91C5-FC3350A00067}" srcOrd="0" destOrd="0" presId="urn:microsoft.com/office/officeart/2005/8/layout/bProcess3#3"/>
    <dgm:cxn modelId="{588D492A-FCBD-4057-BB20-9A56B36B77C1}" type="presOf" srcId="{C20DFEDB-A5DA-48B1-860C-C64E9FB9889D}" destId="{EF27A438-6BA1-43B2-9139-DBAF3CBBEF89}" srcOrd="1" destOrd="0" presId="urn:microsoft.com/office/officeart/2005/8/layout/bProcess3#3"/>
    <dgm:cxn modelId="{52A33365-0AF9-439F-86F1-90E17D5B1FE9}" type="presOf" srcId="{627790A7-E5AF-4DEF-9847-DE068ABD657B}" destId="{EB69ECB2-9BFD-4754-8113-1A1F7EFC836E}" srcOrd="1" destOrd="0" presId="urn:microsoft.com/office/officeart/2005/8/layout/bProcess3#3"/>
    <dgm:cxn modelId="{E9DC766B-0298-4E59-A947-6047F2161A34}" type="presOf" srcId="{6E764295-1C97-4A8A-BB23-8F6587B65D20}" destId="{9F73252C-5345-45F1-A6FA-69E44781CCB0}" srcOrd="0" destOrd="0" presId="urn:microsoft.com/office/officeart/2005/8/layout/bProcess3#3"/>
    <dgm:cxn modelId="{B55FB74B-DDC3-4018-8760-87E2506D67C4}" type="presOf" srcId="{4BE40EF7-4FDB-46DC-AD5C-7AA9927BCDC4}" destId="{1623B4C5-2499-4637-B07C-6AE8AE2BD718}" srcOrd="0" destOrd="0" presId="urn:microsoft.com/office/officeart/2005/8/layout/bProcess3#3"/>
    <dgm:cxn modelId="{E5360A4E-BE3B-429C-AC69-8BB754F1BE0C}" srcId="{4BE40EF7-4FDB-46DC-AD5C-7AA9927BCDC4}" destId="{3B57DE3A-D0CA-4A4A-A50B-01FBE031AA69}" srcOrd="4" destOrd="0" parTransId="{98FA3677-4FAE-4C5E-B3CE-CF3B6D80F4A1}" sibTransId="{D4875198-FB6C-46A1-9EC3-6A21426D178B}"/>
    <dgm:cxn modelId="{CD062B6F-901E-4FF0-83C4-8866612F3793}" type="presOf" srcId="{6E764295-1C97-4A8A-BB23-8F6587B65D20}" destId="{0A91809B-8299-4CB8-B3C9-28D901126CE1}" srcOrd="1" destOrd="0" presId="urn:microsoft.com/office/officeart/2005/8/layout/bProcess3#3"/>
    <dgm:cxn modelId="{CAD00B53-72D3-43F7-9894-260EBC1B440C}" type="presOf" srcId="{047E9EF6-99D9-47D4-8421-7851F36A512F}" destId="{0482690C-586E-41D6-8B40-4CA7581A9CE9}" srcOrd="0" destOrd="0" presId="urn:microsoft.com/office/officeart/2005/8/layout/bProcess3#3"/>
    <dgm:cxn modelId="{D3B50E7A-2E8B-4D7D-8CD9-B26BC61BAC68}" type="presOf" srcId="{79A907BE-6A57-46F9-949B-2F83975E5013}" destId="{2FBE2C1E-1D94-400F-A227-985D4DA10085}" srcOrd="0" destOrd="0" presId="urn:microsoft.com/office/officeart/2005/8/layout/bProcess3#3"/>
    <dgm:cxn modelId="{34EB507E-E7C4-4D89-A3FA-FEFDBE2BDC8D}" type="presOf" srcId="{C20DFEDB-A5DA-48B1-860C-C64E9FB9889D}" destId="{31F3FE5F-74B2-48F8-89DC-AE29DBB498B0}" srcOrd="0" destOrd="0" presId="urn:microsoft.com/office/officeart/2005/8/layout/bProcess3#3"/>
    <dgm:cxn modelId="{2F4162C6-6500-457D-86C4-F729BADBC1FB}" type="presOf" srcId="{3B57DE3A-D0CA-4A4A-A50B-01FBE031AA69}" destId="{F80816D7-392E-4741-B9A3-C73586F7EC67}" srcOrd="0" destOrd="0" presId="urn:microsoft.com/office/officeart/2005/8/layout/bProcess3#3"/>
    <dgm:cxn modelId="{61C1EECA-CDD2-4ECA-A853-6521998C19BF}" type="presOf" srcId="{4DBF9FC0-7F11-49D1-A13A-F9EF16035E78}" destId="{13492D71-E670-42C9-A619-1DE9B5F887F1}" srcOrd="0" destOrd="0" presId="urn:microsoft.com/office/officeart/2005/8/layout/bProcess3#3"/>
    <dgm:cxn modelId="{9D0B21DF-8372-4B73-B372-CF07036B6530}" srcId="{4BE40EF7-4FDB-46DC-AD5C-7AA9927BCDC4}" destId="{79A907BE-6A57-46F9-949B-2F83975E5013}" srcOrd="0" destOrd="0" parTransId="{27508ADE-09B9-4692-B3B1-997C0A038367}" sibTransId="{6E764295-1C97-4A8A-BB23-8F6587B65D20}"/>
    <dgm:cxn modelId="{12DD0CE5-FF7E-4A64-BC4F-A1E13E1B8F22}" type="presOf" srcId="{9B99C3CE-0550-4254-B164-BB9424E18E56}" destId="{E5145E43-B450-47CE-B1E5-1482BCF4071D}" srcOrd="0" destOrd="0" presId="urn:microsoft.com/office/officeart/2005/8/layout/bProcess3#3"/>
    <dgm:cxn modelId="{971FACEA-1D56-4175-9EA7-CD29D0416B3E}" type="presOf" srcId="{B3A60D08-4CF1-4AD3-A554-8DA1472F6362}" destId="{9F0FF7A9-40E9-4C02-BFFF-6F0641C2389B}" srcOrd="1" destOrd="0" presId="urn:microsoft.com/office/officeart/2005/8/layout/bProcess3#3"/>
    <dgm:cxn modelId="{2A35ECEF-6B53-453A-B986-7FCE03B16D04}" srcId="{4BE40EF7-4FDB-46DC-AD5C-7AA9927BCDC4}" destId="{9B99C3CE-0550-4254-B164-BB9424E18E56}" srcOrd="2" destOrd="0" parTransId="{CF18C7ED-262E-47EB-A8BC-BC18A4B2756C}" sibTransId="{C20DFEDB-A5DA-48B1-860C-C64E9FB9889D}"/>
    <dgm:cxn modelId="{93C599F9-34A0-4C71-A1AE-BCB8AA290091}" type="presOf" srcId="{627790A7-E5AF-4DEF-9847-DE068ABD657B}" destId="{E85A6953-055C-454F-835D-7FF8096CA491}" srcOrd="0" destOrd="0" presId="urn:microsoft.com/office/officeart/2005/8/layout/bProcess3#3"/>
    <dgm:cxn modelId="{C65C03FC-C0C9-4C8F-BED7-F1C063EBC412}" srcId="{4BE40EF7-4FDB-46DC-AD5C-7AA9927BCDC4}" destId="{047E9EF6-99D9-47D4-8421-7851F36A512F}" srcOrd="1" destOrd="0" parTransId="{2AC7BC3F-1829-4928-9FDD-1BD085861192}" sibTransId="{B3A60D08-4CF1-4AD3-A554-8DA1472F6362}"/>
    <dgm:cxn modelId="{2CAD02EB-BAFD-4297-9F99-A5219ED7C38F}" type="presParOf" srcId="{1623B4C5-2499-4637-B07C-6AE8AE2BD718}" destId="{2FBE2C1E-1D94-400F-A227-985D4DA10085}" srcOrd="0" destOrd="0" presId="urn:microsoft.com/office/officeart/2005/8/layout/bProcess3#3"/>
    <dgm:cxn modelId="{22F4F0FE-C2ED-4C36-B1E0-40AE2710823F}" type="presParOf" srcId="{1623B4C5-2499-4637-B07C-6AE8AE2BD718}" destId="{9F73252C-5345-45F1-A6FA-69E44781CCB0}" srcOrd="1" destOrd="0" presId="urn:microsoft.com/office/officeart/2005/8/layout/bProcess3#3"/>
    <dgm:cxn modelId="{949172AD-D073-45E3-92FA-F1CD31DDC8F2}" type="presParOf" srcId="{9F73252C-5345-45F1-A6FA-69E44781CCB0}" destId="{0A91809B-8299-4CB8-B3C9-28D901126CE1}" srcOrd="0" destOrd="0" presId="urn:microsoft.com/office/officeart/2005/8/layout/bProcess3#3"/>
    <dgm:cxn modelId="{105D0B97-B7A4-4FDB-B9C2-2E72E482E529}" type="presParOf" srcId="{1623B4C5-2499-4637-B07C-6AE8AE2BD718}" destId="{0482690C-586E-41D6-8B40-4CA7581A9CE9}" srcOrd="2" destOrd="0" presId="urn:microsoft.com/office/officeart/2005/8/layout/bProcess3#3"/>
    <dgm:cxn modelId="{F1A94B6D-8003-4F49-9533-6336318B40FF}" type="presParOf" srcId="{1623B4C5-2499-4637-B07C-6AE8AE2BD718}" destId="{EBB69596-36AB-40F1-91C5-FC3350A00067}" srcOrd="3" destOrd="0" presId="urn:microsoft.com/office/officeart/2005/8/layout/bProcess3#3"/>
    <dgm:cxn modelId="{F6DBDCF9-CBB9-44E3-BF2D-329F329643E3}" type="presParOf" srcId="{EBB69596-36AB-40F1-91C5-FC3350A00067}" destId="{9F0FF7A9-40E9-4C02-BFFF-6F0641C2389B}" srcOrd="0" destOrd="0" presId="urn:microsoft.com/office/officeart/2005/8/layout/bProcess3#3"/>
    <dgm:cxn modelId="{5A02BA57-3BDD-42CB-A3F4-A96183441066}" type="presParOf" srcId="{1623B4C5-2499-4637-B07C-6AE8AE2BD718}" destId="{E5145E43-B450-47CE-B1E5-1482BCF4071D}" srcOrd="4" destOrd="0" presId="urn:microsoft.com/office/officeart/2005/8/layout/bProcess3#3"/>
    <dgm:cxn modelId="{D5521AEC-AA66-4340-96F5-09D49C5E46A0}" type="presParOf" srcId="{1623B4C5-2499-4637-B07C-6AE8AE2BD718}" destId="{31F3FE5F-74B2-48F8-89DC-AE29DBB498B0}" srcOrd="5" destOrd="0" presId="urn:microsoft.com/office/officeart/2005/8/layout/bProcess3#3"/>
    <dgm:cxn modelId="{AC26183B-1078-46C0-A96C-0E11EE226D1C}" type="presParOf" srcId="{31F3FE5F-74B2-48F8-89DC-AE29DBB498B0}" destId="{EF27A438-6BA1-43B2-9139-DBAF3CBBEF89}" srcOrd="0" destOrd="0" presId="urn:microsoft.com/office/officeart/2005/8/layout/bProcess3#3"/>
    <dgm:cxn modelId="{49F2F271-3AB9-46E1-875F-0FE26C7C7F91}" type="presParOf" srcId="{1623B4C5-2499-4637-B07C-6AE8AE2BD718}" destId="{13492D71-E670-42C9-A619-1DE9B5F887F1}" srcOrd="6" destOrd="0" presId="urn:microsoft.com/office/officeart/2005/8/layout/bProcess3#3"/>
    <dgm:cxn modelId="{552B8416-633E-42BC-8639-76D46573B6DB}" type="presParOf" srcId="{1623B4C5-2499-4637-B07C-6AE8AE2BD718}" destId="{E85A6953-055C-454F-835D-7FF8096CA491}" srcOrd="7" destOrd="0" presId="urn:microsoft.com/office/officeart/2005/8/layout/bProcess3#3"/>
    <dgm:cxn modelId="{A85A3773-D259-44EF-AAC9-03171B46A8B1}" type="presParOf" srcId="{E85A6953-055C-454F-835D-7FF8096CA491}" destId="{EB69ECB2-9BFD-4754-8113-1A1F7EFC836E}" srcOrd="0" destOrd="0" presId="urn:microsoft.com/office/officeart/2005/8/layout/bProcess3#3"/>
    <dgm:cxn modelId="{8B7BE47C-0FED-4001-9C63-1B56A65B782B}" type="presParOf" srcId="{1623B4C5-2499-4637-B07C-6AE8AE2BD718}" destId="{F80816D7-392E-4741-B9A3-C73586F7EC67}" srcOrd="8" destOrd="0" presId="urn:microsoft.com/office/officeart/2005/8/layout/bProcess3#3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11423650" cy="6386195"/>
        <a:chOff x="0" y="0"/>
        <a:chExt cx="11423650" cy="6386195"/>
      </a:xfrm>
    </dsp:grpSpPr>
    <dsp:sp modelId="{9F73252C-5345-45F1-A6FA-69E44781CCB0}">
      <dsp:nvSpPr>
        <dsp:cNvPr id="4" name="任意多边形 3"/>
        <dsp:cNvSpPr/>
      </dsp:nvSpPr>
      <dsp:spPr bwMode="white">
        <a:xfrm>
          <a:off x="3314978" y="1826694"/>
          <a:ext cx="758211" cy="0"/>
        </a:xfrm>
        <a:custGeom>
          <a:avLst/>
          <a:gdLst/>
          <a:ahLst/>
          <a:cxnLst/>
          <a:pathLst>
            <a:path w="1194">
              <a:moveTo>
                <a:pt x="0" y="0"/>
              </a:moveTo>
              <a:lnTo>
                <a:pt x="1194" y="0"/>
              </a:lnTo>
            </a:path>
          </a:pathLst>
        </a:custGeom>
        <a:ln>
          <a:tailEnd type="arrow" w="lg" len="med"/>
        </a:ln>
      </dsp:spPr>
      <dsp:style>
        <a:lnRef idx="1">
          <a:schemeClr val="accent1">
            <a:shade val="90000"/>
            <a:hueOff val="0"/>
            <a:satOff val="0"/>
            <a:lumOff val="0"/>
            <a:alpha val="100000"/>
          </a:schemeClr>
        </a:lnRef>
        <a:fillRef idx="0">
          <a:schemeClr val="accent1">
            <a:shade val="90000"/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3314978" y="1826694"/>
        <a:ext cx="758211" cy="0"/>
      </dsp:txXfrm>
    </dsp:sp>
    <dsp:sp modelId="{2FBE2C1E-1D94-400F-A227-985D4DA10085}">
      <dsp:nvSpPr>
        <dsp:cNvPr id="3" name="矩形 2"/>
        <dsp:cNvSpPr/>
      </dsp:nvSpPr>
      <dsp:spPr bwMode="white">
        <a:xfrm>
          <a:off x="18407" y="837723"/>
          <a:ext cx="3296571" cy="1977943"/>
        </a:xfrm>
        <a:prstGeom prst="rect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1">
            <a:alpha val="90000"/>
            <a:hueOff val="0"/>
            <a:satOff val="0"/>
            <a:lumOff val="0"/>
            <a:alpha val="90196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vert="horz" wrap="square" lIns="170688" tIns="170688" rIns="170688" bIns="170688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ctr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 </a:t>
          </a:r>
          <a:r>
            <a:rPr lang="en-US" altLang="zh-CN" sz="2400" b="1">
              <a:solidFill>
                <a:srgbClr val="FF0000"/>
              </a:solidFill>
            </a:rPr>
            <a:t>1. </a:t>
          </a:r>
          <a:r>
            <a:rPr lang="zh-CN" altLang="en-US" sz="2400" b="1">
              <a:solidFill>
                <a:srgbClr val="FF0000"/>
              </a:solidFill>
            </a:rPr>
            <a:t>使能外设时钟</a:t>
          </a:r>
          <a:r>
            <a:rPr lang="en-US" altLang="zh-CN" sz="2400" b="1"/>
            <a:t>   </a:t>
          </a:r>
          <a:endParaRPr lang="en-US" altLang="zh-CN" sz="2400" b="1"/>
        </a:p>
        <a:p>
          <a:pPr lvl="0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RCC_APB2PeriphClockCmd</a:t>
          </a:r>
          <a:r>
            <a:rPr lang="zh-CN" altLang="en-US" sz="2400" b="1"/>
            <a:t>（）</a:t>
          </a:r>
          <a:endParaRPr lang="en-US" altLang="zh-CN" sz="2400" b="1"/>
        </a:p>
        <a:p>
          <a:pPr lvl="0"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zh-CN" altLang="en-US" sz="2400" b="1"/>
            <a:t>使能</a:t>
          </a:r>
          <a:r>
            <a:rPr lang="en-US" altLang="zh-CN" sz="2400" b="1"/>
            <a:t>GPIO</a:t>
          </a:r>
          <a:r>
            <a:rPr lang="zh-CN" altLang="en-US" sz="2400" b="1"/>
            <a:t>时钟</a:t>
          </a:r>
          <a:r>
            <a:rPr lang="en-US" altLang="zh-CN" sz="2400" b="1"/>
            <a:t>         </a:t>
          </a:r>
          <a:endParaRPr lang="en-US" altLang="zh-CN" sz="2400" b="1"/>
        </a:p>
        <a:p>
          <a:pPr lvl="0"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zh-CN" altLang="en-US" sz="2400" b="1">
              <a:solidFill>
                <a:srgbClr val="FF0000"/>
              </a:solidFill>
            </a:rPr>
            <a:t>使能</a:t>
          </a:r>
          <a:r>
            <a:rPr lang="en-US" altLang="zh-CN" sz="2400" b="1">
              <a:solidFill>
                <a:srgbClr val="FF0000"/>
              </a:solidFill>
            </a:rPr>
            <a:t>AFIO</a:t>
          </a:r>
          <a:r>
            <a:rPr lang="zh-CN" altLang="en-US" sz="2400" b="1">
              <a:solidFill>
                <a:srgbClr val="FF0000"/>
              </a:solidFill>
            </a:rPr>
            <a:t>时钟</a:t>
          </a:r>
          <a:r>
            <a:rPr lang="en-US" altLang="zh-CN" sz="2400" b="1">
              <a:solidFill>
                <a:srgbClr val="FF0000"/>
              </a:solidFill>
            </a:rPr>
            <a:t>(</a:t>
          </a:r>
          <a:r>
            <a:rPr lang="zh-CN" altLang="en-US" sz="2400" b="1">
              <a:solidFill>
                <a:srgbClr val="FF0000"/>
              </a:solidFill>
            </a:rPr>
            <a:t>必需</a:t>
          </a:r>
          <a:r>
            <a:rPr lang="en-US" altLang="zh-CN" sz="2400" b="1">
              <a:solidFill>
                <a:srgbClr val="FF0000"/>
              </a:solidFill>
            </a:rPr>
            <a:t>)</a:t>
          </a:r>
          <a:r>
            <a:rPr lang="en-US" altLang="zh-CN" sz="2400" b="1"/>
            <a:t> </a:t>
          </a:r>
        </a:p>
      </dsp:txBody>
      <dsp:txXfrm>
        <a:off x="18407" y="837723"/>
        <a:ext cx="3296571" cy="1977943"/>
      </dsp:txXfrm>
    </dsp:sp>
    <dsp:sp modelId="{EBB69596-36AB-40F1-91C5-FC3350A00067}">
      <dsp:nvSpPr>
        <dsp:cNvPr id="6" name="任意多边形 5"/>
        <dsp:cNvSpPr/>
      </dsp:nvSpPr>
      <dsp:spPr bwMode="white">
        <a:xfrm>
          <a:off x="7369760" y="1826694"/>
          <a:ext cx="758211" cy="0"/>
        </a:xfrm>
        <a:custGeom>
          <a:avLst/>
          <a:gdLst/>
          <a:ahLst/>
          <a:cxnLst/>
          <a:pathLst>
            <a:path w="1194">
              <a:moveTo>
                <a:pt x="0" y="0"/>
              </a:moveTo>
              <a:lnTo>
                <a:pt x="1194" y="0"/>
              </a:lnTo>
            </a:path>
          </a:pathLst>
        </a:custGeom>
        <a:ln>
          <a:tailEnd type="arrow" w="lg" len="med"/>
        </a:ln>
      </dsp:spPr>
      <dsp:style>
        <a:lnRef idx="1">
          <a:schemeClr val="accent1">
            <a:shade val="90000"/>
            <a:hueOff val="139999"/>
            <a:satOff val="-3006"/>
            <a:lumOff val="11111"/>
            <a:alpha val="100000"/>
          </a:schemeClr>
        </a:lnRef>
        <a:fillRef idx="0">
          <a:schemeClr val="accent1">
            <a:shade val="90000"/>
            <a:hueOff val="139999"/>
            <a:satOff val="-3006"/>
            <a:lumOff val="11111"/>
            <a:alpha val="100000"/>
          </a:schemeClr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7369760" y="1826694"/>
        <a:ext cx="758211" cy="0"/>
      </dsp:txXfrm>
    </dsp:sp>
    <dsp:sp modelId="{0482690C-586E-41D6-8B40-4CA7581A9CE9}">
      <dsp:nvSpPr>
        <dsp:cNvPr id="5" name="矩形 4"/>
        <dsp:cNvSpPr/>
      </dsp:nvSpPr>
      <dsp:spPr bwMode="white">
        <a:xfrm>
          <a:off x="4073189" y="837723"/>
          <a:ext cx="3296571" cy="1977943"/>
        </a:xfrm>
        <a:prstGeom prst="rect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1">
            <a:alpha val="90000"/>
            <a:hueOff val="0"/>
            <a:satOff val="0"/>
            <a:lumOff val="0"/>
            <a:alpha val="80196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vert="horz" wrap="square" lIns="170688" tIns="170688" rIns="170688" bIns="170688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>
              <a:solidFill>
                <a:srgbClr val="FF0000"/>
              </a:solidFill>
            </a:rPr>
            <a:t>2. </a:t>
          </a:r>
          <a:r>
            <a:rPr lang="zh-CN" altLang="en-US" sz="2400" b="1">
              <a:solidFill>
                <a:srgbClr val="FF0000"/>
              </a:solidFill>
            </a:rPr>
            <a:t>配置</a:t>
          </a:r>
          <a:r>
            <a:rPr lang="en-US" altLang="zh-CN" sz="2400" b="1">
              <a:solidFill>
                <a:srgbClr val="FF0000"/>
              </a:solidFill>
            </a:rPr>
            <a:t>GPIO</a:t>
          </a:r>
          <a:r>
            <a:rPr lang="zh-CN" altLang="en-US" sz="2400" b="1">
              <a:solidFill>
                <a:srgbClr val="FF0000"/>
              </a:solidFill>
            </a:rPr>
            <a:t>引脚</a:t>
          </a:r>
          <a:r>
            <a:rPr lang="en-US" altLang="zh-CN" sz="2400" b="1"/>
            <a:t>     </a:t>
          </a:r>
          <a:endParaRPr lang="en-US" altLang="zh-CN" sz="2400" b="1"/>
        </a:p>
        <a:p>
          <a:pPr lvl="0"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   GPIO_Init()           </a:t>
          </a:r>
          <a:endParaRPr lang="en-US" altLang="en-US" sz="2400" b="1"/>
        </a:p>
        <a:p>
          <a:pPr lvl="0"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 - </a:t>
          </a:r>
          <a:r>
            <a:rPr lang="zh-CN" altLang="en-US" sz="2400" b="1"/>
            <a:t>设置为</a:t>
          </a:r>
          <a:r>
            <a:rPr lang="zh-CN" altLang="en-US" sz="2400" b="1">
              <a:solidFill>
                <a:srgbClr val="FF0000"/>
              </a:solidFill>
            </a:rPr>
            <a:t>输入</a:t>
          </a:r>
          <a:r>
            <a:rPr lang="zh-CN" altLang="en-US" sz="2400" b="1"/>
            <a:t>模式</a:t>
          </a:r>
          <a:r>
            <a:rPr lang="en-US" altLang="zh-CN" sz="2400" b="1"/>
            <a:t>        </a:t>
          </a:r>
          <a:endParaRPr lang="en-US" altLang="en-US" sz="2400" b="1"/>
        </a:p>
        <a:p>
          <a:pPr lvl="0"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 - </a:t>
          </a:r>
          <a:r>
            <a:rPr lang="zh-CN" altLang="en-US" sz="2400" b="1"/>
            <a:t>选择上</a:t>
          </a:r>
          <a:r>
            <a:rPr lang="en-US" altLang="zh-CN" sz="2400" b="1"/>
            <a:t>/</a:t>
          </a:r>
          <a:r>
            <a:rPr lang="zh-CN" altLang="en-US" sz="2400" b="1"/>
            <a:t>下拉</a:t>
          </a:r>
          <a:r>
            <a:rPr lang="en-US" altLang="zh-CN" sz="2400" b="1"/>
            <a:t>/</a:t>
          </a:r>
          <a:r>
            <a:rPr lang="zh-CN" altLang="en-US" sz="2400" b="1"/>
            <a:t>浮空</a:t>
          </a:r>
        </a:p>
      </dsp:txBody>
      <dsp:txXfrm>
        <a:off x="4073189" y="837723"/>
        <a:ext cx="3296571" cy="1977943"/>
      </dsp:txXfrm>
    </dsp:sp>
    <dsp:sp modelId="{31F3FE5F-74B2-48F8-89DC-AE29DBB498B0}">
      <dsp:nvSpPr>
        <dsp:cNvPr id="8" name="任意多边形 7"/>
        <dsp:cNvSpPr/>
      </dsp:nvSpPr>
      <dsp:spPr bwMode="white">
        <a:xfrm>
          <a:off x="1666693" y="2815665"/>
          <a:ext cx="8109564" cy="754865"/>
        </a:xfrm>
        <a:custGeom>
          <a:avLst/>
          <a:gdLst/>
          <a:ahLst/>
          <a:cxnLst/>
          <a:pathLst>
            <a:path w="12771" h="1189">
              <a:moveTo>
                <a:pt x="12771" y="0"/>
              </a:moveTo>
              <a:lnTo>
                <a:pt x="12771" y="594"/>
              </a:lnTo>
              <a:lnTo>
                <a:pt x="0" y="594"/>
              </a:lnTo>
              <a:lnTo>
                <a:pt x="0" y="1189"/>
              </a:lnTo>
            </a:path>
          </a:pathLst>
        </a:custGeom>
        <a:ln>
          <a:tailEnd type="arrow" w="lg" len="med"/>
        </a:ln>
      </dsp:spPr>
      <dsp:style>
        <a:lnRef idx="1">
          <a:schemeClr val="accent1">
            <a:shade val="90000"/>
            <a:hueOff val="279999"/>
            <a:satOff val="-6012"/>
            <a:lumOff val="22222"/>
            <a:alpha val="100000"/>
          </a:schemeClr>
        </a:lnRef>
        <a:fillRef idx="0">
          <a:schemeClr val="accent1">
            <a:shade val="90000"/>
            <a:hueOff val="279999"/>
            <a:satOff val="-6012"/>
            <a:lumOff val="22222"/>
            <a:alpha val="100000"/>
          </a:schemeClr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4900"/>
          </a:lvl1pPr>
          <a:lvl2pPr marL="285750" indent="-285750" algn="ctr">
            <a:defRPr sz="3800"/>
          </a:lvl2pPr>
          <a:lvl3pPr marL="571500" indent="-285750" algn="ctr">
            <a:defRPr sz="3800"/>
          </a:lvl3pPr>
          <a:lvl4pPr marL="857250" indent="-285750" algn="ctr">
            <a:defRPr sz="3800"/>
          </a:lvl4pPr>
          <a:lvl5pPr marL="1143000" indent="-285750" algn="ctr">
            <a:defRPr sz="3800"/>
          </a:lvl5pPr>
          <a:lvl6pPr marL="1428750" indent="-285750" algn="ctr">
            <a:defRPr sz="3800"/>
          </a:lvl6pPr>
          <a:lvl7pPr marL="1714500" indent="-285750" algn="ctr">
            <a:defRPr sz="3800"/>
          </a:lvl7pPr>
          <a:lvl8pPr marL="2000250" indent="-285750" algn="ctr">
            <a:defRPr sz="3800"/>
          </a:lvl8pPr>
          <a:lvl9pPr marL="2286000" indent="-285750" algn="ctr">
            <a:defRPr sz="3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1666693" y="2815665"/>
        <a:ext cx="8109564" cy="754865"/>
      </dsp:txXfrm>
    </dsp:sp>
    <dsp:sp modelId="{E5145E43-B450-47CE-B1E5-1482BCF4071D}">
      <dsp:nvSpPr>
        <dsp:cNvPr id="7" name="矩形 6"/>
        <dsp:cNvSpPr/>
      </dsp:nvSpPr>
      <dsp:spPr bwMode="white">
        <a:xfrm>
          <a:off x="8127972" y="837723"/>
          <a:ext cx="3296571" cy="1977943"/>
        </a:xfrm>
        <a:prstGeom prst="rect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1">
            <a:alpha val="90000"/>
            <a:hueOff val="0"/>
            <a:satOff val="0"/>
            <a:lumOff val="0"/>
            <a:alpha val="70196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vert="horz" wrap="square" lIns="170688" tIns="170688" rIns="170688" bIns="170688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>
              <a:solidFill>
                <a:srgbClr val="FF0000"/>
              </a:solidFill>
            </a:rPr>
            <a:t>3. GPIO</a:t>
          </a:r>
          <a:r>
            <a:rPr lang="zh-CN" altLang="en-US" sz="2400" b="1">
              <a:solidFill>
                <a:srgbClr val="FF0000"/>
              </a:solidFill>
            </a:rPr>
            <a:t>映射到</a:t>
          </a:r>
          <a:r>
            <a:rPr lang="en-US" altLang="zh-CN" sz="2400" b="1">
              <a:solidFill>
                <a:srgbClr val="FF0000"/>
              </a:solidFill>
            </a:rPr>
            <a:t>EXTI</a:t>
          </a:r>
          <a:r>
            <a:rPr lang="zh-CN" altLang="en-US" sz="2400" b="1">
              <a:solidFill>
                <a:srgbClr val="FF0000"/>
              </a:solidFill>
            </a:rPr>
            <a:t>线</a:t>
          </a:r>
          <a:r>
            <a:rPr lang="en-US" altLang="zh-CN" sz="2400" b="1"/>
            <a:t>        </a:t>
          </a:r>
          <a:endParaRPr lang="en-US" altLang="zh-CN" sz="2400" b="1"/>
        </a:p>
        <a:p>
          <a:pPr lvl="0"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GPIO_EXTILineConfig </a:t>
          </a:r>
          <a:endParaRPr lang="en-US" altLang="zh-CN" sz="2400" b="1"/>
        </a:p>
        <a:p>
          <a:pPr lvl="0"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- </a:t>
          </a:r>
          <a:r>
            <a:rPr lang="zh-CN" altLang="en-US" sz="2400" b="1"/>
            <a:t>指定端口源和引脚源</a:t>
          </a:r>
          <a:r>
            <a:rPr lang="en-US" altLang="zh-CN" sz="2400" b="1"/>
            <a:t>      </a:t>
          </a:r>
          <a:endParaRPr lang="en-US" altLang="zh-CN" sz="2400" b="1"/>
        </a:p>
        <a:p>
          <a:pPr lvl="0"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- </a:t>
          </a:r>
          <a:r>
            <a:rPr lang="zh-CN" altLang="en-US" sz="2400" b="1"/>
            <a:t>例</a:t>
          </a:r>
          <a:r>
            <a:rPr lang="en-US" altLang="zh-CN" sz="2400" b="1"/>
            <a:t>: PA0</a:t>
          </a:r>
          <a:r>
            <a:rPr lang="en-US" altLang="en-US" sz="2400" b="1"/>
            <a:t>→</a:t>
          </a:r>
          <a:r>
            <a:rPr lang="en-US" altLang="zh-CN" sz="2400" b="1"/>
            <a:t>EXTI0</a:t>
          </a:r>
        </a:p>
      </dsp:txBody>
      <dsp:txXfrm>
        <a:off x="8127972" y="837723"/>
        <a:ext cx="3296571" cy="1977943"/>
      </dsp:txXfrm>
    </dsp:sp>
    <dsp:sp modelId="{E85A6953-055C-454F-835D-7FF8096CA491}">
      <dsp:nvSpPr>
        <dsp:cNvPr id="10" name="任意多边形 9"/>
        <dsp:cNvSpPr/>
      </dsp:nvSpPr>
      <dsp:spPr bwMode="white">
        <a:xfrm>
          <a:off x="3314978" y="4559501"/>
          <a:ext cx="758211" cy="0"/>
        </a:xfrm>
        <a:custGeom>
          <a:avLst/>
          <a:gdLst/>
          <a:ahLst/>
          <a:cxnLst/>
          <a:pathLst>
            <a:path w="1194">
              <a:moveTo>
                <a:pt x="0" y="0"/>
              </a:moveTo>
              <a:lnTo>
                <a:pt x="1194" y="0"/>
              </a:lnTo>
            </a:path>
          </a:pathLst>
        </a:custGeom>
        <a:ln>
          <a:tailEnd type="arrow" w="lg" len="med"/>
        </a:ln>
      </dsp:spPr>
      <dsp:style>
        <a:lnRef idx="1">
          <a:schemeClr val="accent1">
            <a:shade val="90000"/>
            <a:hueOff val="420000"/>
            <a:satOff val="-9019"/>
            <a:lumOff val="33333"/>
            <a:alpha val="100000"/>
          </a:schemeClr>
        </a:lnRef>
        <a:fillRef idx="0">
          <a:schemeClr val="accent1">
            <a:shade val="90000"/>
            <a:hueOff val="420000"/>
            <a:satOff val="-9019"/>
            <a:lumOff val="33333"/>
            <a:alpha val="100000"/>
          </a:schemeClr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3314978" y="4559501"/>
        <a:ext cx="758211" cy="0"/>
      </dsp:txXfrm>
    </dsp:sp>
    <dsp:sp modelId="{13492D71-E670-42C9-A619-1DE9B5F887F1}">
      <dsp:nvSpPr>
        <dsp:cNvPr id="9" name="矩形 8"/>
        <dsp:cNvSpPr/>
      </dsp:nvSpPr>
      <dsp:spPr bwMode="white">
        <a:xfrm>
          <a:off x="18407" y="3570530"/>
          <a:ext cx="3296571" cy="1977943"/>
        </a:xfrm>
        <a:prstGeom prst="rect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1">
            <a:alpha val="90000"/>
            <a:hueOff val="0"/>
            <a:satOff val="0"/>
            <a:lumOff val="0"/>
            <a:alpha val="60196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vert="horz" wrap="square" lIns="170688" tIns="170688" rIns="170688" bIns="170688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>
              <a:solidFill>
                <a:srgbClr val="FF0000"/>
              </a:solidFill>
            </a:rPr>
            <a:t>4. </a:t>
          </a:r>
          <a:r>
            <a:rPr lang="zh-CN" altLang="en-US" sz="2400" b="1">
              <a:solidFill>
                <a:srgbClr val="FF0000"/>
              </a:solidFill>
            </a:rPr>
            <a:t>配置</a:t>
          </a:r>
          <a:r>
            <a:rPr lang="en-US" altLang="zh-CN" sz="2400" b="1">
              <a:solidFill>
                <a:srgbClr val="FF0000"/>
              </a:solidFill>
            </a:rPr>
            <a:t>EXTI</a:t>
          </a:r>
          <a:r>
            <a:rPr lang="zh-CN" altLang="en-US" sz="2400" b="1">
              <a:solidFill>
                <a:srgbClr val="FF0000"/>
              </a:solidFill>
            </a:rPr>
            <a:t>外部中断线</a:t>
          </a:r>
          <a:r>
            <a:rPr lang="en-US" altLang="zh-CN" sz="2400" b="1"/>
            <a:t>   EXTI_Init()           </a:t>
          </a:r>
          <a:endParaRPr lang="en-US" altLang="zh-CN" sz="2400" b="1"/>
        </a:p>
        <a:p>
          <a:pPr lvl="0"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- </a:t>
          </a:r>
          <a:r>
            <a:rPr lang="zh-CN" altLang="en-US" sz="2400" b="1"/>
            <a:t>选择</a:t>
          </a:r>
          <a:r>
            <a:rPr lang="en-US" altLang="zh-CN" sz="2400" b="1"/>
            <a:t>EXTI</a:t>
          </a:r>
          <a:r>
            <a:rPr lang="zh-CN" altLang="en-US" sz="2400" b="1"/>
            <a:t>线</a:t>
          </a:r>
          <a:r>
            <a:rPr lang="en-US" altLang="zh-CN" sz="2400" b="1"/>
            <a:t>(0-15)      </a:t>
          </a:r>
          <a:endParaRPr lang="en-US" altLang="zh-CN" sz="2400" b="1"/>
        </a:p>
        <a:p>
          <a:pPr lvl="0"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- </a:t>
          </a:r>
          <a:r>
            <a:rPr lang="zh-CN" altLang="en-US" sz="2400" b="1"/>
            <a:t>设置触发方式</a:t>
          </a:r>
          <a:r>
            <a:rPr lang="en-US" altLang="zh-CN" sz="2400" b="1"/>
            <a:t>      </a:t>
          </a:r>
          <a:endParaRPr lang="en-US" altLang="zh-CN" sz="2400" b="1"/>
        </a:p>
        <a:p>
          <a:pPr lvl="0"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- </a:t>
          </a:r>
          <a:r>
            <a:rPr lang="zh-CN" altLang="en-US" sz="2400" b="1"/>
            <a:t>使能</a:t>
          </a:r>
          <a:r>
            <a:rPr lang="en-US" altLang="zh-CN" sz="2400" b="1"/>
            <a:t>EXTI</a:t>
          </a:r>
          <a:r>
            <a:rPr lang="zh-CN" altLang="en-US" sz="2400" b="1"/>
            <a:t>线</a:t>
          </a:r>
        </a:p>
      </dsp:txBody>
      <dsp:txXfrm>
        <a:off x="18407" y="3570530"/>
        <a:ext cx="3296571" cy="1977943"/>
      </dsp:txXfrm>
    </dsp:sp>
    <dsp:sp modelId="{F80816D7-392E-4741-B9A3-C73586F7EC67}">
      <dsp:nvSpPr>
        <dsp:cNvPr id="11" name="矩形 10"/>
        <dsp:cNvSpPr/>
      </dsp:nvSpPr>
      <dsp:spPr bwMode="white">
        <a:xfrm>
          <a:off x="4073189" y="3570530"/>
          <a:ext cx="3296571" cy="1977943"/>
        </a:xfrm>
        <a:prstGeom prst="rect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1">
            <a:alpha val="90000"/>
            <a:hueOff val="0"/>
            <a:satOff val="0"/>
            <a:lumOff val="0"/>
            <a:alpha val="50196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vert="horz" wrap="square" lIns="170688" tIns="170688" rIns="170688" bIns="170688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>
              <a:solidFill>
                <a:srgbClr val="FF0000"/>
              </a:solidFill>
            </a:rPr>
            <a:t>5. </a:t>
          </a:r>
          <a:r>
            <a:rPr lang="zh-CN" altLang="en-US" sz="2400" b="1">
              <a:solidFill>
                <a:srgbClr val="FF0000"/>
              </a:solidFill>
            </a:rPr>
            <a:t>配置</a:t>
          </a:r>
          <a:r>
            <a:rPr lang="en-US" altLang="zh-CN" sz="2400" b="1">
              <a:solidFill>
                <a:srgbClr val="FF0000"/>
              </a:solidFill>
            </a:rPr>
            <a:t>NVIC</a:t>
          </a:r>
          <a:r>
            <a:rPr lang="zh-CN" altLang="en-US" sz="2400" b="1">
              <a:solidFill>
                <a:srgbClr val="FF0000"/>
              </a:solidFill>
            </a:rPr>
            <a:t>中断控制器</a:t>
          </a:r>
          <a:r>
            <a:rPr lang="en-US" altLang="zh-CN" sz="2400" b="1"/>
            <a:t>NVIC_Init()  </a:t>
          </a:r>
          <a:endParaRPr lang="en-US" altLang="zh-CN" sz="2400" b="1"/>
        </a:p>
        <a:p>
          <a:pPr lvl="0"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>
              <a:sym typeface="+mn-ea"/>
            </a:rPr>
            <a:t>-</a:t>
          </a:r>
          <a:r>
            <a:rPr lang="zh-CN" altLang="en-US" sz="2400" b="1">
              <a:sym typeface="+mn-ea"/>
            </a:rPr>
            <a:t>设置优先级分组</a:t>
          </a:r>
          <a:endParaRPr lang="en-US" altLang="zh-CN" sz="2400" b="1"/>
        </a:p>
        <a:p>
          <a:pPr lvl="0"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- </a:t>
          </a:r>
          <a:r>
            <a:rPr lang="zh-CN" altLang="en-US" sz="2400" b="1"/>
            <a:t>选择</a:t>
          </a:r>
          <a:r>
            <a:rPr lang="zh-CN" altLang="en-US" sz="2400" b="1">
              <a:solidFill>
                <a:srgbClr val="FF0000"/>
              </a:solidFill>
            </a:rPr>
            <a:t>中断通道</a:t>
          </a:r>
          <a:endParaRPr lang="zh-CN" altLang="en-US" sz="2400" b="1"/>
        </a:p>
        <a:p>
          <a:pPr lvl="0"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- </a:t>
          </a:r>
          <a:r>
            <a:rPr lang="zh-CN" altLang="en-US" sz="2400" b="1"/>
            <a:t>设置抢占优先级</a:t>
          </a:r>
          <a:r>
            <a:rPr lang="en-US" altLang="zh-CN" sz="2400" b="1"/>
            <a:t>  </a:t>
          </a:r>
          <a:endParaRPr lang="en-US" altLang="zh-CN" sz="2400" b="1"/>
        </a:p>
        <a:p>
          <a:pPr lvl="0"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- </a:t>
          </a:r>
          <a:r>
            <a:rPr lang="zh-CN" altLang="en-US" sz="2400" b="1"/>
            <a:t>设置响应优先级</a:t>
          </a:r>
          <a:r>
            <a:rPr lang="en-US" altLang="zh-CN" sz="2400" b="1"/>
            <a:t>   </a:t>
          </a:r>
          <a:endParaRPr lang="en-US" altLang="zh-CN" sz="2400" b="1"/>
        </a:p>
        <a:p>
          <a:pPr lvl="0"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 - </a:t>
          </a:r>
          <a:r>
            <a:rPr lang="zh-CN" altLang="en-US" sz="2400" b="1"/>
            <a:t>使能中断通道</a:t>
          </a:r>
          <a:endParaRPr sz="6500"/>
        </a:p>
      </dsp:txBody>
      <dsp:txXfrm>
        <a:off x="4073189" y="3570530"/>
        <a:ext cx="3296571" cy="19779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11423650" cy="6386195"/>
        <a:chOff x="0" y="0"/>
        <a:chExt cx="11423650" cy="6386195"/>
      </a:xfrm>
    </dsp:grpSpPr>
    <dsp:sp modelId="{9F73252C-5345-45F1-A6FA-69E44781CCB0}">
      <dsp:nvSpPr>
        <dsp:cNvPr id="4" name="任意多边形 3"/>
        <dsp:cNvSpPr/>
      </dsp:nvSpPr>
      <dsp:spPr bwMode="white">
        <a:xfrm>
          <a:off x="3314978" y="1826694"/>
          <a:ext cx="758211" cy="0"/>
        </a:xfrm>
        <a:custGeom>
          <a:avLst/>
          <a:gdLst/>
          <a:ahLst/>
          <a:cxnLst/>
          <a:pathLst>
            <a:path w="1194">
              <a:moveTo>
                <a:pt x="0" y="0"/>
              </a:moveTo>
              <a:lnTo>
                <a:pt x="1194" y="0"/>
              </a:lnTo>
            </a:path>
          </a:pathLst>
        </a:custGeom>
        <a:ln>
          <a:tailEnd type="arrow" w="lg" len="med"/>
        </a:ln>
      </dsp:spPr>
      <dsp:style>
        <a:lnRef idx="1">
          <a:schemeClr val="accent1">
            <a:shade val="90000"/>
            <a:hueOff val="0"/>
            <a:satOff val="0"/>
            <a:lumOff val="0"/>
            <a:alpha val="100000"/>
          </a:schemeClr>
        </a:lnRef>
        <a:fillRef idx="0">
          <a:schemeClr val="accent1">
            <a:shade val="90000"/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3314978" y="1826694"/>
        <a:ext cx="758211" cy="0"/>
      </dsp:txXfrm>
    </dsp:sp>
    <dsp:sp modelId="{2FBE2C1E-1D94-400F-A227-985D4DA10085}">
      <dsp:nvSpPr>
        <dsp:cNvPr id="3" name="矩形 2"/>
        <dsp:cNvSpPr/>
      </dsp:nvSpPr>
      <dsp:spPr bwMode="white">
        <a:xfrm>
          <a:off x="18407" y="837723"/>
          <a:ext cx="3296571" cy="1977943"/>
        </a:xfrm>
        <a:prstGeom prst="rect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1">
            <a:alpha val="90000"/>
            <a:hueOff val="0"/>
            <a:satOff val="0"/>
            <a:lumOff val="0"/>
            <a:alpha val="90196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vert="horz" wrap="square" lIns="170688" tIns="170688" rIns="170688" bIns="170688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ctr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 </a:t>
          </a:r>
          <a:r>
            <a:rPr lang="en-US" altLang="zh-CN" sz="2400" b="1">
              <a:solidFill>
                <a:srgbClr val="FF0000"/>
              </a:solidFill>
            </a:rPr>
            <a:t>1. </a:t>
          </a:r>
          <a:r>
            <a:rPr lang="zh-CN" altLang="en-US" sz="2400" b="1">
              <a:solidFill>
                <a:srgbClr val="FF0000"/>
              </a:solidFill>
            </a:rPr>
            <a:t>【硬件自动】外部信号变化</a:t>
          </a:r>
          <a:r>
            <a:rPr lang="en-US" altLang="zh-CN" sz="2400" b="1"/>
            <a:t>   </a:t>
          </a:r>
          <a:endParaRPr lang="en-US" altLang="zh-CN" sz="2400" b="1"/>
        </a:p>
        <a:p>
          <a:pPr lvl="0"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>
              <a:sym typeface="+mn-ea"/>
            </a:rPr>
            <a:t> -</a:t>
          </a:r>
          <a:r>
            <a:rPr lang="en-US" altLang="zh-CN" sz="2400" b="1"/>
            <a:t>GPIO</a:t>
          </a:r>
          <a:r>
            <a:rPr lang="zh-CN" altLang="en-US" sz="2400" b="1"/>
            <a:t>引脚检测到边沿信号</a:t>
          </a:r>
          <a:r>
            <a:rPr lang="en-US" altLang="zh-CN" sz="2400" b="1"/>
            <a:t>      </a:t>
          </a:r>
          <a:endParaRPr lang="en-US" altLang="zh-CN" sz="2400" b="1"/>
        </a:p>
        <a:p>
          <a:pPr lvl="0"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>
              <a:sym typeface="+mn-ea"/>
            </a:rPr>
            <a:t> -</a:t>
          </a:r>
          <a:r>
            <a:rPr lang="zh-CN" altLang="en-US" sz="2400" b="1"/>
            <a:t>上升沿</a:t>
          </a:r>
          <a:r>
            <a:rPr lang="en-US" altLang="zh-CN" sz="2400" b="1"/>
            <a:t>/</a:t>
          </a:r>
          <a:r>
            <a:rPr lang="zh-CN" altLang="en-US" sz="2400" b="1"/>
            <a:t>下降沿</a:t>
          </a:r>
          <a:r>
            <a:rPr lang="en-US" altLang="zh-CN" sz="2400" b="1"/>
            <a:t>/</a:t>
          </a:r>
          <a:r>
            <a:rPr lang="zh-CN" altLang="en-US" sz="2400" b="1"/>
            <a:t>双边沿</a:t>
          </a:r>
        </a:p>
      </dsp:txBody>
      <dsp:txXfrm>
        <a:off x="18407" y="837723"/>
        <a:ext cx="3296571" cy="1977943"/>
      </dsp:txXfrm>
    </dsp:sp>
    <dsp:sp modelId="{EBB69596-36AB-40F1-91C5-FC3350A00067}">
      <dsp:nvSpPr>
        <dsp:cNvPr id="6" name="任意多边形 5"/>
        <dsp:cNvSpPr/>
      </dsp:nvSpPr>
      <dsp:spPr bwMode="white">
        <a:xfrm>
          <a:off x="7369760" y="1826694"/>
          <a:ext cx="758211" cy="0"/>
        </a:xfrm>
        <a:custGeom>
          <a:avLst/>
          <a:gdLst/>
          <a:ahLst/>
          <a:cxnLst/>
          <a:pathLst>
            <a:path w="1194">
              <a:moveTo>
                <a:pt x="0" y="0"/>
              </a:moveTo>
              <a:lnTo>
                <a:pt x="1194" y="0"/>
              </a:lnTo>
            </a:path>
          </a:pathLst>
        </a:custGeom>
        <a:ln>
          <a:tailEnd type="arrow" w="lg" len="med"/>
        </a:ln>
      </dsp:spPr>
      <dsp:style>
        <a:lnRef idx="1">
          <a:schemeClr val="accent1">
            <a:shade val="90000"/>
            <a:hueOff val="139999"/>
            <a:satOff val="-3006"/>
            <a:lumOff val="11111"/>
            <a:alpha val="100000"/>
          </a:schemeClr>
        </a:lnRef>
        <a:fillRef idx="0">
          <a:schemeClr val="accent1">
            <a:shade val="90000"/>
            <a:hueOff val="139999"/>
            <a:satOff val="-3006"/>
            <a:lumOff val="11111"/>
            <a:alpha val="100000"/>
          </a:schemeClr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7369760" y="1826694"/>
        <a:ext cx="758211" cy="0"/>
      </dsp:txXfrm>
    </dsp:sp>
    <dsp:sp modelId="{0482690C-586E-41D6-8B40-4CA7581A9CE9}">
      <dsp:nvSpPr>
        <dsp:cNvPr id="5" name="矩形 4"/>
        <dsp:cNvSpPr/>
      </dsp:nvSpPr>
      <dsp:spPr bwMode="white">
        <a:xfrm>
          <a:off x="4073189" y="837723"/>
          <a:ext cx="3296571" cy="1977943"/>
        </a:xfrm>
        <a:prstGeom prst="rect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1">
            <a:alpha val="90000"/>
            <a:hueOff val="0"/>
            <a:satOff val="0"/>
            <a:lumOff val="0"/>
            <a:alpha val="80196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vert="horz" wrap="square" lIns="170688" tIns="170688" rIns="170688" bIns="170688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>
              <a:solidFill>
                <a:srgbClr val="FF0000"/>
              </a:solidFill>
            </a:rPr>
            <a:t>2. </a:t>
          </a:r>
          <a:r>
            <a:rPr lang="zh-CN" altLang="en-US" sz="2400" b="1">
              <a:solidFill>
                <a:srgbClr val="FF0000"/>
              </a:solidFill>
            </a:rPr>
            <a:t>【硬件自动】</a:t>
          </a:r>
          <a:r>
            <a:rPr lang="en-US" altLang="zh-CN" sz="2400" b="1">
              <a:solidFill>
                <a:srgbClr val="FF0000"/>
              </a:solidFill>
            </a:rPr>
            <a:t>EXTI</a:t>
          </a:r>
          <a:r>
            <a:rPr lang="zh-CN" altLang="en-US" sz="2400" b="1">
              <a:solidFill>
                <a:srgbClr val="FF0000"/>
              </a:solidFill>
            </a:rPr>
            <a:t>线检测</a:t>
          </a:r>
          <a:r>
            <a:rPr lang="en-US" altLang="zh-CN" sz="2400" b="1">
              <a:solidFill>
                <a:srgbClr val="FF0000"/>
              </a:solidFill>
            </a:rPr>
            <a:t> </a:t>
          </a:r>
          <a:r>
            <a:rPr lang="en-US" altLang="zh-CN" sz="2400" b="1"/>
            <a:t>              </a:t>
          </a:r>
          <a:endParaRPr lang="en-US" altLang="en-US" sz="2400" b="1"/>
        </a:p>
        <a:p>
          <a:pPr lvl="0"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 - </a:t>
          </a:r>
          <a:r>
            <a:rPr lang="zh-CN" altLang="en-US" sz="2400" b="1"/>
            <a:t>对应</a:t>
          </a:r>
          <a:r>
            <a:rPr lang="en-US" altLang="zh-CN" sz="2400" b="1"/>
            <a:t>EXTI</a:t>
          </a:r>
          <a:r>
            <a:rPr lang="zh-CN" altLang="en-US" sz="2400" b="1"/>
            <a:t>线的挂起位置</a:t>
          </a:r>
          <a:r>
            <a:rPr lang="en-US" altLang="zh-CN" sz="2400" b="1"/>
            <a:t>1        </a:t>
          </a:r>
          <a:endParaRPr lang="en-US" altLang="en-US" sz="2400" b="1"/>
        </a:p>
        <a:p>
          <a:pPr lvl="0"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 - EXTI_PR</a:t>
          </a:r>
          <a:r>
            <a:rPr lang="zh-CN" altLang="en-US" sz="2400" b="1"/>
            <a:t>寄存器相应位置</a:t>
          </a:r>
          <a:r>
            <a:rPr lang="en-US" altLang="zh-CN" sz="2400" b="1"/>
            <a:t>1</a:t>
          </a:r>
        </a:p>
      </dsp:txBody>
      <dsp:txXfrm>
        <a:off x="4073189" y="837723"/>
        <a:ext cx="3296571" cy="1977943"/>
      </dsp:txXfrm>
    </dsp:sp>
    <dsp:sp modelId="{31F3FE5F-74B2-48F8-89DC-AE29DBB498B0}">
      <dsp:nvSpPr>
        <dsp:cNvPr id="8" name="任意多边形 7"/>
        <dsp:cNvSpPr/>
      </dsp:nvSpPr>
      <dsp:spPr bwMode="white">
        <a:xfrm>
          <a:off x="1666693" y="2815665"/>
          <a:ext cx="8109564" cy="754865"/>
        </a:xfrm>
        <a:custGeom>
          <a:avLst/>
          <a:gdLst/>
          <a:ahLst/>
          <a:cxnLst/>
          <a:pathLst>
            <a:path w="12771" h="1189">
              <a:moveTo>
                <a:pt x="12771" y="0"/>
              </a:moveTo>
              <a:lnTo>
                <a:pt x="12771" y="594"/>
              </a:lnTo>
              <a:lnTo>
                <a:pt x="0" y="594"/>
              </a:lnTo>
              <a:lnTo>
                <a:pt x="0" y="1189"/>
              </a:lnTo>
            </a:path>
          </a:pathLst>
        </a:custGeom>
        <a:ln>
          <a:tailEnd type="arrow" w="lg" len="med"/>
        </a:ln>
      </dsp:spPr>
      <dsp:style>
        <a:lnRef idx="1">
          <a:schemeClr val="accent1">
            <a:shade val="90000"/>
            <a:hueOff val="279999"/>
            <a:satOff val="-6012"/>
            <a:lumOff val="22222"/>
            <a:alpha val="100000"/>
          </a:schemeClr>
        </a:lnRef>
        <a:fillRef idx="0">
          <a:schemeClr val="accent1">
            <a:shade val="90000"/>
            <a:hueOff val="279999"/>
            <a:satOff val="-6012"/>
            <a:lumOff val="22222"/>
            <a:alpha val="100000"/>
          </a:schemeClr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4900"/>
          </a:lvl1pPr>
          <a:lvl2pPr marL="285750" indent="-285750" algn="ctr">
            <a:defRPr sz="3800"/>
          </a:lvl2pPr>
          <a:lvl3pPr marL="571500" indent="-285750" algn="ctr">
            <a:defRPr sz="3800"/>
          </a:lvl3pPr>
          <a:lvl4pPr marL="857250" indent="-285750" algn="ctr">
            <a:defRPr sz="3800"/>
          </a:lvl4pPr>
          <a:lvl5pPr marL="1143000" indent="-285750" algn="ctr">
            <a:defRPr sz="3800"/>
          </a:lvl5pPr>
          <a:lvl6pPr marL="1428750" indent="-285750" algn="ctr">
            <a:defRPr sz="3800"/>
          </a:lvl6pPr>
          <a:lvl7pPr marL="1714500" indent="-285750" algn="ctr">
            <a:defRPr sz="3800"/>
          </a:lvl7pPr>
          <a:lvl8pPr marL="2000250" indent="-285750" algn="ctr">
            <a:defRPr sz="3800"/>
          </a:lvl8pPr>
          <a:lvl9pPr marL="2286000" indent="-285750" algn="ctr">
            <a:defRPr sz="3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1666693" y="2815665"/>
        <a:ext cx="8109564" cy="754865"/>
      </dsp:txXfrm>
    </dsp:sp>
    <dsp:sp modelId="{E5145E43-B450-47CE-B1E5-1482BCF4071D}">
      <dsp:nvSpPr>
        <dsp:cNvPr id="7" name="矩形 6"/>
        <dsp:cNvSpPr/>
      </dsp:nvSpPr>
      <dsp:spPr bwMode="white">
        <a:xfrm>
          <a:off x="8127972" y="837723"/>
          <a:ext cx="3296571" cy="1977943"/>
        </a:xfrm>
        <a:prstGeom prst="rect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1">
            <a:alpha val="90000"/>
            <a:hueOff val="0"/>
            <a:satOff val="0"/>
            <a:lumOff val="0"/>
            <a:alpha val="70196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vert="horz" wrap="square" lIns="170688" tIns="170688" rIns="170688" bIns="170688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>
              <a:solidFill>
                <a:srgbClr val="FF0000"/>
              </a:solidFill>
            </a:rPr>
            <a:t>3. </a:t>
          </a:r>
          <a:r>
            <a:rPr lang="zh-CN" altLang="en-US" sz="2400" b="1">
              <a:solidFill>
                <a:srgbClr val="FF0000"/>
              </a:solidFill>
            </a:rPr>
            <a:t>【硬件自动】</a:t>
          </a:r>
          <a:r>
            <a:rPr lang="en-US" altLang="zh-CN" sz="2400" b="1">
              <a:solidFill>
                <a:srgbClr val="FF0000"/>
              </a:solidFill>
            </a:rPr>
            <a:t>NVIC</a:t>
          </a:r>
          <a:r>
            <a:rPr lang="zh-CN" altLang="en-US" sz="2400" b="1">
              <a:solidFill>
                <a:srgbClr val="FF0000"/>
              </a:solidFill>
            </a:rPr>
            <a:t>仲裁判断</a:t>
          </a:r>
          <a:r>
            <a:rPr lang="en-US" altLang="zh-CN" sz="2400" b="1">
              <a:solidFill>
                <a:srgbClr val="FF0000"/>
              </a:solidFill>
            </a:rPr>
            <a:t>  </a:t>
          </a:r>
          <a:r>
            <a:rPr lang="en-US" altLang="zh-CN" sz="2400" b="1"/>
            <a:t>     </a:t>
          </a:r>
          <a:endParaRPr lang="en-US" altLang="zh-CN" sz="2400" b="1"/>
        </a:p>
        <a:p>
          <a:pPr lvl="0"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- </a:t>
          </a:r>
          <a:r>
            <a:rPr lang="zh-CN" altLang="en-US" sz="2400" b="1"/>
            <a:t>检查中断是否使能</a:t>
          </a:r>
          <a:endParaRPr lang="zh-CN" altLang="en-US" sz="2400" b="1"/>
        </a:p>
        <a:p>
          <a:pPr lvl="0"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- </a:t>
          </a:r>
          <a:r>
            <a:rPr lang="zh-CN" altLang="en-US" sz="2400" b="1"/>
            <a:t>比较当前优先级</a:t>
          </a:r>
          <a:r>
            <a:rPr lang="en-US" altLang="zh-CN" sz="2400" b="1"/>
            <a:t>   </a:t>
          </a:r>
          <a:endParaRPr lang="en-US" altLang="zh-CN" sz="2400" b="1"/>
        </a:p>
        <a:p>
          <a:pPr lvl="0"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/>
            <a:t>- </a:t>
          </a:r>
          <a:r>
            <a:rPr lang="zh-CN" altLang="en-US" sz="2400" b="1"/>
            <a:t>判断是否可以响应</a:t>
          </a:r>
        </a:p>
      </dsp:txBody>
      <dsp:txXfrm>
        <a:off x="8127972" y="837723"/>
        <a:ext cx="3296571" cy="1977943"/>
      </dsp:txXfrm>
    </dsp:sp>
    <dsp:sp modelId="{E85A6953-055C-454F-835D-7FF8096CA491}">
      <dsp:nvSpPr>
        <dsp:cNvPr id="10" name="任意多边形 9"/>
        <dsp:cNvSpPr/>
      </dsp:nvSpPr>
      <dsp:spPr bwMode="white">
        <a:xfrm>
          <a:off x="3314978" y="4559501"/>
          <a:ext cx="758211" cy="0"/>
        </a:xfrm>
        <a:custGeom>
          <a:avLst/>
          <a:gdLst/>
          <a:ahLst/>
          <a:cxnLst/>
          <a:pathLst>
            <a:path w="1194">
              <a:moveTo>
                <a:pt x="0" y="0"/>
              </a:moveTo>
              <a:lnTo>
                <a:pt x="1194" y="0"/>
              </a:lnTo>
            </a:path>
          </a:pathLst>
        </a:custGeom>
        <a:ln>
          <a:tailEnd type="arrow" w="lg" len="med"/>
        </a:ln>
      </dsp:spPr>
      <dsp:style>
        <a:lnRef idx="1">
          <a:schemeClr val="accent1">
            <a:shade val="90000"/>
            <a:hueOff val="420000"/>
            <a:satOff val="-9019"/>
            <a:lumOff val="33333"/>
            <a:alpha val="100000"/>
          </a:schemeClr>
        </a:lnRef>
        <a:fillRef idx="0">
          <a:schemeClr val="accent1">
            <a:shade val="90000"/>
            <a:hueOff val="420000"/>
            <a:satOff val="-9019"/>
            <a:lumOff val="33333"/>
            <a:alpha val="100000"/>
          </a:schemeClr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3314978" y="4559501"/>
        <a:ext cx="758211" cy="0"/>
      </dsp:txXfrm>
    </dsp:sp>
    <dsp:sp modelId="{13492D71-E670-42C9-A619-1DE9B5F887F1}">
      <dsp:nvSpPr>
        <dsp:cNvPr id="9" name="矩形 8"/>
        <dsp:cNvSpPr/>
      </dsp:nvSpPr>
      <dsp:spPr bwMode="white">
        <a:xfrm>
          <a:off x="18407" y="3570530"/>
          <a:ext cx="3296571" cy="1977943"/>
        </a:xfrm>
        <a:prstGeom prst="rect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1">
            <a:alpha val="90000"/>
            <a:hueOff val="0"/>
            <a:satOff val="0"/>
            <a:lumOff val="0"/>
            <a:alpha val="60196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vert="horz" wrap="square" lIns="170688" tIns="170688" rIns="170688" bIns="170688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>
              <a:solidFill>
                <a:srgbClr val="FF0000"/>
              </a:solidFill>
            </a:rPr>
            <a:t>4.</a:t>
          </a:r>
          <a:r>
            <a:rPr lang="zh-CN" altLang="en-US" sz="2400" b="1">
              <a:solidFill>
                <a:srgbClr val="FF0000"/>
              </a:solidFill>
            </a:rPr>
            <a:t>【硬件自动】保存现场</a:t>
          </a:r>
          <a:r>
            <a:rPr lang="en-US" altLang="zh-CN" sz="2400" b="1">
              <a:solidFill>
                <a:srgbClr val="FF0000"/>
              </a:solidFill>
            </a:rPr>
            <a:t>(</a:t>
          </a:r>
          <a:r>
            <a:rPr lang="zh-CN" altLang="en-US" sz="2400" b="1">
              <a:solidFill>
                <a:srgbClr val="FF0000"/>
              </a:solidFill>
            </a:rPr>
            <a:t>压栈</a:t>
          </a:r>
          <a:r>
            <a:rPr lang="en-US" altLang="zh-CN" sz="2400" b="1">
              <a:solidFill>
                <a:srgbClr val="FF0000"/>
              </a:solidFill>
            </a:rPr>
            <a:t>)        </a:t>
          </a:r>
          <a:r>
            <a:rPr lang="en-US" altLang="en-US" sz="2400" b="1">
              <a:solidFill>
                <a:srgbClr val="FF0000"/>
              </a:solidFill>
            </a:rPr>
            <a:t>│</a:t>
          </a:r>
          <a:endParaRPr lang="en-US" altLang="en-US" sz="2400" b="1">
            <a:solidFill>
              <a:srgbClr val="FF0000"/>
            </a:solidFill>
          </a:endParaRPr>
        </a:p>
        <a:p>
          <a:pPr lvl="0"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>
              <a:sym typeface="+mn-ea"/>
            </a:rPr>
            <a:t>-</a:t>
          </a:r>
          <a:r>
            <a:rPr lang="zh-CN" altLang="en-US" sz="2400" b="1">
              <a:solidFill>
                <a:schemeClr val="tx1"/>
              </a:solidFill>
            </a:rPr>
            <a:t>自动压入栈的寄存器</a:t>
          </a:r>
          <a:r>
            <a:rPr lang="en-US" altLang="zh-CN" sz="2400" b="1">
              <a:solidFill>
                <a:srgbClr val="FF0000"/>
              </a:solidFill>
            </a:rPr>
            <a:t> </a:t>
          </a:r>
          <a:endParaRPr lang="zh-CN" altLang="en-US" sz="2400" b="1"/>
        </a:p>
      </dsp:txBody>
      <dsp:txXfrm>
        <a:off x="18407" y="3570530"/>
        <a:ext cx="3296571" cy="1977943"/>
      </dsp:txXfrm>
    </dsp:sp>
    <dsp:sp modelId="{F80816D7-392E-4741-B9A3-C73586F7EC67}">
      <dsp:nvSpPr>
        <dsp:cNvPr id="11" name="矩形 10"/>
        <dsp:cNvSpPr/>
      </dsp:nvSpPr>
      <dsp:spPr bwMode="white">
        <a:xfrm>
          <a:off x="4073189" y="3570530"/>
          <a:ext cx="3296571" cy="1977943"/>
        </a:xfrm>
        <a:prstGeom prst="rect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1">
            <a:alpha val="90000"/>
            <a:hueOff val="0"/>
            <a:satOff val="0"/>
            <a:lumOff val="0"/>
            <a:alpha val="50196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vert="horz" wrap="square" lIns="170688" tIns="170688" rIns="170688" bIns="170688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l" eaLnBrk="1" fontAlgn="auto" latinLnBrk="0" hangingPunct="1">
            <a:lnSpc>
              <a:spcPts val="2500"/>
            </a:lnSpc>
            <a:spcBef>
              <a:spcPct val="0"/>
            </a:spcBef>
            <a:spcAft>
              <a:spcPts val="0"/>
            </a:spcAft>
          </a:pPr>
          <a:r>
            <a:rPr lang="en-US" altLang="zh-CN" sz="2400" b="1">
              <a:solidFill>
                <a:srgbClr val="FF0000"/>
              </a:solidFill>
            </a:rPr>
            <a:t>5. </a:t>
          </a:r>
          <a:r>
            <a:rPr lang="zh-CN" altLang="en-US" sz="2400" b="1">
              <a:solidFill>
                <a:srgbClr val="FF0000"/>
              </a:solidFill>
              <a:sym typeface="+mn-ea"/>
            </a:rPr>
            <a:t>【硬件自动】</a:t>
          </a:r>
          <a:r>
            <a:rPr lang="zh-CN" altLang="en-US" sz="2400" b="1" dirty="0">
              <a:sym typeface="+mn-ea"/>
            </a:rPr>
            <a:t>查</a:t>
          </a:r>
          <a:r>
            <a:rPr lang="zh-CN" altLang="en-US" sz="2400" b="1" dirty="0">
              <a:solidFill>
                <a:srgbClr val="3333FF"/>
              </a:solidFill>
              <a:sym typeface="+mn-ea"/>
            </a:rPr>
            <a:t>中断向量表</a:t>
          </a:r>
          <a:r>
            <a:rPr lang="zh-CN" altLang="en-US" sz="2400" b="1" dirty="0">
              <a:sym typeface="+mn-ea"/>
            </a:rPr>
            <a:t>获取</a:t>
          </a:r>
          <a:r>
            <a:rPr lang="en-US" altLang="zh-CN" sz="2400" b="1" dirty="0">
              <a:sym typeface="+mn-ea"/>
            </a:rPr>
            <a:t>ISR</a:t>
          </a:r>
          <a:r>
            <a:rPr lang="zh-CN" altLang="en-US" sz="2400" b="1" dirty="0">
              <a:sym typeface="+mn-ea"/>
            </a:rPr>
            <a:t>地址，跳转到中断服务函数</a:t>
          </a:r>
          <a:endParaRPr lang="en-US" altLang="zh-CN" sz="2400" b="1" dirty="0">
            <a:solidFill>
              <a:srgbClr val="FF0000"/>
            </a:solidFill>
            <a:sym typeface="+mn-ea"/>
          </a:endParaRPr>
        </a:p>
      </dsp:txBody>
      <dsp:txXfrm>
        <a:off x="4073189" y="3570530"/>
        <a:ext cx="3296571" cy="19779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#1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bkpt" val="endCnv"/>
          <dgm:param type="contDir" val="sameDir"/>
          <dgm:param type="grDir" val="tL"/>
          <dgm:param type="flowDir" val="row"/>
        </dgm:alg>
      </dgm:if>
      <dgm:else name="Name3">
        <dgm:alg type="snake">
          <dgm:param type="bkpt" val="endCnv"/>
          <dgm:param type="contDir" val="same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dim" val="1D"/>
                <dgm:param type="connRout" val="bend"/>
                <dgm:param type="begPts" val="midR bCtr"/>
                <dgm:param type="endPts" val="midL tCtr"/>
              </dgm:alg>
            </dgm:if>
            <dgm:else name="Name6">
              <dgm:alg type="conn">
                <dgm:param type="dim" val="1D"/>
                <dgm:param type="connRout" val="ben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3#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bkpt" val="endCnv"/>
          <dgm:param type="contDir" val="sameDir"/>
          <dgm:param type="grDir" val="tL"/>
          <dgm:param type="flowDir" val="row"/>
        </dgm:alg>
      </dgm:if>
      <dgm:else name="Name3">
        <dgm:alg type="snake">
          <dgm:param type="bkpt" val="endCnv"/>
          <dgm:param type="contDir" val="same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dim" val="1D"/>
                <dgm:param type="connRout" val="bend"/>
                <dgm:param type="begPts" val="midR bCtr"/>
                <dgm:param type="endPts" val="midL tCtr"/>
              </dgm:alg>
            </dgm:if>
            <dgm:else name="Name6">
              <dgm:alg type="conn">
                <dgm:param type="dim" val="1D"/>
                <dgm:param type="connRout" val="ben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#1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#3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断点放在</a:t>
            </a:r>
            <a:r>
              <a:rPr lang="zh-CN" altLang="en-US">
                <a:highlight>
                  <a:srgbClr val="FFFF00"/>
                </a:highlight>
              </a:rPr>
              <a:t>堆栈</a:t>
            </a:r>
            <a:r>
              <a:rPr lang="zh-CN" altLang="en-US"/>
              <a:t>中，</a:t>
            </a:r>
            <a:r>
              <a:rPr lang="en-US" altLang="zh-CN"/>
              <a:t>  </a:t>
            </a:r>
            <a:r>
              <a:rPr lang="zh-CN" altLang="en-US"/>
              <a:t>没有事先安排，比如除以</a:t>
            </a:r>
            <a:r>
              <a:rPr lang="en-US" altLang="zh-CN"/>
              <a:t>0</a:t>
            </a:r>
            <a:r>
              <a:rPr lang="zh-CN" altLang="en-US"/>
              <a:t>，内存冲突。</a:t>
            </a:r>
            <a:r>
              <a:rPr lang="en-US" altLang="zh-CN"/>
              <a:t> </a:t>
            </a:r>
            <a:endParaRPr lang="en-US" altLang="zh-CN"/>
          </a:p>
          <a:p>
            <a:r>
              <a:rPr lang="zh-CN" altLang="en-US"/>
              <a:t>外部叫中断，内部叫异常。</a:t>
            </a:r>
            <a:endParaRPr lang="zh-CN" altLang="en-US"/>
          </a:p>
          <a:p>
            <a:r>
              <a:rPr lang="zh-CN" altLang="en-US"/>
              <a:t>不仅保存断点地址，还要保存断点现场（之前的计算结果、状态等。。）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43+16=59</a:t>
            </a:r>
            <a:r>
              <a:rPr lang="zh-CN" altLang="en-US"/>
              <a:t>个中断源，</a:t>
            </a:r>
            <a:r>
              <a:rPr lang="en-US" altLang="zh-CN"/>
              <a:t>  </a:t>
            </a:r>
            <a:r>
              <a:rPr lang="zh-CN" altLang="en-US"/>
              <a:t>中断向量是硬件编号的，我们无法改变。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是否允许嵌套？如果不允许，优先级高也不执行。多个中断同时来的情况比较少。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一个中断</a:t>
            </a:r>
            <a:r>
              <a:rPr lang="en-US" altLang="zh-CN"/>
              <a:t>0.</a:t>
            </a:r>
            <a:r>
              <a:rPr lang="zh-CN" altLang="en-US"/>
              <a:t>几个纳秒。</a:t>
            </a:r>
            <a:r>
              <a:rPr lang="en-US" altLang="zh-CN"/>
              <a:t>   </a:t>
            </a:r>
            <a:r>
              <a:rPr lang="zh-CN" altLang="en-US"/>
              <a:t>矩阵键盘读入就是查询，实时性低，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异常是</a:t>
            </a:r>
            <a:r>
              <a:rPr lang="en-US" altLang="zh-CN"/>
              <a:t>ARM</a:t>
            </a:r>
            <a:r>
              <a:rPr lang="zh-CN" altLang="en-US"/>
              <a:t>核的，，，中断是</a:t>
            </a:r>
            <a:r>
              <a:rPr lang="en-US" altLang="zh-CN"/>
              <a:t>STM32</a:t>
            </a:r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分组决定了中断优先级的 </a:t>
            </a:r>
            <a:r>
              <a:rPr lang="en-US" altLang="zh-CN" dirty="0"/>
              <a:t>4 </a:t>
            </a:r>
            <a:r>
              <a:rPr lang="zh-CN" altLang="en-US" dirty="0"/>
              <a:t>位是如何分配给抢占优先级和响应优先级的。</a:t>
            </a:r>
            <a:endParaRPr lang="en-US" altLang="zh-CN" dirty="0"/>
          </a:p>
          <a:p>
            <a:r>
              <a:rPr lang="en-US" altLang="zh-CN" dirty="0"/>
              <a:t>TM32 </a:t>
            </a:r>
            <a:r>
              <a:rPr lang="zh-CN" altLang="en-US" dirty="0"/>
              <a:t>微控制器中，中断优先级分组是通过配置系统控制块（</a:t>
            </a:r>
            <a:r>
              <a:rPr lang="en-US" altLang="zh-CN" dirty="0"/>
              <a:t>System Control Block, SCB</a:t>
            </a:r>
            <a:r>
              <a:rPr lang="zh-CN" altLang="en-US" dirty="0"/>
              <a:t>） 中的 应用中断和复位控制寄存器（</a:t>
            </a:r>
            <a:r>
              <a:rPr lang="en-US" altLang="zh-CN" dirty="0"/>
              <a:t>Application Interrupt and Reset Control Register, AIRCR</a:t>
            </a:r>
            <a:r>
              <a:rPr lang="zh-CN" altLang="en-US" dirty="0"/>
              <a:t>） 来实现的。具体来说，是通过设置 </a:t>
            </a:r>
            <a:r>
              <a:rPr lang="en-US" altLang="zh-CN" dirty="0"/>
              <a:t>AIRCR </a:t>
            </a:r>
            <a:r>
              <a:rPr lang="zh-CN" altLang="en-US" dirty="0"/>
              <a:t>寄存器中的 </a:t>
            </a:r>
            <a:r>
              <a:rPr lang="en-US" altLang="zh-CN" dirty="0"/>
              <a:t>PRIGROUP </a:t>
            </a:r>
            <a:r>
              <a:rPr lang="zh-CN" altLang="en-US" dirty="0"/>
              <a:t>字段（位 </a:t>
            </a:r>
            <a:r>
              <a:rPr lang="en-US" altLang="zh-CN" dirty="0"/>
              <a:t>10:8</a:t>
            </a:r>
            <a:r>
              <a:rPr lang="zh-CN" altLang="en-US" dirty="0"/>
              <a:t>） 来选择优先级分组方式。这个字段决定了中断优先级的 </a:t>
            </a:r>
            <a:r>
              <a:rPr lang="en-US" altLang="zh-CN" dirty="0"/>
              <a:t>4 </a:t>
            </a:r>
            <a:r>
              <a:rPr lang="zh-CN" altLang="en-US" dirty="0"/>
              <a:t>位是如何分配给 “抢占优先级”（</a:t>
            </a:r>
            <a:r>
              <a:rPr lang="en-US" altLang="zh-CN" dirty="0"/>
              <a:t>Preemption Priority</a:t>
            </a:r>
            <a:r>
              <a:rPr lang="zh-CN" altLang="en-US" dirty="0"/>
              <a:t>）和 “子优先级”（</a:t>
            </a:r>
            <a:r>
              <a:rPr lang="en-US" altLang="zh-CN" dirty="0" err="1"/>
              <a:t>Subpriority</a:t>
            </a:r>
            <a:r>
              <a:rPr lang="zh-CN" altLang="en-US" dirty="0"/>
              <a:t>）的。例如：分组 </a:t>
            </a:r>
            <a:r>
              <a:rPr lang="en-US" altLang="zh-CN" dirty="0"/>
              <a:t>0</a:t>
            </a:r>
            <a:r>
              <a:rPr lang="zh-CN" altLang="en-US" dirty="0"/>
              <a:t>：</a:t>
            </a:r>
            <a:r>
              <a:rPr lang="en-US" altLang="zh-CN" dirty="0"/>
              <a:t>4 </a:t>
            </a:r>
            <a:r>
              <a:rPr lang="zh-CN" altLang="en-US" dirty="0"/>
              <a:t>位全用于抢占优先级，</a:t>
            </a:r>
            <a:r>
              <a:rPr lang="en-US" altLang="zh-CN" dirty="0"/>
              <a:t>0 </a:t>
            </a:r>
            <a:r>
              <a:rPr lang="zh-CN" altLang="en-US" dirty="0"/>
              <a:t>位用于子优先级。</a:t>
            </a:r>
            <a:endParaRPr lang="en-US" altLang="zh-CN" dirty="0"/>
          </a:p>
          <a:p>
            <a:r>
              <a:rPr lang="zh-CN" altLang="en-US" dirty="0"/>
              <a:t>分组 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3 </a:t>
            </a:r>
            <a:r>
              <a:rPr lang="zh-CN" altLang="en-US" dirty="0"/>
              <a:t>位用于抢占优先级，</a:t>
            </a:r>
            <a:r>
              <a:rPr lang="en-US" altLang="zh-CN" dirty="0"/>
              <a:t>1 </a:t>
            </a:r>
            <a:r>
              <a:rPr lang="zh-CN" altLang="en-US" dirty="0"/>
              <a:t>位用于子优先级。分组 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2 </a:t>
            </a:r>
            <a:r>
              <a:rPr lang="zh-CN" altLang="en-US" dirty="0"/>
              <a:t>位用于抢占优先级，</a:t>
            </a:r>
            <a:r>
              <a:rPr lang="en-US" altLang="zh-CN" dirty="0"/>
              <a:t>2 </a:t>
            </a:r>
            <a:r>
              <a:rPr lang="zh-CN" altLang="en-US" dirty="0"/>
              <a:t>位用于子优先级。</a:t>
            </a:r>
            <a:endParaRPr lang="en-US" altLang="zh-CN" dirty="0"/>
          </a:p>
          <a:p>
            <a:r>
              <a:rPr lang="zh-CN" altLang="en-US" dirty="0"/>
              <a:t>分组 </a:t>
            </a:r>
            <a:r>
              <a:rPr lang="en-US" altLang="zh-CN" dirty="0"/>
              <a:t>3</a:t>
            </a:r>
            <a:r>
              <a:rPr lang="zh-CN" altLang="en-US" dirty="0"/>
              <a:t>：</a:t>
            </a:r>
            <a:r>
              <a:rPr lang="en-US" altLang="zh-CN" dirty="0"/>
              <a:t>1 </a:t>
            </a:r>
            <a:r>
              <a:rPr lang="zh-CN" altLang="en-US" dirty="0"/>
              <a:t>位用于抢占优先级，</a:t>
            </a:r>
            <a:r>
              <a:rPr lang="en-US" altLang="zh-CN" dirty="0"/>
              <a:t>3 </a:t>
            </a:r>
            <a:r>
              <a:rPr lang="zh-CN" altLang="en-US" dirty="0"/>
              <a:t>位用于子优先级。</a:t>
            </a:r>
            <a:endParaRPr lang="en-US" altLang="zh-CN" dirty="0"/>
          </a:p>
          <a:p>
            <a:r>
              <a:rPr lang="zh-CN" altLang="en-US" dirty="0"/>
              <a:t>分组 </a:t>
            </a:r>
            <a:r>
              <a:rPr lang="en-US" altLang="zh-CN" dirty="0"/>
              <a:t>4</a:t>
            </a:r>
            <a:r>
              <a:rPr lang="zh-CN" altLang="en-US" dirty="0"/>
              <a:t>：</a:t>
            </a:r>
            <a:r>
              <a:rPr lang="en-US" altLang="zh-CN" dirty="0"/>
              <a:t>0 </a:t>
            </a:r>
            <a:r>
              <a:rPr lang="zh-CN" altLang="en-US" dirty="0"/>
              <a:t>位用于抢占优先级，</a:t>
            </a:r>
            <a:r>
              <a:rPr lang="en-US" altLang="zh-CN" dirty="0"/>
              <a:t>4 </a:t>
            </a:r>
            <a:r>
              <a:rPr lang="zh-CN" altLang="en-US" dirty="0"/>
              <a:t>位用于子优先级。</a:t>
            </a:r>
            <a:endParaRPr lang="en-US" altLang="zh-CN" dirty="0"/>
          </a:p>
          <a:p>
            <a:r>
              <a:rPr lang="zh-CN" altLang="en-US" dirty="0"/>
              <a:t>在 </a:t>
            </a:r>
            <a:r>
              <a:rPr lang="en-US" altLang="zh-CN" dirty="0"/>
              <a:t>STM32 </a:t>
            </a:r>
            <a:r>
              <a:rPr lang="zh-CN" altLang="en-US" dirty="0"/>
              <a:t>标准库中，通常使用 </a:t>
            </a:r>
            <a:r>
              <a:rPr lang="en-US" altLang="zh-CN" dirty="0" err="1"/>
              <a:t>NVIC_PriorityGroupConfig</a:t>
            </a:r>
            <a:r>
              <a:rPr lang="en-US" altLang="zh-CN" dirty="0"/>
              <a:t>() </a:t>
            </a:r>
            <a:r>
              <a:rPr lang="zh-CN" altLang="en-US" dirty="0"/>
              <a:t>函数来配置这个寄存器，而不是直接操作寄存器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priority</a:t>
            </a:r>
            <a:r>
              <a:rPr lang="zh-CN" altLang="en-US" dirty="0"/>
              <a:t>英</a:t>
            </a:r>
            <a:r>
              <a:rPr lang="en-US" altLang="zh-CN" dirty="0"/>
              <a:t>/</a:t>
            </a:r>
            <a:r>
              <a:rPr lang="en-US" altLang="zh-CN" dirty="0" err="1"/>
              <a:t>praɪˈɒrəti</a:t>
            </a:r>
            <a:r>
              <a:rPr lang="en-US" altLang="zh-CN" dirty="0"/>
              <a:t>/</a:t>
            </a:r>
            <a:r>
              <a:rPr lang="zh-CN" altLang="en-US" dirty="0"/>
              <a:t>美</a:t>
            </a:r>
            <a:r>
              <a:rPr lang="en-US" altLang="zh-CN" dirty="0"/>
              <a:t>/</a:t>
            </a:r>
            <a:r>
              <a:rPr lang="en-US" altLang="zh-CN" dirty="0" err="1"/>
              <a:t>praɪˈɔːrəti</a:t>
            </a:r>
            <a:r>
              <a:rPr lang="en-US" altLang="zh-CN" dirty="0"/>
              <a:t>/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为什么要分多条总线？类比：城市交通系统，原因一：速度匹配</a:t>
            </a:r>
            <a:endParaRPr lang="zh-CN" altLang="en-US"/>
          </a:p>
          <a:p>
            <a:r>
              <a:rPr lang="zh-CN" altLang="en-US"/>
              <a:t>假设所有车都必须走高速公路：🚗</a:t>
            </a:r>
            <a:r>
              <a:rPr lang="en-US" altLang="zh-CN"/>
              <a:t> </a:t>
            </a:r>
            <a:r>
              <a:rPr lang="zh-CN" altLang="en-US"/>
              <a:t>跑车（</a:t>
            </a:r>
            <a:r>
              <a:rPr lang="en-US" altLang="zh-CN"/>
              <a:t>CPU</a:t>
            </a:r>
            <a:r>
              <a:rPr lang="zh-CN" altLang="en-US"/>
              <a:t>访问内存）</a:t>
            </a:r>
            <a:r>
              <a:rPr lang="en-US" altLang="zh-CN"/>
              <a:t>       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需要</a:t>
            </a:r>
            <a:r>
              <a:rPr lang="en-US" altLang="zh-CN"/>
              <a:t> 72MHz</a:t>
            </a:r>
            <a:r>
              <a:rPr lang="zh-CN" altLang="en-US"/>
              <a:t>，没问题</a:t>
            </a:r>
            <a:endParaRPr lang="zh-CN" altLang="en-US"/>
          </a:p>
          <a:p>
            <a:r>
              <a:rPr lang="en-US" altLang="zh-CN"/>
              <a:t>                                                   </a:t>
            </a:r>
            <a:r>
              <a:rPr lang="zh-CN" altLang="en-US"/>
              <a:t>🚜</a:t>
            </a:r>
            <a:r>
              <a:rPr lang="en-US" altLang="zh-CN"/>
              <a:t> </a:t>
            </a:r>
            <a:r>
              <a:rPr lang="zh-CN" altLang="en-US"/>
              <a:t>拖拉机（</a:t>
            </a:r>
            <a:r>
              <a:rPr lang="en-US" altLang="zh-CN"/>
              <a:t>I2C</a:t>
            </a:r>
            <a:r>
              <a:rPr lang="zh-CN" altLang="en-US"/>
              <a:t>，最高</a:t>
            </a:r>
            <a:r>
              <a:rPr lang="en-US" altLang="zh-CN"/>
              <a:t>400KHz</a:t>
            </a:r>
            <a:r>
              <a:rPr lang="zh-CN" altLang="en-US"/>
              <a:t>）</a:t>
            </a:r>
            <a:r>
              <a:rPr lang="en-US" altLang="zh-CN"/>
              <a:t> 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只需要很低的速度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问题：拖拉机上高速公路，不仅自己用不上，还会拖慢整条路！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不是所有外设都需要最高速度：</a:t>
            </a:r>
            <a:r>
              <a:rPr lang="en-US" altLang="zh-CN"/>
              <a:t>GPIO</a:t>
            </a:r>
            <a:r>
              <a:rPr lang="zh-CN" altLang="en-US"/>
              <a:t>、</a:t>
            </a:r>
            <a:r>
              <a:rPr lang="en-US" altLang="zh-CN"/>
              <a:t>ADC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需要高速响应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放在</a:t>
            </a:r>
            <a:r>
              <a:rPr lang="en-US" altLang="zh-CN"/>
              <a:t> APB2</a:t>
            </a:r>
            <a:r>
              <a:rPr lang="zh-CN" altLang="en-US"/>
              <a:t>（</a:t>
            </a:r>
            <a:r>
              <a:rPr lang="en-US" altLang="zh-CN"/>
              <a:t>72MHz</a:t>
            </a:r>
            <a:r>
              <a:rPr lang="zh-CN" altLang="en-US"/>
              <a:t>）</a:t>
            </a:r>
            <a:endParaRPr lang="zh-CN" altLang="en-US"/>
          </a:p>
          <a:p>
            <a:r>
              <a:rPr lang="en-US" altLang="zh-CN"/>
              <a:t>I2C</a:t>
            </a:r>
            <a:r>
              <a:rPr lang="zh-CN" altLang="en-US"/>
              <a:t>、</a:t>
            </a:r>
            <a:r>
              <a:rPr lang="en-US" altLang="zh-CN"/>
              <a:t>UART2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通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asynchronous</a:t>
            </a:r>
            <a:r>
              <a:rPr lang="zh-CN" altLang="en-US"/>
              <a:t>英</a:t>
            </a:r>
            <a:r>
              <a:rPr lang="en-US" altLang="zh-CN"/>
              <a:t>/e</a:t>
            </a:r>
            <a:r>
              <a:rPr lang="en-US" altLang="en-US"/>
              <a:t>ɪˈ</a:t>
            </a:r>
            <a:r>
              <a:rPr lang="en-US" altLang="zh-CN"/>
              <a:t>s</a:t>
            </a:r>
            <a:r>
              <a:rPr lang="en-US" altLang="en-US"/>
              <a:t>ɪŋ</a:t>
            </a:r>
            <a:r>
              <a:rPr lang="en-US" altLang="zh-CN"/>
              <a:t>kr</a:t>
            </a:r>
            <a:r>
              <a:rPr lang="en-US" altLang="en-US"/>
              <a:t>ə</a:t>
            </a:r>
            <a:r>
              <a:rPr lang="en-US" altLang="zh-CN"/>
              <a:t>n</a:t>
            </a:r>
            <a:r>
              <a:rPr lang="en-US" altLang="en-US"/>
              <a:t>ə</a:t>
            </a:r>
            <a:r>
              <a:rPr lang="en-US" altLang="zh-CN"/>
              <a:t>s/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STM32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单片机的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GPIO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引脚复位后默认为浮空输入状态，电平状态不确定；而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LED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采用共阳极接法，低电平点亮。由于浮空输入电平受外部电路影响被拉低，因此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LED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自动点亮。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F6A-2F7B-4AF4-B1D5-342A2DF9FB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CDB17-D2CE-47A2-8BFC-6B02B0D689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F6A-2F7B-4AF4-B1D5-342A2DF9FB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CDB17-D2CE-47A2-8BFC-6B02B0D689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F6A-2F7B-4AF4-B1D5-342A2DF9FB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CDB17-D2CE-47A2-8BFC-6B02B0D689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F6A-2F7B-4AF4-B1D5-342A2DF9FB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CDB17-D2CE-47A2-8BFC-6B02B0D689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F6A-2F7B-4AF4-B1D5-342A2DF9FB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CDB17-D2CE-47A2-8BFC-6B02B0D689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F6A-2F7B-4AF4-B1D5-342A2DF9FB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CDB17-D2CE-47A2-8BFC-6B02B0D689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F6A-2F7B-4AF4-B1D5-342A2DF9FB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CDB17-D2CE-47A2-8BFC-6B02B0D689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F6A-2F7B-4AF4-B1D5-342A2DF9FB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CDB17-D2CE-47A2-8BFC-6B02B0D689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F6A-2F7B-4AF4-B1D5-342A2DF9FB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CDB17-D2CE-47A2-8BFC-6B02B0D689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F6A-2F7B-4AF4-B1D5-342A2DF9FB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CDB17-D2CE-47A2-8BFC-6B02B0D689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F6A-2F7B-4AF4-B1D5-342A2DF9FB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CDB17-D2CE-47A2-8BFC-6B02B0D689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4C2F6A-2F7B-4AF4-B1D5-342A2DF9FB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ECDB17-D2CE-47A2-8BFC-6B02B0D689F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962565"/>
            <a:ext cx="9144000" cy="1655762"/>
          </a:xfr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微机原理及应用</a:t>
            </a:r>
            <a:endParaRPr lang="zh-CN" altLang="en-US" dirty="0">
              <a:solidFill>
                <a:srgbClr val="7030A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219433" y="3429000"/>
            <a:ext cx="4405952" cy="1655762"/>
          </a:xfrm>
        </p:spPr>
        <p:txBody>
          <a:bodyPr anchor="ctr"/>
          <a:lstStyle/>
          <a:p>
            <a:r>
              <a:rPr lang="zh-CN" altLang="en-US" dirty="0">
                <a:solidFill>
                  <a:schemeClr val="tx1"/>
                </a:solidFill>
              </a:rPr>
              <a:t>郝美兰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3040" y="175260"/>
            <a:ext cx="5749290" cy="6507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05018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lnSpc>
                <a:spcPct val="100000"/>
              </a:lnSpc>
            </a:pPr>
            <a:r>
              <a:rPr lang="zh-CN" altLang="en-US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第四讲  单片机的中断系统</a:t>
            </a:r>
            <a:endParaRPr lang="zh-CN" altLang="en-US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内容占位符 2"/>
          <p:cNvSpPr txBox="1"/>
          <p:nvPr/>
        </p:nvSpPr>
        <p:spPr>
          <a:xfrm>
            <a:off x="1376039" y="1599461"/>
            <a:ext cx="9800947" cy="37360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u"/>
            </a:pPr>
            <a:r>
              <a:rPr lang="zh-CN" altLang="en-US" sz="3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中断的概念</a:t>
            </a:r>
            <a:endParaRPr lang="en-US" altLang="zh-CN" sz="3200" dirty="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sz="3200" dirty="0" err="1">
                <a:solidFill>
                  <a:schemeClr val="accent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STM32</a:t>
            </a:r>
            <a:r>
              <a:rPr lang="zh-CN" altLang="en-US" sz="3200" dirty="0">
                <a:solidFill>
                  <a:schemeClr val="accent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单片机的中断和异常</a:t>
            </a:r>
            <a:endParaRPr lang="en-US" altLang="zh-CN" sz="3200" dirty="0">
              <a:solidFill>
                <a:schemeClr val="accent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3200" dirty="0">
                <a:solidFill>
                  <a:schemeClr val="accent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外中断的管脚</a:t>
            </a:r>
            <a:endParaRPr lang="en-US" altLang="zh-CN" sz="3200" dirty="0">
              <a:solidFill>
                <a:schemeClr val="accent6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3200" dirty="0">
                <a:solidFill>
                  <a:schemeClr val="accent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外中断的方式</a:t>
            </a:r>
            <a:endParaRPr lang="en-US" altLang="zh-CN" sz="3200" dirty="0">
              <a:solidFill>
                <a:schemeClr val="accent6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3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外中断的优先级设定</a:t>
            </a:r>
            <a:endParaRPr lang="en-US" altLang="zh-CN" sz="3200" dirty="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3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外中断的中断服务函数写法</a:t>
            </a:r>
            <a:endParaRPr lang="en-US" altLang="zh-CN" sz="3200" dirty="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Font typeface="Wingdings" panose="05000000000000000000" pitchFamily="2" charset="2"/>
              <a:buChar char="u"/>
            </a:pPr>
            <a:endParaRPr lang="zh-CN" altLang="en-US" sz="3200" dirty="0">
              <a:solidFill>
                <a:srgbClr val="3333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35171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878889"/>
          </a:xfr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一、中断的概念</a:t>
            </a:r>
            <a:endParaRPr lang="zh-CN" alt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176" name="内容占位符 135175"/>
          <p:cNvSpPr>
            <a:spLocks noGrp="1" noChangeArrowheads="1"/>
          </p:cNvSpPr>
          <p:nvPr>
            <p:ph idx="1"/>
          </p:nvPr>
        </p:nvSpPr>
        <p:spPr>
          <a:xfrm>
            <a:off x="0" y="878889"/>
            <a:ext cx="12192000" cy="614334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程序正常情况下是沿着我们安排的顺序来执行的，顺序执行、分支、无条件转移、有条件转移、循环。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中断：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当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CPU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正在正常执行程序时，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CPU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外部或内部突然发生了一个事件，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请求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单片机去处理该事件。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此时，如果单片机认为可以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暂停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当前的工作，去处理该事件，称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中断响应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。当然单片机也可以不理采该事件。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保存断点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现场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。然后根据这一事件（中断源）的编号，转向相应的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中断服务程序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。中断服务程序执行完后，回到刚才暂停的地址，并恢复现场，继续刚才被中断的工作。以上的工作，都是由硬件完成的。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4197"/>
          </a:xfr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中断示意图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576FB32-CC44-486D-B152-3A9592268BF7}" type="datetime1">
              <a:rPr lang="zh-CN" altLang="en-US" smtClean="0"/>
            </a:fld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128" y="1159253"/>
            <a:ext cx="9017463" cy="5004057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12192000" cy="1044576"/>
          </a:xfr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中断的相关概念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 noChangeArrowheads="1"/>
          </p:cNvSpPr>
          <p:nvPr>
            <p:ph idx="1"/>
          </p:nvPr>
        </p:nvSpPr>
        <p:spPr>
          <a:xfrm>
            <a:off x="0" y="1029810"/>
            <a:ext cx="12192000" cy="582818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中断源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：引起中断的事件。比如定时器溢出、串行发送完成、接收到串行数据、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AD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转换完成、引脚的上升沿、下降沿、单片机温度升高、单片机电压异常、被除数为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、运算溢出、内存冲突等。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中断编号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：给所有的中断源编上号，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3……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中断向量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：存放中断程序的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首地址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。每一个中断的中断向量，都是固定不变的。。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中断处理程序、中断服务程序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：事先为某个特定的中断，编写的特定代码。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576FB32-CC44-486D-B152-3A9592268BF7}" type="datetime1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 noChangeArrowheads="1"/>
          </p:cNvSpPr>
          <p:nvPr>
            <p:ph idx="1"/>
          </p:nvPr>
        </p:nvSpPr>
        <p:spPr>
          <a:xfrm>
            <a:off x="0" y="0"/>
            <a:ext cx="12192000" cy="702223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中断嵌套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CPU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正在执行某中断服务程序时，又发生一个中断事件，如果单片机响应了，我们说发生了中断嵌套。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中断优先级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：同时来了多个中断，这些中断源，按中断优先级排队，依次响应。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中断优先级，是由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硬件规定好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的，有的单片机，也可以用软件修改中断优先级。</a:t>
            </a:r>
            <a:r>
              <a:rPr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STM32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单片机的中断优先级，是可以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软件编程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的。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高优先级的中断，可以去中断低优先级的中断，从而发生中断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嵌套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有的单片机不允许中断嵌套，有的只允许有限次嵌套。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576FB32-CC44-486D-B152-3A9592268BF7}" type="datetime1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 noChangeArrowheads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中断屏蔽或中断允许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：对应于各个中断源，可以用软件对其进行屏蔽（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禁止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）或允许。只有被允许的中断，才能按中断优先级进行排队，才有可能被响应。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中断机制的引入，极大的提高了单片机的执行效率，极大的提高了单片机的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实时性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相对于中断，还有一种软件实现方式，我们称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查询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。查询，其实时性，远远不够，事件响应的效率很低。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对中断的处理能力，是衡量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单片机性能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的重要指标。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是否理解中断，会否使用中断，是衡量我们这门课是否学会的重要指标之一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576FB32-CC44-486D-B152-3A9592268BF7}" type="datetime1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87766"/>
          </a:xfr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zh-CN" altLang="en-US" dirty="0"/>
              <a:t>二、</a:t>
            </a:r>
            <a:r>
              <a:rPr lang="en-US" altLang="zh-CN" dirty="0" err="1"/>
              <a:t>STM32</a:t>
            </a:r>
            <a:r>
              <a:rPr lang="zh-CN" altLang="en-US" dirty="0"/>
              <a:t>中断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887767"/>
            <a:ext cx="12192000" cy="597023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STM32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单片机把中断分成两类，一类叫异常，一类叫中断。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异常：</a:t>
            </a:r>
            <a:r>
              <a:rPr lang="zh-CN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如程序执行错误、内存错误、软件陷阱等发生在</a:t>
            </a:r>
            <a:r>
              <a:rPr lang="zh-CN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内核</a:t>
            </a:r>
            <a:r>
              <a:rPr lang="zh-CN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的中断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中断：</a:t>
            </a:r>
            <a:r>
              <a:rPr lang="zh-CN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比如引脚事件、通用定时器溢出、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AD</a:t>
            </a:r>
            <a:r>
              <a:rPr lang="zh-CN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转换完成、串口数据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发送完成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或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收到数据</a:t>
            </a:r>
            <a:r>
              <a:rPr lang="zh-CN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等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，发生在接口电路中</a:t>
            </a:r>
            <a:r>
              <a:rPr lang="zh-CN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异常共有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16</a:t>
            </a:r>
            <a:r>
              <a:rPr lang="zh-CN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个</a:t>
            </a:r>
            <a:r>
              <a:rPr lang="zh-CN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，是属于内核的，其优先级较高。</a:t>
            </a:r>
            <a:r>
              <a:rPr lang="zh-CN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上电复位、嘀嗒定时中断</a:t>
            </a:r>
            <a:r>
              <a:rPr lang="zh-CN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，都属于异常的范畴。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中断共有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43</a:t>
            </a:r>
            <a:r>
              <a:rPr lang="zh-CN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个，包括外部引脚中断、串口中断、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AD</a:t>
            </a:r>
            <a:r>
              <a:rPr lang="zh-CN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中断、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DMA</a:t>
            </a:r>
            <a:r>
              <a:rPr lang="zh-CN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中断等。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这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59</a:t>
            </a:r>
            <a:r>
              <a:rPr lang="zh-CN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个中断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异常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，都有具体的名子、具体的中断号，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zh-CN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唯一的中断向量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87766"/>
          </a:xfr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altLang="zh-CN" dirty="0" err="1"/>
              <a:t>STM32</a:t>
            </a:r>
            <a:r>
              <a:rPr lang="zh-CN" altLang="en-US" dirty="0"/>
              <a:t>中断优先级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887767"/>
            <a:ext cx="12192000" cy="5425947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altLang="zh-CN" sz="3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zh-CN" sz="3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、嵌套优先级</a:t>
            </a:r>
            <a:endParaRPr lang="zh-CN" altLang="zh-CN" sz="32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嵌套优先级，也叫</a:t>
            </a:r>
            <a:r>
              <a:rPr lang="zh-CN" altLang="zh-CN" sz="3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抢占优先级、主优先级</a:t>
            </a:r>
            <a:r>
              <a:rPr lang="zh-CN" altLang="zh-CN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。不同的优先级的中断可以实现嵌套中断。在一个程序中，嵌套优先级可以最多有</a:t>
            </a:r>
            <a:r>
              <a:rPr lang="en-US" altLang="zh-CN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16</a:t>
            </a:r>
            <a:r>
              <a:rPr lang="zh-CN" altLang="zh-CN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个，也可以有</a:t>
            </a:r>
            <a:r>
              <a:rPr lang="en-US" altLang="zh-CN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zh-CN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个、</a:t>
            </a:r>
            <a:r>
              <a:rPr lang="en-US" altLang="zh-CN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zh-CN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个、</a:t>
            </a:r>
            <a:r>
              <a:rPr lang="en-US" altLang="zh-CN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zh-CN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个、</a:t>
            </a:r>
            <a:r>
              <a:rPr lang="en-US" altLang="zh-CN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zh-CN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个。</a:t>
            </a:r>
            <a:endParaRPr lang="zh-CN" altLang="zh-CN" sz="3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lvl="0" indent="-342900" algn="just">
              <a:lnSpc>
                <a:spcPct val="100000"/>
              </a:lnSpc>
              <a:buFont typeface="+mj-lt"/>
              <a:buAutoNum type="arabicPeriod" startAt="2"/>
            </a:pPr>
            <a:r>
              <a:rPr lang="zh-CN" altLang="zh-CN" sz="3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响应优先级</a:t>
            </a:r>
            <a:endParaRPr lang="zh-CN" altLang="zh-CN" sz="32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zh-CN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响应优先级，也叫</a:t>
            </a:r>
            <a:r>
              <a:rPr lang="zh-CN" altLang="zh-CN" sz="3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亚优先级、副优先级</a:t>
            </a:r>
            <a:r>
              <a:rPr lang="zh-CN" altLang="zh-CN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。不同的优先级的中断不可以实现嵌套中断，而只能在两个中断同时到达时，决定哪个中断优先响应。一个程序中，响应优先级可以最多有</a:t>
            </a:r>
            <a:r>
              <a:rPr lang="en-US" altLang="zh-CN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16</a:t>
            </a:r>
            <a:r>
              <a:rPr lang="zh-CN" altLang="zh-CN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个，也可以有</a:t>
            </a:r>
            <a:r>
              <a:rPr lang="en-US" altLang="zh-CN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zh-CN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个、</a:t>
            </a:r>
            <a:r>
              <a:rPr lang="en-US" altLang="zh-CN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zh-CN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个、</a:t>
            </a:r>
            <a:r>
              <a:rPr lang="en-US" altLang="zh-CN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zh-CN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个、</a:t>
            </a:r>
            <a:r>
              <a:rPr lang="en-US" altLang="zh-CN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zh-CN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个。</a:t>
            </a:r>
            <a:endParaRPr lang="en-US" altLang="zh-CN" sz="3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00000"/>
              </a:lnSpc>
            </a:pPr>
            <a:endParaRPr lang="en-US" altLang="zh-CN" sz="3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00000"/>
              </a:lnSpc>
            </a:pPr>
            <a:endParaRPr lang="zh-CN" altLang="zh-CN" sz="3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00000"/>
              </a:lnSpc>
            </a:pPr>
            <a:endParaRPr lang="zh-CN" alt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87766"/>
          </a:xfr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altLang="zh-CN" dirty="0" err="1"/>
              <a:t>STM32</a:t>
            </a:r>
            <a:r>
              <a:rPr lang="zh-CN" altLang="en-US" dirty="0"/>
              <a:t>中断优先级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887767"/>
            <a:ext cx="12192000" cy="597023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94694" y="1336090"/>
          <a:ext cx="5915488" cy="46341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34313"/>
                <a:gridCol w="2286440"/>
                <a:gridCol w="2094735"/>
              </a:tblGrid>
              <a:tr h="1040853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r>
                        <a:rPr lang="zh-CN" sz="2800" kern="100" dirty="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优先级分组方案</a:t>
                      </a:r>
                      <a:endParaRPr lang="zh-CN" sz="2800" kern="100" dirty="0">
                        <a:solidFill>
                          <a:srgbClr val="C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r>
                        <a:rPr lang="zh-CN" sz="2800" kern="100" dirty="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嵌套优先级个数（合法取值）</a:t>
                      </a:r>
                      <a:endParaRPr lang="zh-CN" sz="2800" kern="100" dirty="0">
                        <a:solidFill>
                          <a:srgbClr val="C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r>
                        <a:rPr lang="zh-CN" sz="2800" kern="10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响应优先级个数（合法取值）</a:t>
                      </a:r>
                      <a:endParaRPr lang="zh-CN" sz="2800" kern="100">
                        <a:solidFill>
                          <a:srgbClr val="C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8658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r>
                        <a:rPr lang="en-US" sz="2800" kern="100" dirty="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</a:t>
                      </a:r>
                      <a:endParaRPr lang="en-US" sz="2800" kern="100" dirty="0">
                        <a:solidFill>
                          <a:srgbClr val="C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r>
                        <a:rPr lang="en-US" sz="2800" kern="100" dirty="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</a:t>
                      </a:r>
                      <a:endParaRPr lang="en-US" sz="2800" kern="100" dirty="0">
                        <a:solidFill>
                          <a:srgbClr val="C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r>
                        <a:rPr lang="en-US" sz="2800" kern="10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16</a:t>
                      </a:r>
                      <a:r>
                        <a:rPr lang="zh-CN" sz="2800" kern="10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（</a:t>
                      </a:r>
                      <a:r>
                        <a:rPr lang="en-US" sz="2800" kern="10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0~15</a:t>
                      </a:r>
                      <a:r>
                        <a:rPr lang="zh-CN" sz="2800" kern="10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）</a:t>
                      </a:r>
                      <a:endParaRPr lang="zh-CN" sz="2800" kern="100">
                        <a:solidFill>
                          <a:srgbClr val="C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8658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r>
                        <a:rPr lang="en-US" sz="2800" kern="100" dirty="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</a:t>
                      </a:r>
                      <a:endParaRPr lang="en-US" sz="2800" kern="100" dirty="0">
                        <a:solidFill>
                          <a:srgbClr val="C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r>
                        <a:rPr lang="en-US" sz="2800" kern="100" dirty="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2</a:t>
                      </a:r>
                      <a:r>
                        <a:rPr lang="zh-CN" sz="2800" kern="100" dirty="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（</a:t>
                      </a:r>
                      <a:r>
                        <a:rPr lang="en-US" sz="2800" kern="100" dirty="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0~1</a:t>
                      </a:r>
                      <a:r>
                        <a:rPr lang="zh-CN" sz="2800" kern="100" dirty="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）</a:t>
                      </a:r>
                      <a:endParaRPr lang="zh-CN" sz="2800" kern="100" dirty="0">
                        <a:solidFill>
                          <a:srgbClr val="C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r>
                        <a:rPr lang="en-US" sz="2800" kern="10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8</a:t>
                      </a:r>
                      <a:r>
                        <a:rPr lang="zh-CN" sz="2800" kern="10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（</a:t>
                      </a:r>
                      <a:r>
                        <a:rPr lang="en-US" sz="2800" kern="10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0~7</a:t>
                      </a:r>
                      <a:r>
                        <a:rPr lang="zh-CN" sz="2800" kern="10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）</a:t>
                      </a:r>
                      <a:endParaRPr lang="zh-CN" sz="2800" kern="100">
                        <a:solidFill>
                          <a:srgbClr val="C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8658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r>
                        <a:rPr lang="en-US" sz="2800" kern="100" dirty="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2</a:t>
                      </a:r>
                      <a:endParaRPr lang="en-US" sz="2800" kern="100" dirty="0">
                        <a:solidFill>
                          <a:srgbClr val="C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r>
                        <a:rPr lang="en-US" sz="2800" kern="100" dirty="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4</a:t>
                      </a:r>
                      <a:r>
                        <a:rPr lang="zh-CN" sz="2800" kern="100" dirty="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（</a:t>
                      </a:r>
                      <a:r>
                        <a:rPr lang="en-US" sz="2800" kern="100" dirty="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0~3</a:t>
                      </a:r>
                      <a:r>
                        <a:rPr lang="zh-CN" sz="2800" kern="100" dirty="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）</a:t>
                      </a:r>
                      <a:endParaRPr lang="zh-CN" sz="2800" kern="100" dirty="0">
                        <a:solidFill>
                          <a:srgbClr val="C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r>
                        <a:rPr lang="en-US" sz="2800" kern="10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4</a:t>
                      </a:r>
                      <a:r>
                        <a:rPr lang="zh-CN" sz="2800" kern="10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（</a:t>
                      </a:r>
                      <a:r>
                        <a:rPr lang="en-US" sz="2800" kern="10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0~3</a:t>
                      </a:r>
                      <a:r>
                        <a:rPr lang="zh-CN" sz="2800" kern="10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）</a:t>
                      </a:r>
                      <a:endParaRPr lang="zh-CN" sz="2800" kern="100">
                        <a:solidFill>
                          <a:srgbClr val="C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8658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r>
                        <a:rPr lang="en-US" sz="2800" kern="100" dirty="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3</a:t>
                      </a:r>
                      <a:endParaRPr lang="en-US" sz="2800" kern="100" dirty="0">
                        <a:solidFill>
                          <a:srgbClr val="C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r>
                        <a:rPr lang="en-US" sz="2800" kern="100" dirty="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8</a:t>
                      </a:r>
                      <a:r>
                        <a:rPr lang="zh-CN" sz="2800" kern="100" dirty="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（</a:t>
                      </a:r>
                      <a:r>
                        <a:rPr lang="en-US" sz="2800" kern="100" dirty="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0~7</a:t>
                      </a:r>
                      <a:r>
                        <a:rPr lang="zh-CN" sz="2800" kern="100" dirty="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）</a:t>
                      </a:r>
                      <a:endParaRPr lang="zh-CN" sz="2800" kern="100" dirty="0">
                        <a:solidFill>
                          <a:srgbClr val="C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r>
                        <a:rPr lang="en-US" sz="2800" kern="100" dirty="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2</a:t>
                      </a:r>
                      <a:r>
                        <a:rPr lang="zh-CN" sz="2800" kern="100" dirty="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（</a:t>
                      </a:r>
                      <a:r>
                        <a:rPr lang="en-US" sz="2800" kern="100" dirty="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0~1</a:t>
                      </a:r>
                      <a:r>
                        <a:rPr lang="zh-CN" sz="2800" kern="100" dirty="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）</a:t>
                      </a:r>
                      <a:endParaRPr lang="zh-CN" sz="2800" kern="100" dirty="0">
                        <a:solidFill>
                          <a:srgbClr val="C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8658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r>
                        <a:rPr lang="en-US" sz="2800" kern="10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4</a:t>
                      </a:r>
                      <a:endParaRPr lang="en-US" sz="2800" kern="100">
                        <a:solidFill>
                          <a:srgbClr val="C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r>
                        <a:rPr lang="en-US" sz="2800" kern="10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16</a:t>
                      </a:r>
                      <a:r>
                        <a:rPr lang="zh-CN" sz="2800" kern="10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（</a:t>
                      </a:r>
                      <a:r>
                        <a:rPr lang="en-US" sz="2800" kern="10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0~15</a:t>
                      </a:r>
                      <a:r>
                        <a:rPr lang="zh-CN" sz="2800" kern="10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）</a:t>
                      </a:r>
                      <a:endParaRPr lang="zh-CN" sz="2800" kern="100">
                        <a:solidFill>
                          <a:srgbClr val="C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r>
                        <a:rPr lang="en-US" sz="2800" kern="100" dirty="0">
                          <a:solidFill>
                            <a:srgbClr val="C0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</a:t>
                      </a:r>
                      <a:endParaRPr lang="en-US" sz="2800" kern="100" dirty="0">
                        <a:solidFill>
                          <a:srgbClr val="C0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010182" y="1050365"/>
            <a:ext cx="6181818" cy="447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04800" algn="just">
              <a:lnSpc>
                <a:spcPct val="150000"/>
              </a:lnSpc>
            </a:pPr>
            <a:r>
              <a:rPr lang="zh-CN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使用中断时，首先应指明使用哪</a:t>
            </a:r>
            <a:r>
              <a:rPr lang="zh-CN" altLang="zh-CN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一组</a:t>
            </a:r>
            <a:r>
              <a:rPr lang="zh-CN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优先级分级方案。</a:t>
            </a:r>
            <a:endParaRPr lang="en-US" altLang="zh-CN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indent="304800" algn="just">
              <a:lnSpc>
                <a:spcPct val="150000"/>
              </a:lnSpc>
            </a:pPr>
            <a:r>
              <a:rPr lang="en-US" altLang="zh-CN" sz="24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STM32</a:t>
            </a:r>
            <a:r>
              <a:rPr lang="zh-CN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单片机共有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43</a:t>
            </a:r>
            <a:r>
              <a:rPr lang="zh-CN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个中断，无论怎样设计，必定有许多中断的嵌套优先级或响应中断的优先级是相同的。</a:t>
            </a:r>
            <a:endParaRPr lang="en-US" altLang="zh-CN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当其优先级相同时，其实际的优先级，以其</a:t>
            </a:r>
            <a:r>
              <a:rPr lang="zh-CN" altLang="zh-CN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中断序号</a:t>
            </a:r>
            <a:r>
              <a:rPr lang="zh-CN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为其优先级别，序号小的，优先级高</a:t>
            </a:r>
            <a:r>
              <a:rPr lang="zh-CN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546" y="1370877"/>
            <a:ext cx="11442211" cy="349341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02" y="1009471"/>
            <a:ext cx="12020195" cy="281474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39371" y="4463534"/>
            <a:ext cx="971005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微软雅黑" panose="020B0503020204020204" charset="-122"/>
              </a:rPr>
              <a:t>嵌套向量中断控制器</a:t>
            </a:r>
            <a:endParaRPr lang="en-US" altLang="zh-CN" sz="2800" b="1" dirty="0">
              <a:solidFill>
                <a:srgbClr val="3333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微软雅黑" panose="020B0503020204020204" charset="-122"/>
            </a:endParaRPr>
          </a:p>
          <a:p>
            <a:endParaRPr lang="en-US" altLang="zh-CN" sz="2800" b="1" dirty="0">
              <a:solidFill>
                <a:srgbClr val="3333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微软雅黑" panose="020B0503020204020204" charset="-122"/>
            </a:endParaRPr>
          </a:p>
          <a:p>
            <a:r>
              <a:rPr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微软雅黑" panose="020B0503020204020204" charset="-122"/>
              </a:rPr>
              <a:t>NVIC:  Nested Vectored Interrupt Controller</a:t>
            </a:r>
            <a:endParaRPr lang="zh-CN" altLang="en-US" sz="2800" b="1" dirty="0">
              <a:solidFill>
                <a:srgbClr val="3333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30045" y="234171"/>
            <a:ext cx="16962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例 如：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126342" y="305912"/>
            <a:ext cx="9979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在 </a:t>
            </a:r>
            <a:r>
              <a:rPr lang="en-US" altLang="zh-CN" sz="2400" b="1" dirty="0"/>
              <a:t>STM32 </a:t>
            </a:r>
            <a:r>
              <a:rPr lang="zh-CN" altLang="en-US" sz="2400" b="1" dirty="0"/>
              <a:t>标准库中，通常使用 </a:t>
            </a:r>
            <a:r>
              <a:rPr lang="en-US" altLang="zh-CN" sz="2400" b="1" dirty="0" err="1"/>
              <a:t>NVIC_</a:t>
            </a:r>
            <a:r>
              <a:rPr lang="en-US" altLang="zh-CN" sz="2400" b="1" dirty="0" err="1">
                <a:solidFill>
                  <a:srgbClr val="FF0000"/>
                </a:solidFill>
              </a:rPr>
              <a:t>PriorityGroup</a:t>
            </a:r>
            <a:r>
              <a:rPr lang="en-US" altLang="zh-CN" sz="2400" b="1" dirty="0" err="1"/>
              <a:t>Config</a:t>
            </a:r>
            <a:r>
              <a:rPr lang="en-US" altLang="zh-CN" sz="2400" b="1" dirty="0"/>
              <a:t>() </a:t>
            </a:r>
            <a:r>
              <a:rPr lang="zh-CN" altLang="en-US" sz="2400" b="1" dirty="0"/>
              <a:t>函数来配置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9698" y="255089"/>
            <a:ext cx="11196320" cy="620268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优先级分组</a:t>
            </a:r>
            <a:r>
              <a:rPr lang="zh-CN" altLang="en-US" b="1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（</a:t>
            </a:r>
            <a:r>
              <a:rPr lang="en-US" altLang="zh-CN" b="1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Group 2</a:t>
            </a:r>
            <a:r>
              <a:rPr lang="zh-CN" altLang="en-US" b="1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）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：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cs typeface="黑体" panose="02010609060101010101" pitchFamily="49" charset="-122"/>
            </a:endParaRPr>
          </a:p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2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位抢占优先级：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00, 01, 10, 11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，共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 4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个级别。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黑体" panose="02010609060101010101" pitchFamily="49" charset="-122"/>
            </a:endParaRPr>
          </a:p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2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位子优先级：抢占优先级相同时，谁先被响应，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00, 01, 10, 11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，共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 4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个顺序，</a:t>
            </a:r>
            <a:endParaRPr lang="en-US" altLang="zh-CN" b="1" dirty="0">
              <a:highlight>
                <a:srgbClr val="FFFF00"/>
              </a:highlight>
              <a:latin typeface="宋体" panose="02010600030101010101" pitchFamily="2" charset="-122"/>
              <a:ea typeface="宋体" panose="02010600030101010101" pitchFamily="2" charset="-122"/>
              <a:cs typeface="黑体" panose="02010609060101010101" pitchFamily="49" charset="-122"/>
            </a:endParaRPr>
          </a:p>
          <a:p>
            <a:r>
              <a:rPr lang="zh-CN" altLang="en-US" b="1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抢占优先级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（</a:t>
            </a:r>
            <a:r>
              <a:rPr lang="zh-CN" altLang="en-US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决定是否能</a:t>
            </a:r>
            <a:r>
              <a:rPr lang="en-US" altLang="zh-CN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 “</a:t>
            </a:r>
            <a:r>
              <a:rPr lang="zh-CN" altLang="en-US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插队</a:t>
            </a:r>
            <a:r>
              <a:rPr lang="en-US" altLang="zh-CN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”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）：如果一个中断的抢占优先级高于当前正在执行的中断，它可以强行打断当前中断的执行，这就是所谓的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 “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中断嵌套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”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。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黑体" panose="02010609060101010101" pitchFamily="49" charset="-122"/>
            </a:endParaRPr>
          </a:p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例如，抢占优先级为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 0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的中断（最高级）可以打断任何抢占优先级为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 1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、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2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或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 3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的中断。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cs typeface="黑体" panose="02010609060101010101" pitchFamily="49" charset="-122"/>
            </a:endParaRPr>
          </a:p>
          <a:p>
            <a:r>
              <a:rPr lang="zh-CN" altLang="en-US" b="1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子优先级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（</a:t>
            </a:r>
            <a:r>
              <a:rPr lang="zh-CN" altLang="en-US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决定</a:t>
            </a:r>
            <a:r>
              <a:rPr lang="en-US" altLang="zh-CN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 “</a:t>
            </a:r>
            <a:r>
              <a:rPr lang="zh-CN" altLang="en-US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排队</a:t>
            </a:r>
            <a:r>
              <a:rPr lang="en-US" altLang="zh-CN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” </a:t>
            </a:r>
            <a:r>
              <a:rPr lang="zh-CN" altLang="en-US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顺序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）：当多个中断的抢占优先级相同时，它们之间不能互相打断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（无法嵌套）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。此时，系统会按照它们的子优先级来决定响应顺序，子优先级数值越小，越先被响应。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黑体" panose="02010609060101010101" pitchFamily="49" charset="-122"/>
            </a:endParaRPr>
          </a:p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例如，两个抢占优先级都是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 1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的中断，子优先级为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 0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的会比子优先级为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 1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的先得到处理。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" y="62145"/>
            <a:ext cx="12082509" cy="618892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zh-CN" altLang="en-US" b="1" dirty="0"/>
              <a:t>中断优先级设定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681037"/>
            <a:ext cx="12082508" cy="198959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b="1" dirty="0"/>
              <a:t>使用函数</a:t>
            </a:r>
            <a:r>
              <a:rPr lang="en-AU" altLang="zh-CN" b="1" dirty="0" err="1"/>
              <a:t>NVIC_</a:t>
            </a:r>
            <a:r>
              <a:rPr lang="en-AU" altLang="zh-CN" b="1" dirty="0" err="1">
                <a:solidFill>
                  <a:srgbClr val="FF0000"/>
                </a:solidFill>
              </a:rPr>
              <a:t>PriorityGroup</a:t>
            </a:r>
            <a:r>
              <a:rPr lang="en-AU" altLang="zh-CN" b="1" dirty="0" err="1"/>
              <a:t>Config</a:t>
            </a:r>
            <a:r>
              <a:rPr lang="en-AU" altLang="zh-CN" b="1" dirty="0"/>
              <a:t> </a:t>
            </a:r>
            <a:r>
              <a:rPr lang="zh-CN" altLang="en-US" b="1" dirty="0"/>
              <a:t>，来规定在当前的单片机众多中中断中，采用的中断优先级分配机制。</a:t>
            </a:r>
            <a:r>
              <a:rPr lang="zh-CN" altLang="en-US" b="1" dirty="0">
                <a:solidFill>
                  <a:srgbClr val="FF0000"/>
                </a:solidFill>
              </a:rPr>
              <a:t>一个程序中，该函数只能用一次。</a:t>
            </a:r>
            <a:endParaRPr lang="en-US" altLang="zh-CN" b="1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b="1" dirty="0"/>
              <a:t>使用函数</a:t>
            </a:r>
            <a:r>
              <a:rPr lang="en-AU" altLang="zh-CN" b="1" dirty="0" err="1">
                <a:solidFill>
                  <a:srgbClr val="3333FF"/>
                </a:solidFill>
              </a:rPr>
              <a:t>NVIC_Init</a:t>
            </a:r>
            <a:r>
              <a:rPr lang="en-AU" altLang="zh-CN" b="1" dirty="0"/>
              <a:t> </a:t>
            </a:r>
            <a:r>
              <a:rPr lang="zh-CN" altLang="en-US" b="1" dirty="0"/>
              <a:t>，来定义某个中断的主优先级和从优先级。</a:t>
            </a:r>
            <a:r>
              <a:rPr lang="zh-CN" altLang="en-US" b="1" dirty="0">
                <a:solidFill>
                  <a:srgbClr val="FF0000"/>
                </a:solidFill>
              </a:rPr>
              <a:t>一个程序中，使用多少个中断，该函数就需要使用多少次</a:t>
            </a:r>
            <a:r>
              <a:rPr lang="zh-CN" altLang="en-US" b="1" dirty="0"/>
              <a:t>。</a:t>
            </a:r>
            <a:r>
              <a:rPr lang="en-AU" altLang="zh-CN" b="1" dirty="0"/>
              <a:t>	</a:t>
            </a:r>
            <a:endParaRPr lang="zh-CN" altLang="en-US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83" y="2670629"/>
            <a:ext cx="12002317" cy="40176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62339"/>
          </a:xfr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zh-CN" altLang="en-US" dirty="0"/>
              <a:t>三、</a:t>
            </a:r>
            <a:r>
              <a:rPr lang="zh-CN" altLang="en-US" dirty="0">
                <a:solidFill>
                  <a:srgbClr val="FF0000"/>
                </a:solidFill>
              </a:rPr>
              <a:t>外</a:t>
            </a:r>
            <a:r>
              <a:rPr lang="zh-CN" altLang="en-US" dirty="0"/>
              <a:t>中断的概述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762340"/>
            <a:ext cx="12192000" cy="541462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sz="2600" dirty="0">
                <a:latin typeface="华文新魏" panose="02010800040101010101" pitchFamily="2" charset="-122"/>
                <a:ea typeface="华文新魏" panose="02010800040101010101" pitchFamily="2" charset="-122"/>
              </a:rPr>
              <a:t>外中断和定时中断、串行中断一样，是中断的一种，当由于单片机管脚</a:t>
            </a:r>
            <a:r>
              <a:rPr lang="zh-CN" altLang="zh-CN" sz="26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电平发生变化</a:t>
            </a:r>
            <a:r>
              <a:rPr lang="zh-CN" altLang="zh-CN" sz="2600" dirty="0">
                <a:latin typeface="华文新魏" panose="02010800040101010101" pitchFamily="2" charset="-122"/>
                <a:ea typeface="华文新魏" panose="02010800040101010101" pitchFamily="2" charset="-122"/>
              </a:rPr>
              <a:t>时，引起的中断，我们称为外中断。</a:t>
            </a:r>
            <a:endParaRPr lang="en-US" altLang="zh-CN" sz="26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6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STM32F103RBT6</a:t>
            </a:r>
            <a:r>
              <a:rPr lang="zh-CN" altLang="zh-CN" sz="2600" dirty="0">
                <a:latin typeface="华文新魏" panose="02010800040101010101" pitchFamily="2" charset="-122"/>
                <a:ea typeface="华文新魏" panose="02010800040101010101" pitchFamily="2" charset="-122"/>
              </a:rPr>
              <a:t>有</a:t>
            </a:r>
            <a:r>
              <a:rPr lang="en-US" altLang="zh-CN" sz="2600" dirty="0">
                <a:latin typeface="华文新魏" panose="02010800040101010101" pitchFamily="2" charset="-122"/>
                <a:ea typeface="华文新魏" panose="02010800040101010101" pitchFamily="2" charset="-122"/>
              </a:rPr>
              <a:t>51</a:t>
            </a:r>
            <a:r>
              <a:rPr lang="zh-CN" altLang="zh-CN" sz="26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个</a:t>
            </a:r>
            <a:r>
              <a:rPr lang="en-US" altLang="zh-CN" sz="2600" dirty="0">
                <a:latin typeface="华文新魏" panose="02010800040101010101" pitchFamily="2" charset="-122"/>
                <a:ea typeface="华文新魏" panose="02010800040101010101" pitchFamily="2" charset="-122"/>
              </a:rPr>
              <a:t>GPIO</a:t>
            </a:r>
            <a:r>
              <a:rPr lang="zh-CN" altLang="zh-CN" sz="26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，每一个管脚都可以做为外中断的输入。</a:t>
            </a:r>
            <a:endParaRPr lang="zh-CN" altLang="zh-CN" sz="26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6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STM32</a:t>
            </a:r>
            <a:r>
              <a:rPr lang="zh-CN" altLang="zh-CN" sz="26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的设计人员，给这</a:t>
            </a:r>
            <a:r>
              <a:rPr lang="en-US" altLang="zh-CN" sz="26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51</a:t>
            </a:r>
            <a:r>
              <a:rPr lang="zh-CN" altLang="zh-CN" sz="26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个管脚分配了</a:t>
            </a:r>
            <a:endParaRPr lang="en-US" altLang="zh-CN" sz="26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zh-CN" sz="4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７</a:t>
            </a:r>
            <a:r>
              <a:rPr lang="zh-CN" altLang="zh-CN" sz="4000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zh-CN" altLang="en-US" sz="4000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硬件</a:t>
            </a:r>
            <a:r>
              <a:rPr lang="zh-CN" altLang="zh-CN" sz="4000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中断名字，也就是</a:t>
            </a:r>
            <a:r>
              <a:rPr lang="zh-CN" altLang="zh-CN" sz="4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７</a:t>
            </a:r>
            <a:r>
              <a:rPr lang="zh-CN" altLang="zh-CN" sz="4000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个中断向量</a:t>
            </a:r>
            <a:r>
              <a:rPr lang="zh-CN" altLang="en-US" sz="4000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号</a:t>
            </a:r>
            <a:r>
              <a:rPr lang="zh-CN" altLang="zh-CN" sz="40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4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5277" y="2732436"/>
            <a:ext cx="11531037" cy="3407108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342900" lvl="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所有后缀为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管脚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，即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PA0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PB0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PC0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PD0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，共享一个名字：</a:t>
            </a:r>
            <a:r>
              <a:rPr lang="en-US" altLang="zh-CN" kern="100" dirty="0" err="1"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EXTI</a:t>
            </a:r>
            <a:r>
              <a:rPr lang="en-US" altLang="zh-CN" kern="100" dirty="0" err="1">
                <a:solidFill>
                  <a:srgbClr val="3333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0_</a:t>
            </a:r>
            <a:r>
              <a:rPr lang="en-US" altLang="zh-CN" kern="100" dirty="0" err="1"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IRQn</a:t>
            </a:r>
            <a:r>
              <a:rPr lang="zh-CN" altLang="en-US" kern="1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，用同一个中断向量。</a:t>
            </a:r>
            <a:endParaRPr lang="zh-CN" altLang="zh-CN" dirty="0">
              <a:solidFill>
                <a:srgbClr val="000000"/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lvl="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en-US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PA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１、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PB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１、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PC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１、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PD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１，共享一个名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字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kern="100" dirty="0"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EXTI</a:t>
            </a:r>
            <a:r>
              <a:rPr lang="en-US" altLang="zh-CN" kern="100" dirty="0">
                <a:solidFill>
                  <a:srgbClr val="3333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1_</a:t>
            </a:r>
            <a:r>
              <a:rPr lang="en-US" altLang="zh-CN" kern="100" dirty="0"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IRQn</a:t>
            </a:r>
            <a:endParaRPr lang="zh-CN" altLang="zh-CN" dirty="0">
              <a:solidFill>
                <a:srgbClr val="000000"/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lvl="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en-US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PA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２、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PB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２、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PC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２、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PD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２，共享一个名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字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kern="100" dirty="0"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EXTI</a:t>
            </a:r>
            <a:r>
              <a:rPr lang="en-US" altLang="zh-CN" kern="100" dirty="0">
                <a:solidFill>
                  <a:srgbClr val="3333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2_</a:t>
            </a:r>
            <a:r>
              <a:rPr lang="en-US" altLang="zh-CN" kern="100" dirty="0"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IRQn</a:t>
            </a:r>
            <a:endParaRPr lang="zh-CN" altLang="zh-CN" dirty="0">
              <a:solidFill>
                <a:srgbClr val="000000"/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lvl="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en-US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PA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３、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PB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３、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PC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３，共享一个名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字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kern="100" dirty="0"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EXTI</a:t>
            </a:r>
            <a:r>
              <a:rPr lang="en-US" altLang="zh-CN" kern="100" dirty="0">
                <a:solidFill>
                  <a:srgbClr val="3333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3_</a:t>
            </a:r>
            <a:r>
              <a:rPr lang="en-US" altLang="zh-CN" kern="100" dirty="0"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IRQn</a:t>
            </a:r>
            <a:endParaRPr lang="zh-CN" altLang="zh-CN" dirty="0">
              <a:solidFill>
                <a:srgbClr val="000000"/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lvl="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en-US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PA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４、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PB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４、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PC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４，共享一个名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字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b="1" kern="100" dirty="0"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EXTI</a:t>
            </a:r>
            <a:r>
              <a:rPr lang="en-US" altLang="zh-CN" b="1" kern="100" dirty="0">
                <a:solidFill>
                  <a:srgbClr val="3333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4_</a:t>
            </a:r>
            <a:r>
              <a:rPr lang="en-US" altLang="zh-CN" b="1" kern="100" dirty="0"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IRQn</a:t>
            </a:r>
            <a:endParaRPr lang="zh-CN" altLang="zh-CN" dirty="0">
              <a:solidFill>
                <a:srgbClr val="000000"/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6110" y="294035"/>
            <a:ext cx="10029372" cy="2253222"/>
          </a:xfrm>
        </p:spPr>
        <p:txBody>
          <a:bodyPr>
            <a:no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EXTI2_IRQn 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b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Interrupt Line 2 _Interrupt Request Number</a:t>
            </a:r>
            <a:b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各部分含义：</a:t>
            </a:r>
            <a:b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EXTI2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Interrupt Line 2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外部中断线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b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IRQ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 Request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（中断请求）  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（编号）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6167" y="943430"/>
            <a:ext cx="11102865" cy="2605313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lvl="0" indent="0" algn="just">
              <a:lnSpc>
                <a:spcPct val="100000"/>
              </a:lnSpc>
              <a:buNone/>
            </a:pPr>
            <a:r>
              <a:rPr lang="en-US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6.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所有后缀为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9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的，即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PA5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PB5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PC5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PA6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PB6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PC6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PA7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PB7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PC7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PA8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PB8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PC8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PA9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PB9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PC9</a:t>
            </a:r>
            <a:r>
              <a:rPr lang="zh-CN" altLang="en-US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等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15</a:t>
            </a:r>
            <a:r>
              <a:rPr lang="zh-CN" altLang="en-US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个管脚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，共享一个名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字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b="1" kern="100" dirty="0" err="1"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EXTI</a:t>
            </a:r>
            <a:r>
              <a:rPr lang="en-US" altLang="zh-CN" b="1" kern="100" dirty="0" err="1">
                <a:solidFill>
                  <a:srgbClr val="3333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9_5_</a:t>
            </a:r>
            <a:r>
              <a:rPr lang="en-US" altLang="zh-CN" b="1" kern="100" dirty="0" err="1"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IRQn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zh-CN" dirty="0">
              <a:solidFill>
                <a:srgbClr val="000000"/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kern="1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7.</a:t>
            </a:r>
            <a:r>
              <a:rPr lang="zh-CN" altLang="zh-CN" kern="1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所有后缀为</a:t>
            </a:r>
            <a:r>
              <a:rPr lang="en-US" altLang="zh-CN" kern="1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10</a:t>
            </a:r>
            <a:r>
              <a:rPr lang="zh-CN" altLang="zh-CN" kern="1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11</a:t>
            </a:r>
            <a:r>
              <a:rPr lang="zh-CN" altLang="zh-CN" kern="1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12</a:t>
            </a:r>
            <a:r>
              <a:rPr lang="zh-CN" altLang="zh-CN" kern="1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13</a:t>
            </a:r>
            <a:r>
              <a:rPr lang="zh-CN" altLang="zh-CN" kern="1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14</a:t>
            </a:r>
            <a:r>
              <a:rPr lang="zh-CN" altLang="zh-CN" kern="1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15</a:t>
            </a:r>
            <a:r>
              <a:rPr lang="zh-CN" altLang="zh-CN" kern="1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的管脚，其对应的名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字</a:t>
            </a:r>
            <a:r>
              <a:rPr lang="zh-CN" altLang="zh-CN" kern="1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b="1" kern="100" dirty="0" err="1"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EXTI</a:t>
            </a:r>
            <a:r>
              <a:rPr lang="en-US" altLang="zh-CN" b="1" kern="100" dirty="0" err="1">
                <a:solidFill>
                  <a:srgbClr val="3333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15_10_</a:t>
            </a:r>
            <a:r>
              <a:rPr lang="en-US" altLang="zh-CN" b="1" kern="100" dirty="0" err="1"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IRQn</a:t>
            </a:r>
            <a:r>
              <a:rPr lang="zh-CN" altLang="zh-CN" kern="1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16387" y="3978687"/>
            <a:ext cx="92093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/>
              <a:t>EXTI</a:t>
            </a:r>
            <a:r>
              <a:rPr lang="en-US" altLang="zh-CN" sz="2800" b="1" dirty="0">
                <a:solidFill>
                  <a:srgbClr val="3333FF"/>
                </a:solidFill>
              </a:rPr>
              <a:t>2_</a:t>
            </a:r>
            <a:r>
              <a:rPr lang="en-US" altLang="zh-CN" sz="2800" b="1" dirty="0"/>
              <a:t>IRQn</a:t>
            </a:r>
            <a:r>
              <a:rPr lang="zh-CN" altLang="en-US" sz="2800" b="1" dirty="0"/>
              <a:t> 是一个枚举常量，代表 </a:t>
            </a:r>
            <a:r>
              <a:rPr lang="en-US" altLang="zh-CN" sz="2800" b="1" dirty="0"/>
              <a:t>EXTI</a:t>
            </a:r>
            <a:r>
              <a:rPr lang="en-US" altLang="zh-CN" sz="2800" b="1" dirty="0">
                <a:solidFill>
                  <a:srgbClr val="3333FF"/>
                </a:solidFill>
              </a:rPr>
              <a:t>2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外部中断在 </a:t>
            </a:r>
            <a:r>
              <a:rPr lang="en-US" altLang="zh-CN" sz="2800" b="1" dirty="0"/>
              <a:t>NVIC </a:t>
            </a:r>
            <a:r>
              <a:rPr lang="zh-CN" altLang="en-US" sz="2800" b="1" dirty="0"/>
              <a:t>中的</a:t>
            </a:r>
            <a:r>
              <a:rPr lang="zh-CN" altLang="en-US" sz="2800" b="1" dirty="0">
                <a:solidFill>
                  <a:srgbClr val="FF0000"/>
                </a:solidFill>
              </a:rPr>
              <a:t>中断通道编号（硬件中断向量号）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" y="0"/>
            <a:ext cx="12192000" cy="681037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zh-CN" altLang="en-US" dirty="0"/>
              <a:t>中断名称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5259" y="681038"/>
            <a:ext cx="11967099" cy="5495926"/>
          </a:xfrm>
        </p:spPr>
        <p:txBody>
          <a:bodyPr/>
          <a:lstStyle/>
          <a:p>
            <a:r>
              <a:rPr lang="zh-CN" altLang="en-US" dirty="0"/>
              <a:t>在文件中</a:t>
            </a:r>
            <a:r>
              <a:rPr lang="en-US" altLang="zh-CN" dirty="0" err="1"/>
              <a:t>stm32f10x.h</a:t>
            </a:r>
            <a:r>
              <a:rPr lang="zh-CN" altLang="en-US" dirty="0"/>
              <a:t>中定义了中断请求源的名称。</a:t>
            </a:r>
            <a:r>
              <a:rPr lang="zh-CN" altLang="en-US" dirty="0">
                <a:solidFill>
                  <a:srgbClr val="3333FF"/>
                </a:solidFill>
              </a:rPr>
              <a:t>枚举定义</a:t>
            </a:r>
            <a:r>
              <a:rPr lang="zh-CN" altLang="en-US" dirty="0"/>
              <a:t>，设置中断优先级来用。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666" y="1433022"/>
            <a:ext cx="9971589" cy="537259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023985" y="1826260"/>
            <a:ext cx="311848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sym typeface="+mn-ea"/>
              </a:rPr>
              <a:t>在 </a:t>
            </a:r>
            <a:r>
              <a:rPr lang="en-US" altLang="zh-CN" sz="2400" b="1" dirty="0">
                <a:solidFill>
                  <a:srgbClr val="FF0000"/>
                </a:solidFill>
                <a:sym typeface="+mn-ea"/>
              </a:rPr>
              <a:t>NVIC </a:t>
            </a:r>
            <a:r>
              <a:rPr lang="zh-CN" altLang="en-US" sz="2400" b="1" dirty="0">
                <a:solidFill>
                  <a:srgbClr val="FF0000"/>
                </a:solidFill>
                <a:sym typeface="+mn-ea"/>
              </a:rPr>
              <a:t>中的编号 → </a:t>
            </a:r>
            <a:r>
              <a:rPr lang="en-US" altLang="zh-CN" sz="2400" b="1" dirty="0">
                <a:solidFill>
                  <a:srgbClr val="FF0000"/>
                </a:solidFill>
                <a:sym typeface="+mn-ea"/>
              </a:rPr>
              <a:t>EXTI2_IRQn</a:t>
            </a:r>
            <a:r>
              <a:rPr lang="zh-CN" altLang="en-US" sz="2400" b="1" dirty="0">
                <a:solidFill>
                  <a:srgbClr val="FF0000"/>
                </a:solidFill>
                <a:sym typeface="+mn-ea"/>
              </a:rPr>
              <a:t>（通常值为 </a:t>
            </a:r>
            <a:r>
              <a:rPr lang="en-US" altLang="zh-CN" sz="2400" b="1" dirty="0">
                <a:solidFill>
                  <a:srgbClr val="FF0000"/>
                </a:solidFill>
                <a:sym typeface="+mn-ea"/>
              </a:rPr>
              <a:t>8</a:t>
            </a:r>
            <a:r>
              <a:rPr lang="zh-CN" altLang="en-US" sz="2400" b="1" dirty="0">
                <a:solidFill>
                  <a:srgbClr val="FF0000"/>
                </a:solidFill>
                <a:sym typeface="+mn-ea"/>
              </a:rPr>
              <a:t>）</a:t>
            </a:r>
            <a:endParaRPr lang="zh-CN" altLang="en-US" sz="2400" b="1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708025"/>
            <a:ext cx="10515600" cy="4351338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zh-CN" altLang="en-US" sz="3600" b="1" dirty="0">
                <a:solidFill>
                  <a:srgbClr val="3333FF"/>
                </a:solidFill>
              </a:rPr>
              <a:t>总   结</a:t>
            </a:r>
            <a:endParaRPr lang="en-US" altLang="zh-CN" sz="3600" b="1" dirty="0">
              <a:solidFill>
                <a:srgbClr val="3333FF"/>
              </a:solidFill>
            </a:endParaRPr>
          </a:p>
          <a:p>
            <a:r>
              <a:rPr lang="en-US" altLang="zh-CN" sz="3000" b="1" dirty="0"/>
              <a:t>STM32</a:t>
            </a:r>
            <a:r>
              <a:rPr lang="zh-CN" altLang="en-US" sz="3000" b="1" dirty="0"/>
              <a:t>的设计限制，中断向量表中：</a:t>
            </a:r>
            <a:endParaRPr lang="zh-CN" altLang="en-US" sz="3000" b="1" dirty="0"/>
          </a:p>
          <a:p>
            <a:pPr marL="0" indent="0">
              <a:buNone/>
            </a:pPr>
            <a:r>
              <a:rPr lang="en-US" altLang="zh-CN" sz="3000" b="1" dirty="0"/>
              <a:t>              - EXTI</a:t>
            </a:r>
            <a:r>
              <a:rPr lang="en-US" altLang="zh-CN" sz="3000" b="1" dirty="0">
                <a:solidFill>
                  <a:srgbClr val="3333FF"/>
                </a:solidFill>
              </a:rPr>
              <a:t>0~4 </a:t>
            </a:r>
            <a:r>
              <a:rPr lang="zh-CN" altLang="en-US" sz="3000" b="1" dirty="0"/>
              <a:t>各自独占一个</a:t>
            </a:r>
            <a:r>
              <a:rPr lang="en-US" altLang="zh-CN" sz="3000" b="1" dirty="0"/>
              <a:t>IRQ</a:t>
            </a:r>
            <a:r>
              <a:rPr lang="zh-CN" altLang="en-US" sz="3000" b="1" dirty="0"/>
              <a:t>通道（</a:t>
            </a:r>
            <a:r>
              <a:rPr lang="en-US" altLang="zh-CN" sz="3000" b="1" dirty="0"/>
              <a:t>5</a:t>
            </a:r>
            <a:r>
              <a:rPr lang="zh-CN" altLang="en-US" sz="3000" b="1" dirty="0"/>
              <a:t>个）</a:t>
            </a:r>
            <a:endParaRPr lang="zh-CN" altLang="en-US" sz="3000" b="1" dirty="0"/>
          </a:p>
          <a:p>
            <a:pPr marL="0" indent="0">
              <a:buNone/>
            </a:pPr>
            <a:r>
              <a:rPr lang="en-US" altLang="zh-CN" sz="3000" b="1" dirty="0"/>
              <a:t>              - EXTI</a:t>
            </a:r>
            <a:r>
              <a:rPr lang="en-US" altLang="zh-CN" sz="3000" b="1" dirty="0">
                <a:solidFill>
                  <a:srgbClr val="3333FF"/>
                </a:solidFill>
              </a:rPr>
              <a:t>5~9</a:t>
            </a:r>
            <a:r>
              <a:rPr lang="en-US" altLang="zh-CN" sz="3000" b="1" dirty="0"/>
              <a:t> </a:t>
            </a:r>
            <a:r>
              <a:rPr lang="zh-CN" altLang="en-US" sz="3000" b="1" dirty="0"/>
              <a:t>共用 </a:t>
            </a:r>
            <a:r>
              <a:rPr lang="en-US" altLang="zh-CN" sz="3000" b="1" dirty="0"/>
              <a:t>EXTI9_5_IRQn</a:t>
            </a:r>
            <a:r>
              <a:rPr lang="zh-CN" altLang="en-US" sz="3000" b="1" dirty="0"/>
              <a:t>（</a:t>
            </a:r>
            <a:r>
              <a:rPr lang="en-US" altLang="zh-CN" sz="3000" b="1" dirty="0"/>
              <a:t>1</a:t>
            </a:r>
            <a:r>
              <a:rPr lang="zh-CN" altLang="en-US" sz="3000" b="1" dirty="0"/>
              <a:t>个）</a:t>
            </a:r>
            <a:endParaRPr lang="zh-CN" altLang="en-US" sz="3000" b="1" dirty="0"/>
          </a:p>
          <a:p>
            <a:pPr marL="0" indent="0">
              <a:buNone/>
            </a:pPr>
            <a:r>
              <a:rPr lang="en-US" altLang="zh-CN" sz="3000" b="1" dirty="0"/>
              <a:t>              - EXTI</a:t>
            </a:r>
            <a:r>
              <a:rPr lang="en-US" altLang="zh-CN" sz="3000" b="1" dirty="0">
                <a:solidFill>
                  <a:srgbClr val="3333FF"/>
                </a:solidFill>
              </a:rPr>
              <a:t>10~15</a:t>
            </a:r>
            <a:r>
              <a:rPr lang="en-US" altLang="zh-CN" sz="3000" b="1" dirty="0"/>
              <a:t> </a:t>
            </a:r>
            <a:r>
              <a:rPr lang="zh-CN" altLang="en-US" sz="3000" b="1" dirty="0"/>
              <a:t>共用 </a:t>
            </a:r>
            <a:r>
              <a:rPr lang="en-US" altLang="zh-CN" sz="3000" b="1" dirty="0"/>
              <a:t>EXTI15_10_IRQn</a:t>
            </a:r>
            <a:r>
              <a:rPr lang="zh-CN" altLang="en-US" sz="3000" b="1" dirty="0"/>
              <a:t>（</a:t>
            </a:r>
            <a:r>
              <a:rPr lang="en-US" altLang="zh-CN" sz="3000" b="1" dirty="0"/>
              <a:t>1</a:t>
            </a:r>
            <a:r>
              <a:rPr lang="zh-CN" altLang="en-US" sz="3000" b="1" dirty="0"/>
              <a:t>个）</a:t>
            </a:r>
            <a:endParaRPr lang="zh-CN" altLang="en-US" sz="3000" b="1" dirty="0"/>
          </a:p>
          <a:p>
            <a:endParaRPr lang="zh-CN" altLang="en-US" sz="3000" b="1" dirty="0"/>
          </a:p>
          <a:p>
            <a:r>
              <a:rPr lang="zh-CN" altLang="en-US" sz="3000" b="1" dirty="0"/>
              <a:t>共</a:t>
            </a:r>
            <a:r>
              <a:rPr lang="en-US" altLang="zh-CN" sz="3000" b="1" dirty="0">
                <a:solidFill>
                  <a:srgbClr val="FF0000"/>
                </a:solidFill>
              </a:rPr>
              <a:t>7</a:t>
            </a:r>
            <a:r>
              <a:rPr lang="zh-CN" altLang="en-US" sz="3000" b="1" dirty="0">
                <a:solidFill>
                  <a:srgbClr val="FF0000"/>
                </a:solidFill>
              </a:rPr>
              <a:t>个通道</a:t>
            </a:r>
            <a:r>
              <a:rPr lang="zh-CN" altLang="en-US" sz="3000" b="1" dirty="0"/>
              <a:t>覆盖</a:t>
            </a:r>
            <a:r>
              <a:rPr lang="en-US" altLang="zh-CN" sz="3000" b="1" dirty="0">
                <a:solidFill>
                  <a:srgbClr val="FF0000"/>
                </a:solidFill>
              </a:rPr>
              <a:t>16</a:t>
            </a:r>
            <a:r>
              <a:rPr lang="zh-CN" altLang="en-US" sz="3000" b="1" dirty="0">
                <a:solidFill>
                  <a:srgbClr val="FF0000"/>
                </a:solidFill>
              </a:rPr>
              <a:t>条中断线</a:t>
            </a:r>
            <a:r>
              <a:rPr lang="zh-CN" altLang="en-US" sz="3000" b="1" dirty="0"/>
              <a:t>，</a:t>
            </a:r>
            <a:r>
              <a:rPr lang="zh-CN" altLang="en-US" sz="3000" b="1" dirty="0">
                <a:solidFill>
                  <a:srgbClr val="3333FF"/>
                </a:solidFill>
              </a:rPr>
              <a:t>节省向量表空间</a:t>
            </a:r>
            <a:r>
              <a:rPr lang="zh-CN" altLang="en-US" sz="3000" b="1" dirty="0"/>
              <a:t>。</a:t>
            </a:r>
            <a:endParaRPr lang="en-US" altLang="zh-CN" sz="3000" b="1" dirty="0"/>
          </a:p>
          <a:p>
            <a:r>
              <a:rPr lang="zh-CN" altLang="en-US" sz="3000" b="1" dirty="0"/>
              <a:t>引脚</a:t>
            </a:r>
            <a:r>
              <a:rPr lang="en-US" altLang="zh-CN" sz="3000" b="1" dirty="0" err="1"/>
              <a:t>PAx</a:t>
            </a:r>
            <a:r>
              <a:rPr lang="zh-CN" altLang="en-US" sz="3000" b="1" dirty="0"/>
              <a:t>对应外部中断线</a:t>
            </a:r>
            <a:r>
              <a:rPr lang="en-US" altLang="zh-CN" sz="3000" b="1" dirty="0" err="1"/>
              <a:t>EXTIx</a:t>
            </a:r>
            <a:r>
              <a:rPr lang="en-US" altLang="zh-CN" sz="3000" b="1" dirty="0"/>
              <a:t> (x=0~15)</a:t>
            </a:r>
            <a:endParaRPr lang="zh-CN" altLang="en-US" sz="3000" b="1" dirty="0"/>
          </a:p>
          <a:p>
            <a:r>
              <a:rPr lang="zh-CN" altLang="en-US" sz="3000" b="1" dirty="0"/>
              <a:t>所以在 </a:t>
            </a:r>
            <a:r>
              <a:rPr lang="en-US" altLang="zh-CN" sz="3000" b="1" dirty="0"/>
              <a:t>EXTI</a:t>
            </a:r>
            <a:r>
              <a:rPr lang="en-US" altLang="zh-CN" sz="3000" b="1" dirty="0">
                <a:solidFill>
                  <a:srgbClr val="3333FF"/>
                </a:solidFill>
              </a:rPr>
              <a:t>9_5_</a:t>
            </a:r>
            <a:r>
              <a:rPr lang="en-US" altLang="zh-CN" sz="3000" b="1" dirty="0"/>
              <a:t>IRQHandler </a:t>
            </a:r>
            <a:r>
              <a:rPr lang="zh-CN" altLang="en-US" sz="3000" b="1" dirty="0"/>
              <a:t>中需要自己判断是哪条线触发的。</a:t>
            </a:r>
            <a:endParaRPr lang="zh-CN" altLang="en-US" sz="3000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3572" y="438376"/>
            <a:ext cx="10809514" cy="1056595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使用场景：</a:t>
            </a:r>
            <a:r>
              <a:rPr lang="zh-CN" altLang="en-US" b="1" dirty="0"/>
              <a:t>配置 </a:t>
            </a:r>
            <a:r>
              <a:rPr lang="en-US" altLang="zh-CN" b="1" dirty="0"/>
              <a:t>NVIC </a:t>
            </a:r>
            <a:r>
              <a:rPr lang="zh-CN" altLang="en-US" b="1" dirty="0"/>
              <a:t>时</a:t>
            </a:r>
            <a:r>
              <a:rPr lang="zh-CN" altLang="en-US" b="1" dirty="0">
                <a:solidFill>
                  <a:srgbClr val="3333FF"/>
                </a:solidFill>
              </a:rPr>
              <a:t>必须指定这个参数</a:t>
            </a:r>
            <a:r>
              <a:rPr lang="zh-CN" altLang="en-US" b="1" dirty="0"/>
              <a:t>，后续才能设置该中断的优先级并使能它</a:t>
            </a:r>
            <a:endParaRPr lang="zh-CN" altLang="en-US" b="1" dirty="0"/>
          </a:p>
          <a:p>
            <a:endParaRPr lang="zh-CN" altLang="en-US" b="1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559" y="1290086"/>
            <a:ext cx="11624881" cy="5292144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4725670" y="1584325"/>
            <a:ext cx="1868170" cy="41656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725670" y="4954905"/>
            <a:ext cx="1868170" cy="41656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643755" y="3269615"/>
            <a:ext cx="1868170" cy="41656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78889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zh-CN" altLang="en-US" b="1" dirty="0"/>
              <a:t>中断管脚设置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1" y="878890"/>
            <a:ext cx="12118019" cy="166111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b="1" dirty="0"/>
              <a:t>使用函数</a:t>
            </a:r>
            <a:r>
              <a:rPr lang="en-AU" altLang="zh-CN" b="1" dirty="0" err="1">
                <a:solidFill>
                  <a:srgbClr val="FF0000"/>
                </a:solidFill>
              </a:rPr>
              <a:t>GPIO_EXTILineConfig</a:t>
            </a:r>
            <a:r>
              <a:rPr lang="zh-CN" altLang="en-US" b="1" dirty="0"/>
              <a:t>，来定义</a:t>
            </a:r>
            <a:r>
              <a:rPr lang="zh-CN" altLang="en-US" b="1" dirty="0">
                <a:solidFill>
                  <a:srgbClr val="3333FF"/>
                </a:solidFill>
              </a:rPr>
              <a:t>某引脚</a:t>
            </a:r>
            <a:r>
              <a:rPr lang="zh-CN" altLang="en-US" b="1" dirty="0">
                <a:solidFill>
                  <a:srgbClr val="FF0000"/>
                </a:solidFill>
              </a:rPr>
              <a:t>具有</a:t>
            </a:r>
            <a:r>
              <a:rPr lang="zh-CN" altLang="en-US" b="1" dirty="0">
                <a:solidFill>
                  <a:srgbClr val="3333FF"/>
                </a:solidFill>
              </a:rPr>
              <a:t>中断功能</a:t>
            </a:r>
            <a:r>
              <a:rPr lang="zh-CN" altLang="en-US" b="1" dirty="0"/>
              <a:t>。</a:t>
            </a:r>
            <a:endParaRPr lang="en-US" altLang="zh-CN" b="1" dirty="0"/>
          </a:p>
          <a:p>
            <a:pPr>
              <a:lnSpc>
                <a:spcPct val="100000"/>
              </a:lnSpc>
            </a:pPr>
            <a:r>
              <a:rPr lang="zh-CN" altLang="en-US" b="1" dirty="0"/>
              <a:t>使用函数</a:t>
            </a:r>
            <a:r>
              <a:rPr lang="en-AU" altLang="zh-CN" b="1" dirty="0" err="1">
                <a:solidFill>
                  <a:srgbClr val="FF0000"/>
                </a:solidFill>
              </a:rPr>
              <a:t>EXTI_Ini</a:t>
            </a:r>
            <a:r>
              <a:rPr lang="en-US" altLang="zh-CN" b="1" dirty="0">
                <a:solidFill>
                  <a:srgbClr val="FF0000"/>
                </a:solidFill>
              </a:rPr>
              <a:t>t</a:t>
            </a:r>
            <a:r>
              <a:rPr lang="zh-CN" altLang="en-US" b="1" dirty="0"/>
              <a:t>，来定义</a:t>
            </a:r>
            <a:r>
              <a:rPr lang="zh-CN" altLang="en-US" sz="2800" b="1" dirty="0"/>
              <a:t>用来设定该线上的中断是上升沿还是下降沿、是中断还是事件、是否允许中断等。</a:t>
            </a:r>
            <a:endParaRPr lang="zh-CN" altLang="zh-CN" sz="2800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30" y="2452915"/>
            <a:ext cx="12034155" cy="388982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349829" y="2914111"/>
          <a:ext cx="9492342" cy="2483641"/>
        </p:xfrm>
        <a:graphic>
          <a:graphicData uri="http://schemas.openxmlformats.org/drawingml/2006/table">
            <a:tbl>
              <a:tblPr/>
              <a:tblGrid>
                <a:gridCol w="1250950"/>
                <a:gridCol w="3600450"/>
                <a:gridCol w="4640942"/>
              </a:tblGrid>
              <a:tr h="13778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1">
                          <a:effectLst/>
                        </a:rPr>
                        <a:t>特性</a:t>
                      </a:r>
                      <a:endParaRPr lang="zh-CN" altLang="en-US" sz="2000" b="1">
                        <a:effectLst/>
                      </a:endParaRPr>
                    </a:p>
                  </a:txBody>
                  <a:tcPr marL="8639" marR="8639" marT="8639" marB="86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1" dirty="0">
                          <a:effectLst/>
                        </a:rPr>
                        <a:t>中断模式 </a:t>
                      </a:r>
                      <a:r>
                        <a:rPr lang="en-US" altLang="zh-CN" sz="2000" b="1" dirty="0">
                          <a:effectLst/>
                        </a:rPr>
                        <a:t>(</a:t>
                      </a:r>
                      <a:r>
                        <a:rPr lang="en-US" sz="2000" b="1" dirty="0" err="1">
                          <a:effectLst/>
                        </a:rPr>
                        <a:t>EXTI_Mode_Interrupt</a:t>
                      </a:r>
                      <a:r>
                        <a:rPr lang="en-US" sz="2000" b="1" dirty="0">
                          <a:effectLst/>
                        </a:rPr>
                        <a:t>)</a:t>
                      </a:r>
                      <a:endParaRPr lang="en-US" sz="2000" b="1" dirty="0">
                        <a:effectLst/>
                      </a:endParaRPr>
                    </a:p>
                  </a:txBody>
                  <a:tcPr marL="8639" marR="8639" marT="8639" marB="86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1">
                          <a:effectLst/>
                        </a:rPr>
                        <a:t>事件模式 </a:t>
                      </a:r>
                      <a:r>
                        <a:rPr lang="en-US" altLang="zh-CN" sz="2000" b="1">
                          <a:effectLst/>
                        </a:rPr>
                        <a:t>(</a:t>
                      </a:r>
                      <a:r>
                        <a:rPr lang="en-US" sz="2000" b="1">
                          <a:effectLst/>
                        </a:rPr>
                        <a:t>EXTI_Mode_Event)</a:t>
                      </a:r>
                      <a:endParaRPr lang="en-US" sz="2000" b="1">
                        <a:effectLst/>
                      </a:endParaRPr>
                    </a:p>
                  </a:txBody>
                  <a:tcPr marL="8639" marR="8639" marT="8639" marB="86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0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>
                          <a:effectLst/>
                        </a:rPr>
                        <a:t>CPU </a:t>
                      </a:r>
                      <a:r>
                        <a:rPr lang="zh-CN" altLang="en-US" sz="2000" b="1">
                          <a:effectLst/>
                        </a:rPr>
                        <a:t>干预</a:t>
                      </a:r>
                      <a:endParaRPr lang="zh-CN" altLang="en-US" sz="2000" b="1">
                        <a:effectLst/>
                      </a:endParaRPr>
                    </a:p>
                  </a:txBody>
                  <a:tcPr marL="8639" marR="8639" marT="8639" marB="86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1">
                          <a:effectLst/>
                        </a:rPr>
                        <a:t>需要 </a:t>
                      </a:r>
                      <a:r>
                        <a:rPr lang="en-US" altLang="zh-CN" sz="2000" b="1">
                          <a:effectLst/>
                        </a:rPr>
                        <a:t>CPU </a:t>
                      </a:r>
                      <a:r>
                        <a:rPr lang="zh-CN" altLang="en-US" sz="2000" b="1">
                          <a:effectLst/>
                        </a:rPr>
                        <a:t>响应中断并执行中断服务函数</a:t>
                      </a:r>
                      <a:endParaRPr lang="zh-CN" altLang="en-US" sz="2000" b="1">
                        <a:effectLst/>
                      </a:endParaRPr>
                    </a:p>
                  </a:txBody>
                  <a:tcPr marL="8639" marR="8639" marT="8639" marB="86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1" dirty="0">
                          <a:effectLst/>
                        </a:rPr>
                        <a:t>不需要 </a:t>
                      </a:r>
                      <a:r>
                        <a:rPr lang="en-US" altLang="zh-CN" sz="2000" b="1" dirty="0">
                          <a:effectLst/>
                        </a:rPr>
                        <a:t>CPU </a:t>
                      </a:r>
                      <a:r>
                        <a:rPr lang="zh-CN" altLang="en-US" sz="2000" b="1" dirty="0">
                          <a:effectLst/>
                        </a:rPr>
                        <a:t>干预，由硬件自动触发其他外设</a:t>
                      </a:r>
                      <a:endParaRPr lang="zh-CN" altLang="en-US" sz="2000" b="1" dirty="0">
                        <a:effectLst/>
                      </a:endParaRPr>
                    </a:p>
                  </a:txBody>
                  <a:tcPr marL="8639" marR="8639" marT="8639" marB="86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" y="696595"/>
            <a:ext cx="11834495" cy="176847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691318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zh-CN" altLang="en-US" dirty="0"/>
              <a:t>中断服务函数和中断向量表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1" y="691319"/>
            <a:ext cx="12191999" cy="137696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b="1" dirty="0"/>
              <a:t>59</a:t>
            </a:r>
            <a:r>
              <a:rPr lang="zh-CN" altLang="en-US" b="1" dirty="0"/>
              <a:t>个异常（中断）的服务函数的名称，系统已规定好。在文件</a:t>
            </a:r>
            <a:r>
              <a:rPr lang="en-US" altLang="zh-CN" b="1" dirty="0" err="1"/>
              <a:t>startup_stm32f10x_md.s</a:t>
            </a:r>
            <a:r>
              <a:rPr lang="zh-CN" altLang="en-US" b="1" dirty="0"/>
              <a:t>中均由定好了</a:t>
            </a:r>
            <a:r>
              <a:rPr lang="en-US" altLang="zh-CN" b="1" dirty="0"/>
              <a:t>,</a:t>
            </a:r>
            <a:r>
              <a:rPr lang="zh-CN" altLang="en-US" b="1" dirty="0"/>
              <a:t>不可以重新命名。</a:t>
            </a:r>
            <a:endParaRPr lang="en-US" altLang="zh-CN" b="1" dirty="0"/>
          </a:p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中断向量表</a:t>
            </a:r>
            <a:r>
              <a:rPr lang="zh-CN" altLang="en-US" b="1" dirty="0"/>
              <a:t>。</a:t>
            </a:r>
            <a:endParaRPr lang="zh-CN" altLang="en-US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6830" y="1589946"/>
            <a:ext cx="7384312" cy="511317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6570" y="132715"/>
            <a:ext cx="7995920" cy="713105"/>
          </a:xfrm>
        </p:spPr>
        <p:txBody>
          <a:bodyPr>
            <a:noAutofit/>
          </a:bodyPr>
          <a:lstStyle/>
          <a:p>
            <a:r>
              <a:rPr lang="zh-CN" altLang="en-US" sz="32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中断向量表（</a:t>
            </a:r>
            <a:r>
              <a:rPr lang="en-US" altLang="zh-CN" sz="3200" b="1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Interrupt Vector Table</a:t>
            </a:r>
            <a:r>
              <a:rPr lang="zh-CN" altLang="en-US" sz="32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3200" b="1">
              <a:solidFill>
                <a:srgbClr val="3333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50240" y="1998345"/>
            <a:ext cx="4117975" cy="3415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</a:pPr>
            <a:r>
              <a:rPr lang="en-US" altLang="zh-CN" sz="2400" b="1" i="0">
                <a:solidFill>
                  <a:srgbClr val="24292F"/>
                </a:solidFill>
                <a:latin typeface="ui-sans-serif"/>
                <a:ea typeface="ui-sans-serif"/>
              </a:rPr>
              <a:t>    </a:t>
            </a:r>
            <a:r>
              <a:rPr lang="zh-CN" altLang="en-US" sz="2400" b="1" i="0">
                <a:solidFill>
                  <a:srgbClr val="24292F"/>
                </a:solidFill>
                <a:latin typeface="ui-sans-serif"/>
                <a:ea typeface="宋体" panose="02010600030101010101" pitchFamily="2" charset="-122"/>
              </a:rPr>
              <a:t>是</a:t>
            </a:r>
            <a:r>
              <a:rPr lang="en-US" altLang="zh-CN" sz="2400" b="1">
                <a:solidFill>
                  <a:srgbClr val="1F2937"/>
                </a:solidFill>
                <a:latin typeface="ui-monospace"/>
                <a:ea typeface="ui-monospace"/>
                <a:sym typeface="+mn-ea"/>
              </a:rPr>
              <a:t>CPU</a:t>
            </a:r>
            <a:r>
              <a:rPr lang="zh-CN" altLang="en-US" sz="2400" b="1">
                <a:solidFill>
                  <a:srgbClr val="1F2937"/>
                </a:solidFill>
                <a:latin typeface="ui-monospace"/>
                <a:ea typeface="ui-monospace"/>
                <a:sym typeface="+mn-ea"/>
              </a:rPr>
              <a:t>的</a:t>
            </a:r>
            <a:r>
              <a:rPr lang="en-US" altLang="zh-CN" sz="2400" b="1">
                <a:solidFill>
                  <a:srgbClr val="1F2937"/>
                </a:solidFill>
                <a:latin typeface="ui-monospace"/>
                <a:ea typeface="ui-monospace"/>
                <a:sym typeface="+mn-ea"/>
              </a:rPr>
              <a:t>"</a:t>
            </a:r>
            <a:r>
              <a:rPr lang="zh-CN" altLang="en-US" sz="2400" b="1">
                <a:solidFill>
                  <a:srgbClr val="3333FF"/>
                </a:solidFill>
                <a:latin typeface="ui-monospace"/>
                <a:ea typeface="ui-monospace"/>
                <a:sym typeface="+mn-ea"/>
              </a:rPr>
              <a:t>紧急联系</a:t>
            </a:r>
            <a:r>
              <a:rPr lang="zh-CN" altLang="en-US" sz="2400" b="1">
                <a:solidFill>
                  <a:srgbClr val="3333FF"/>
                </a:solidFill>
                <a:latin typeface="ui-sans-serif"/>
                <a:ea typeface="ui-sans-serif"/>
                <a:sym typeface="+mn-ea"/>
              </a:rPr>
              <a:t>电话簿</a:t>
            </a:r>
            <a:r>
              <a:rPr lang="en-US" altLang="zh-CN" sz="2400" b="1">
                <a:solidFill>
                  <a:srgbClr val="1F2937"/>
                </a:solidFill>
                <a:latin typeface="ui-monospace"/>
                <a:ea typeface="ui-monospace"/>
                <a:sym typeface="+mn-ea"/>
              </a:rPr>
              <a:t>"</a:t>
            </a:r>
            <a:r>
              <a:rPr lang="zh-CN" altLang="en-US" sz="2400" b="1" i="0">
                <a:solidFill>
                  <a:srgbClr val="24292F"/>
                </a:solidFill>
                <a:latin typeface="ui-sans-serif"/>
                <a:ea typeface="ui-sans-serif"/>
              </a:rPr>
              <a:t>，记录了每个中断对应的</a:t>
            </a:r>
            <a:r>
              <a:rPr lang="zh-CN" altLang="en-US" sz="2400" b="1" i="0">
                <a:solidFill>
                  <a:srgbClr val="24292F"/>
                </a:solidFill>
                <a:highlight>
                  <a:srgbClr val="FFFF00"/>
                </a:highlight>
                <a:latin typeface="ui-sans-serif"/>
                <a:ea typeface="ui-sans-serif"/>
              </a:rPr>
              <a:t>中断处理函数（中断服务程序）地址</a:t>
            </a:r>
            <a:r>
              <a:rPr lang="zh-CN" altLang="en-US" sz="2400" b="1" i="0">
                <a:solidFill>
                  <a:srgbClr val="24292F"/>
                </a:solidFill>
                <a:latin typeface="ui-sans-serif"/>
                <a:ea typeface="ui-sans-serif"/>
              </a:rPr>
              <a:t>，</a:t>
            </a:r>
            <a:r>
              <a:rPr lang="en-US" altLang="zh-CN" sz="2400" b="1" i="0">
                <a:solidFill>
                  <a:srgbClr val="24292F"/>
                </a:solidFill>
                <a:latin typeface="ui-sans-serif"/>
                <a:ea typeface="ui-sans-serif"/>
              </a:rPr>
              <a:t>CPU</a:t>
            </a:r>
            <a:r>
              <a:rPr lang="zh-CN" altLang="en-US" sz="2400" b="1" i="0">
                <a:solidFill>
                  <a:srgbClr val="24292F"/>
                </a:solidFill>
                <a:latin typeface="ui-sans-serif"/>
                <a:ea typeface="ui-sans-serif"/>
              </a:rPr>
              <a:t>发生中断时查这张表找到该跳转到哪里执行代码。</a:t>
            </a:r>
            <a:endParaRPr lang="zh-CN" altLang="en-US" sz="2400" b="1" i="0">
              <a:solidFill>
                <a:srgbClr val="24292F"/>
              </a:solidFill>
              <a:latin typeface="ui-sans-serif"/>
              <a:ea typeface="ui-sans-serif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6010" y="845820"/>
            <a:ext cx="6972300" cy="5724525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/>
        </p:nvSpPr>
        <p:spPr>
          <a:xfrm>
            <a:off x="6902450" y="740410"/>
            <a:ext cx="5748655" cy="7131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STM32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中的中断向量表结构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51116"/>
          </a:xfrm>
          <a:solidFill>
            <a:schemeClr val="accent6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zh-CN" altLang="en-US" b="1" dirty="0">
                <a:solidFill>
                  <a:srgbClr val="3333FF"/>
                </a:solidFill>
              </a:rPr>
              <a:t>中断服务程序</a:t>
            </a:r>
            <a:endParaRPr lang="zh-CN" altLang="en-US" b="1" dirty="0">
              <a:solidFill>
                <a:srgbClr val="3333FF"/>
              </a:solidFill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845" y="2107703"/>
            <a:ext cx="10347121" cy="3472457"/>
          </a:xfrm>
        </p:spPr>
      </p:pic>
      <p:sp>
        <p:nvSpPr>
          <p:cNvPr id="3" name="文本框 2"/>
          <p:cNvSpPr txBox="1"/>
          <p:nvPr/>
        </p:nvSpPr>
        <p:spPr>
          <a:xfrm>
            <a:off x="264160" y="1052195"/>
            <a:ext cx="1040447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1"/>
            <a:r>
              <a:rPr lang="en-US" altLang="zh-CN" sz="2800" b="1" dirty="0">
                <a:solidFill>
                  <a:srgbClr val="C00000"/>
                </a:solidFill>
                <a:sym typeface="+mn-ea"/>
              </a:rPr>
              <a:t>EXTI2 </a:t>
            </a:r>
            <a:r>
              <a:rPr lang="zh-CN" altLang="en-US" sz="2800" b="1" dirty="0">
                <a:solidFill>
                  <a:srgbClr val="C00000"/>
                </a:solidFill>
                <a:sym typeface="+mn-ea"/>
              </a:rPr>
              <a:t>中断线 → 对应中断服务函数 </a:t>
            </a:r>
            <a:r>
              <a:rPr lang="en-US" altLang="zh-CN" sz="2800" b="1" dirty="0">
                <a:solidFill>
                  <a:srgbClr val="C00000"/>
                </a:solidFill>
                <a:sym typeface="+mn-ea"/>
              </a:rPr>
              <a:t>EXTI2_IRQHandler()</a:t>
            </a:r>
            <a:endParaRPr lang="en-US" altLang="zh-CN" sz="2800" b="1" dirty="0">
              <a:solidFill>
                <a:srgbClr val="C0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6715" y="201930"/>
            <a:ext cx="2748915" cy="760095"/>
          </a:xfrm>
        </p:spPr>
        <p:txBody>
          <a:bodyPr/>
          <a:lstStyle/>
          <a:p>
            <a:r>
              <a:rPr lang="zh-CN" altLang="en-US" sz="32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中断配置流程：</a:t>
            </a:r>
            <a:endParaRPr lang="zh-CN" altLang="en-US" sz="3200" b="1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" name="图示 3"/>
          <p:cNvGraphicFramePr/>
          <p:nvPr/>
        </p:nvGraphicFramePr>
        <p:xfrm>
          <a:off x="386715" y="387985"/>
          <a:ext cx="11423650" cy="6386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8497570" y="3964940"/>
            <a:ext cx="3372485" cy="19348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noAutofit/>
          </a:bodyPr>
          <a:lstStyle/>
          <a:p>
            <a:pPr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>
                <a:solidFill>
                  <a:srgbClr val="FF0000"/>
                </a:solidFill>
              </a:rPr>
              <a:t>6. </a:t>
            </a:r>
            <a:r>
              <a:rPr lang="zh-CN" altLang="en-US" sz="2400" b="1">
                <a:solidFill>
                  <a:srgbClr val="FF0000"/>
                </a:solidFill>
              </a:rPr>
              <a:t>编写中断服务函数</a:t>
            </a:r>
            <a:endParaRPr lang="zh-CN" altLang="en-US" sz="2400" b="1">
              <a:solidFill>
                <a:srgbClr val="FF0000"/>
              </a:solidFill>
            </a:endParaRPr>
          </a:p>
          <a:p>
            <a:pPr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/>
              <a:t>    EXTIx_IRQHandler()     </a:t>
            </a:r>
            <a:endParaRPr lang="en-US" altLang="zh-CN" sz="2400" b="1"/>
          </a:p>
          <a:p>
            <a:pPr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/>
              <a:t>- </a:t>
            </a:r>
            <a:r>
              <a:rPr lang="zh-CN" altLang="en-US" sz="2400" b="1"/>
              <a:t>检查中断标志</a:t>
            </a:r>
            <a:r>
              <a:rPr lang="en-US" altLang="zh-CN" sz="2400" b="1"/>
              <a:t>           </a:t>
            </a:r>
            <a:endParaRPr lang="en-US" altLang="zh-CN" sz="2400" b="1"/>
          </a:p>
          <a:p>
            <a:pPr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/>
              <a:t> - </a:t>
            </a:r>
            <a:r>
              <a:rPr lang="zh-CN" altLang="en-US" sz="2400" b="1"/>
              <a:t>处理中断事件</a:t>
            </a:r>
            <a:r>
              <a:rPr lang="en-US" altLang="zh-CN" sz="2400" b="1"/>
              <a:t>            </a:t>
            </a:r>
            <a:endParaRPr lang="en-US" altLang="zh-CN" sz="2400" b="1"/>
          </a:p>
          <a:p>
            <a:pPr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/>
              <a:t>- </a:t>
            </a:r>
            <a:r>
              <a:rPr lang="zh-CN" altLang="en-US" sz="2400" b="1">
                <a:solidFill>
                  <a:srgbClr val="FF0000"/>
                </a:solidFill>
              </a:rPr>
              <a:t>清除中断标志</a:t>
            </a:r>
            <a:r>
              <a:rPr lang="en-US" altLang="zh-CN" sz="2400" b="1">
                <a:solidFill>
                  <a:srgbClr val="FF0000"/>
                </a:solidFill>
              </a:rPr>
              <a:t>(</a:t>
            </a:r>
            <a:r>
              <a:rPr lang="zh-CN" altLang="en-US" sz="2400" b="1">
                <a:solidFill>
                  <a:srgbClr val="FF0000"/>
                </a:solidFill>
              </a:rPr>
              <a:t>必需</a:t>
            </a:r>
            <a:r>
              <a:rPr lang="en-US" altLang="zh-CN" sz="2400" b="1">
                <a:solidFill>
                  <a:srgbClr val="FF0000"/>
                </a:solidFill>
              </a:rPr>
              <a:t>)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  <p:cxnSp>
        <p:nvCxnSpPr>
          <p:cNvPr id="6" name="直接箭头连接符 5"/>
          <p:cNvCxnSpPr>
            <a:endCxn id="5" idx="1"/>
          </p:cNvCxnSpPr>
          <p:nvPr/>
        </p:nvCxnSpPr>
        <p:spPr>
          <a:xfrm>
            <a:off x="7743190" y="4906010"/>
            <a:ext cx="75438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15346" r="8015"/>
          <a:stretch>
            <a:fillRect/>
          </a:stretch>
        </p:blipFill>
        <p:spPr>
          <a:xfrm>
            <a:off x="216535" y="1362710"/>
            <a:ext cx="3703955" cy="50628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173730" y="92075"/>
            <a:ext cx="5461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>
                <a:solidFill>
                  <a:srgbClr val="3333FF"/>
                </a:solidFill>
              </a:rPr>
              <a:t>STM32F103RBT6</a:t>
            </a:r>
            <a:r>
              <a:rPr lang="zh-CN" altLang="en-US" sz="3200" b="1">
                <a:solidFill>
                  <a:srgbClr val="3333FF"/>
                </a:solidFill>
              </a:rPr>
              <a:t>总线系统</a:t>
            </a:r>
            <a:endParaRPr lang="zh-CN" altLang="en-US" sz="3200" b="1">
              <a:solidFill>
                <a:srgbClr val="3333FF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56375" y="842645"/>
            <a:ext cx="392493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ts val="1000"/>
              </a:spcBef>
              <a:spcAft>
                <a:spcPts val="600"/>
              </a:spcAft>
            </a:pPr>
            <a:r>
              <a:rPr lang="zh-CN" altLang="en-US" sz="2800" b="1" i="0">
                <a:solidFill>
                  <a:srgbClr val="24292F"/>
                </a:solidFill>
                <a:latin typeface="ui-sans-serif"/>
                <a:ea typeface="ui-sans-serif"/>
              </a:rPr>
              <a:t>三条总线的对比</a:t>
            </a:r>
            <a:endParaRPr lang="zh-CN" altLang="en-US" sz="2800" b="1" i="0">
              <a:solidFill>
                <a:srgbClr val="24292F"/>
              </a:solidFill>
              <a:latin typeface="ui-sans-serif"/>
              <a:ea typeface="ui-sans-serif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4185920" y="1532255"/>
          <a:ext cx="7650480" cy="4652912"/>
        </p:xfrm>
        <a:graphic>
          <a:graphicData uri="http://schemas.openxmlformats.org/drawingml/2006/table">
            <a:tbl>
              <a:tblPr/>
              <a:tblGrid>
                <a:gridCol w="1220470"/>
                <a:gridCol w="2475230"/>
                <a:gridCol w="1333500"/>
                <a:gridCol w="2621280"/>
              </a:tblGrid>
              <a:tr h="0">
                <a:tc>
                  <a:txBody>
                    <a:bodyPr/>
                    <a:lstStyle/>
                    <a:p>
                      <a:pPr marL="0" indent="0" algn="ctr"/>
                      <a:r>
                        <a:rPr lang="zh-CN" altLang="en-US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总线</a:t>
                      </a:r>
                      <a:endParaRPr lang="zh-CN" altLang="en-US" sz="2400" b="1" i="0">
                        <a:solidFill>
                          <a:srgbClr val="24292F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zh-CN" altLang="en-US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全称</a:t>
                      </a:r>
                      <a:endParaRPr lang="zh-CN" altLang="en-US" sz="2400" b="1" i="0">
                        <a:solidFill>
                          <a:srgbClr val="24292F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zh-CN" altLang="en-US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最高频率</a:t>
                      </a:r>
                      <a:endParaRPr lang="zh-CN" altLang="en-US" sz="2400" b="1" i="0">
                        <a:solidFill>
                          <a:srgbClr val="24292F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zh-CN" altLang="en-US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挂载的外设</a:t>
                      </a:r>
                      <a:endParaRPr lang="zh-CN" altLang="en-US" sz="2400" b="1" i="0">
                        <a:solidFill>
                          <a:srgbClr val="24292F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/>
                      <a:r>
                        <a:rPr lang="en-US" altLang="zh-CN" sz="24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AHB</a:t>
                      </a:r>
                      <a:endParaRPr lang="en-US" altLang="zh-CN" sz="2400" b="1" i="0">
                        <a:solidFill>
                          <a:srgbClr val="24292F"/>
                        </a:solidFill>
                        <a:latin typeface="Times New Roman" panose="02020603050405020304" pitchFamily="18" charset="0"/>
                        <a:ea typeface="ui-sans-serif"/>
                        <a:cs typeface="Times New Roman" panose="02020603050405020304" pitchFamily="18" charset="0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altLang="zh-CN" sz="24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Advanced High-performance Bus</a:t>
                      </a:r>
                      <a:endParaRPr lang="en-US" altLang="zh-CN" sz="2400" b="1" i="0">
                        <a:solidFill>
                          <a:srgbClr val="24292F"/>
                        </a:solidFill>
                        <a:latin typeface="Times New Roman" panose="02020603050405020304" pitchFamily="18" charset="0"/>
                        <a:ea typeface="ui-sans-serif"/>
                        <a:cs typeface="Times New Roman" panose="02020603050405020304" pitchFamily="18" charset="0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altLang="zh-CN" sz="24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72 MHz</a:t>
                      </a:r>
                      <a:endParaRPr lang="en-US" altLang="zh-CN" sz="2400" b="1" i="0">
                        <a:solidFill>
                          <a:srgbClr val="24292F"/>
                        </a:solidFill>
                        <a:latin typeface="Times New Roman" panose="02020603050405020304" pitchFamily="18" charset="0"/>
                        <a:ea typeface="ui-sans-serif"/>
                        <a:cs typeface="Times New Roman" panose="02020603050405020304" pitchFamily="18" charset="0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altLang="zh-CN" sz="2400" b="1" i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DMA</a:t>
                      </a:r>
                      <a:r>
                        <a:rPr lang="zh-CN" altLang="en-US" sz="2400" b="1" i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、内存</a:t>
                      </a:r>
                      <a:r>
                        <a:rPr lang="en-US" altLang="zh-CN" sz="2400" b="1" i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(Flash/SRAM)</a:t>
                      </a:r>
                      <a:r>
                        <a:rPr lang="zh-CN" altLang="en-US" sz="2400" b="1" i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2400" b="1" i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RCC</a:t>
                      </a:r>
                      <a:endParaRPr lang="en-US" altLang="zh-CN" sz="2400" b="1" i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/>
                      <a:r>
                        <a:rPr lang="en-US" altLang="zh-CN" sz="24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APB2</a:t>
                      </a:r>
                      <a:endParaRPr lang="en-US" altLang="zh-CN" sz="2400" b="1" i="0">
                        <a:solidFill>
                          <a:srgbClr val="24292F"/>
                        </a:solidFill>
                        <a:latin typeface="Times New Roman" panose="02020603050405020304" pitchFamily="18" charset="0"/>
                        <a:ea typeface="ui-sans-serif"/>
                        <a:cs typeface="Times New Roman" panose="02020603050405020304" pitchFamily="18" charset="0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altLang="zh-CN" sz="24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Advanced Peripheral Bus 2</a:t>
                      </a:r>
                      <a:endParaRPr lang="en-US" altLang="zh-CN" sz="2400" b="1" i="0">
                        <a:solidFill>
                          <a:srgbClr val="24292F"/>
                        </a:solidFill>
                        <a:latin typeface="Times New Roman" panose="02020603050405020304" pitchFamily="18" charset="0"/>
                        <a:ea typeface="ui-sans-serif"/>
                        <a:cs typeface="Times New Roman" panose="02020603050405020304" pitchFamily="18" charset="0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altLang="zh-CN" sz="24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72 MHz</a:t>
                      </a:r>
                      <a:endParaRPr lang="en-US" altLang="zh-CN" sz="2400" b="1" i="0">
                        <a:solidFill>
                          <a:srgbClr val="24292F"/>
                        </a:solidFill>
                        <a:latin typeface="Times New Roman" panose="02020603050405020304" pitchFamily="18" charset="0"/>
                        <a:ea typeface="ui-sans-serif"/>
                        <a:cs typeface="Times New Roman" panose="02020603050405020304" pitchFamily="18" charset="0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altLang="zh-CN" sz="24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GPIO</a:t>
                      </a:r>
                      <a:r>
                        <a:rPr lang="zh-CN" altLang="en-US" sz="24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24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USART1</a:t>
                      </a:r>
                      <a:r>
                        <a:rPr lang="zh-CN" altLang="en-US" sz="24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24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SPI1</a:t>
                      </a:r>
                      <a:r>
                        <a:rPr lang="zh-CN" altLang="en-US" sz="24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24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TIM1</a:t>
                      </a:r>
                      <a:r>
                        <a:rPr lang="zh-CN" altLang="en-US" sz="24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24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ADC</a:t>
                      </a:r>
                      <a:r>
                        <a:rPr lang="zh-CN" altLang="en-US" sz="24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24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EXTI</a:t>
                      </a:r>
                      <a:r>
                        <a:rPr lang="zh-CN" altLang="en-US" sz="24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24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AFIO</a:t>
                      </a:r>
                      <a:endParaRPr lang="en-US" altLang="zh-CN" sz="2400" b="1" i="0">
                        <a:solidFill>
                          <a:srgbClr val="24292F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/>
                      <a:r>
                        <a:rPr lang="en-US" altLang="zh-CN" sz="24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APB1</a:t>
                      </a:r>
                      <a:endParaRPr lang="en-US" altLang="zh-CN" sz="2400" b="1" i="0">
                        <a:solidFill>
                          <a:srgbClr val="24292F"/>
                        </a:solidFill>
                        <a:latin typeface="Times New Roman" panose="02020603050405020304" pitchFamily="18" charset="0"/>
                        <a:ea typeface="ui-sans-serif"/>
                        <a:cs typeface="Times New Roman" panose="02020603050405020304" pitchFamily="18" charset="0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altLang="zh-CN" sz="24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Advanced Peripheral Bus 1</a:t>
                      </a:r>
                      <a:endParaRPr lang="en-US" altLang="zh-CN" sz="2400" b="1" i="0">
                        <a:solidFill>
                          <a:srgbClr val="24292F"/>
                        </a:solidFill>
                        <a:latin typeface="Times New Roman" panose="02020603050405020304" pitchFamily="18" charset="0"/>
                        <a:ea typeface="ui-sans-serif"/>
                        <a:cs typeface="Times New Roman" panose="02020603050405020304" pitchFamily="18" charset="0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altLang="zh-CN" sz="24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36 MHz</a:t>
                      </a:r>
                      <a:endParaRPr lang="en-US" altLang="zh-CN" sz="2400" b="1" i="0">
                        <a:solidFill>
                          <a:srgbClr val="24292F"/>
                        </a:solidFill>
                        <a:latin typeface="Times New Roman" panose="02020603050405020304" pitchFamily="18" charset="0"/>
                        <a:ea typeface="ui-sans-serif"/>
                        <a:cs typeface="Times New Roman" panose="02020603050405020304" pitchFamily="18" charset="0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altLang="zh-CN" sz="2400" b="1" i="0" dirty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USART2/3</a:t>
                      </a:r>
                      <a:r>
                        <a:rPr lang="zh-CN" altLang="en-US" sz="2400" b="1" i="0" dirty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2400" b="1" i="0" dirty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SPI2</a:t>
                      </a:r>
                      <a:r>
                        <a:rPr lang="zh-CN" altLang="en-US" sz="2400" b="1" i="0" dirty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2400" b="1" i="0" dirty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TIM2/3/4</a:t>
                      </a:r>
                      <a:r>
                        <a:rPr lang="zh-CN" altLang="en-US" sz="2400" b="1" i="0" dirty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2400" b="1" i="0" dirty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I2C</a:t>
                      </a:r>
                      <a:r>
                        <a:rPr lang="zh-CN" altLang="en-US" sz="2400" b="1" i="0" dirty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2400" b="1" i="0" dirty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CAN</a:t>
                      </a:r>
                      <a:r>
                        <a:rPr lang="zh-CN" altLang="en-US" sz="2400" b="1" i="0" dirty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2400" b="1" i="0" dirty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USB</a:t>
                      </a:r>
                      <a:endParaRPr lang="en-US" altLang="zh-CN" sz="2400" b="1" i="0" dirty="0">
                        <a:solidFill>
                          <a:srgbClr val="24292F"/>
                        </a:solidFill>
                        <a:latin typeface="Times New Roman" panose="02020603050405020304" pitchFamily="18" charset="0"/>
                        <a:ea typeface="ui-sans-serif"/>
                        <a:cs typeface="Times New Roman" panose="02020603050405020304" pitchFamily="18" charset="0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1315" y="213360"/>
            <a:ext cx="6426835" cy="915035"/>
          </a:xfrm>
        </p:spPr>
        <p:txBody>
          <a:bodyPr>
            <a:normAutofit/>
          </a:bodyPr>
          <a:lstStyle/>
          <a:p>
            <a:pPr algn="ctr"/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DMA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、内存都需要高速数据传输。</a:t>
            </a:r>
            <a:endParaRPr lang="zh-CN" altLang="en-US" sz="2800" b="1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08630" y="1189990"/>
            <a:ext cx="6574155" cy="49968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lstStyle/>
          <a:p>
            <a:r>
              <a:rPr lang="en-US" altLang="zh-CN" sz="2400" b="1"/>
              <a:t>             </a:t>
            </a:r>
            <a:r>
              <a:rPr lang="en-US" altLang="en-US" sz="2400" b="1"/>
              <a:t>┌────┐</a:t>
            </a:r>
            <a:endParaRPr lang="en-US" altLang="en-US" sz="2400" b="1"/>
          </a:p>
          <a:p>
            <a:r>
              <a:rPr lang="en-US" altLang="zh-CN" sz="2400" b="1"/>
              <a:t>             </a:t>
            </a:r>
            <a:r>
              <a:rPr lang="en-US" altLang="en-US" sz="2400" b="1"/>
              <a:t>│</a:t>
            </a:r>
            <a:r>
              <a:rPr lang="en-US" altLang="zh-CN" sz="2400" b="1"/>
              <a:t>   CPU     </a:t>
            </a:r>
            <a:r>
              <a:rPr lang="en-US" altLang="en-US" sz="2400" b="1"/>
              <a:t>│</a:t>
            </a:r>
            <a:endParaRPr lang="en-US" altLang="en-US" sz="2400" b="1"/>
          </a:p>
          <a:p>
            <a:r>
              <a:rPr lang="en-US" altLang="zh-CN" sz="2400" b="1"/>
              <a:t>             </a:t>
            </a:r>
            <a:r>
              <a:rPr lang="en-US" altLang="en-US" sz="2400" b="1"/>
              <a:t>└──┬─┘</a:t>
            </a:r>
            <a:endParaRPr lang="en-US" altLang="en-US" sz="2400" b="1"/>
          </a:p>
          <a:p>
            <a:r>
              <a:rPr lang="en-US" altLang="zh-CN" sz="2400" b="1"/>
              <a:t>                        </a:t>
            </a:r>
            <a:r>
              <a:rPr lang="en-US" altLang="en-US" sz="2400" b="1"/>
              <a:t>│</a:t>
            </a:r>
            <a:endParaRPr lang="en-US" altLang="en-US" sz="2400" b="1"/>
          </a:p>
          <a:p>
            <a:r>
              <a:rPr lang="en-US" altLang="zh-CN" sz="2400" b="1"/>
              <a:t>             </a:t>
            </a:r>
            <a:r>
              <a:rPr lang="en-US" altLang="en-US" sz="2400" b="1"/>
              <a:t>┌──┴─┐</a:t>
            </a:r>
            <a:endParaRPr lang="en-US" altLang="en-US" sz="2400" b="1"/>
          </a:p>
          <a:p>
            <a:r>
              <a:rPr lang="en-US" altLang="zh-CN" sz="2400" b="1"/>
              <a:t>             </a:t>
            </a:r>
            <a:r>
              <a:rPr lang="en-US" altLang="en-US" sz="2400" b="1"/>
              <a:t>│</a:t>
            </a:r>
            <a:r>
              <a:rPr lang="en-US" altLang="zh-CN" sz="2400" b="1"/>
              <a:t>   AHB    </a:t>
            </a:r>
            <a:r>
              <a:rPr lang="en-US" altLang="en-US" sz="2400" b="1"/>
              <a:t>│</a:t>
            </a:r>
            <a:r>
              <a:rPr lang="en-US" altLang="zh-CN" sz="2400" b="1"/>
              <a:t>  </a:t>
            </a:r>
            <a:r>
              <a:rPr lang="zh-CN" altLang="en-US" sz="2400" b="1"/>
              <a:t>高速总线</a:t>
            </a:r>
            <a:endParaRPr lang="zh-CN" altLang="en-US" sz="2400" b="1"/>
          </a:p>
          <a:p>
            <a:r>
              <a:rPr lang="en-US" altLang="zh-CN" sz="2400" b="1"/>
              <a:t>             </a:t>
            </a:r>
            <a:r>
              <a:rPr lang="en-US" altLang="en-US" sz="2400" b="1"/>
              <a:t>└┬</a:t>
            </a:r>
            <a:r>
              <a:rPr lang="en-US" altLang="en-US" sz="2400" b="1">
                <a:sym typeface="+mn-ea"/>
              </a:rPr>
              <a:t>─</a:t>
            </a:r>
            <a:r>
              <a:rPr lang="en-US" altLang="en-US" sz="2400" b="1"/>
              <a:t>┬┬┘</a:t>
            </a:r>
            <a:endParaRPr lang="en-US" altLang="en-US" sz="2400" b="1"/>
          </a:p>
          <a:p>
            <a:r>
              <a:rPr lang="en-US" altLang="zh-CN" sz="2400" b="1"/>
              <a:t>              </a:t>
            </a:r>
            <a:r>
              <a:rPr lang="en-US" altLang="en-US" sz="2400" b="1"/>
              <a:t>│</a:t>
            </a:r>
            <a:r>
              <a:rPr lang="en-US" altLang="zh-CN" sz="2400" b="1"/>
              <a:t>    </a:t>
            </a:r>
            <a:r>
              <a:rPr lang="en-US" altLang="en-US" sz="2400" b="1"/>
              <a:t>│</a:t>
            </a:r>
            <a:r>
              <a:rPr lang="en-US" altLang="zh-CN" sz="2400" b="1"/>
              <a:t>   </a:t>
            </a:r>
            <a:r>
              <a:rPr lang="en-US" altLang="en-US" sz="2400" b="1"/>
              <a:t>│</a:t>
            </a:r>
            <a:endParaRPr lang="en-US" altLang="en-US" sz="2400" b="1"/>
          </a:p>
          <a:p>
            <a:r>
              <a:rPr lang="en-US" altLang="zh-CN" sz="2400" b="1"/>
              <a:t>       </a:t>
            </a:r>
            <a:r>
              <a:rPr lang="en-US" altLang="en-US" sz="2400" b="1"/>
              <a:t>┌─┘</a:t>
            </a:r>
            <a:r>
              <a:rPr lang="en-US" altLang="zh-CN" sz="2400" b="1"/>
              <a:t>    </a:t>
            </a:r>
            <a:r>
              <a:rPr lang="en-US" altLang="en-US" sz="2400" b="1"/>
              <a:t>│</a:t>
            </a:r>
            <a:r>
              <a:rPr lang="en-US" altLang="zh-CN" sz="2400" b="1"/>
              <a:t>   </a:t>
            </a:r>
            <a:r>
              <a:rPr lang="en-US" altLang="en-US" sz="2400" b="1"/>
              <a:t>└─</a:t>
            </a:r>
            <a:r>
              <a:rPr lang="en-US" altLang="en-US" sz="2400" b="1">
                <a:sym typeface="+mn-ea"/>
              </a:rPr>
              <a:t>─</a:t>
            </a:r>
            <a:r>
              <a:rPr lang="en-US" altLang="en-US" sz="2400" b="1"/>
              <a:t>┐</a:t>
            </a:r>
            <a:endParaRPr lang="en-US" altLang="en-US" sz="2400" b="1"/>
          </a:p>
          <a:p>
            <a:r>
              <a:rPr lang="en-US" altLang="zh-CN" sz="2400" b="1"/>
              <a:t>       </a:t>
            </a:r>
            <a:r>
              <a:rPr lang="en-US" altLang="en-US" sz="2400" b="1"/>
              <a:t>▼</a:t>
            </a:r>
            <a:r>
              <a:rPr lang="en-US" altLang="zh-CN" sz="2400" b="1"/>
              <a:t>           </a:t>
            </a:r>
            <a:r>
              <a:rPr lang="en-US" altLang="en-US" sz="2400" b="1"/>
              <a:t>▼</a:t>
            </a:r>
            <a:r>
              <a:rPr lang="en-US" altLang="zh-CN" sz="2400" b="1"/>
              <a:t>              </a:t>
            </a:r>
            <a:r>
              <a:rPr lang="en-US" altLang="en-US" sz="2400" b="1"/>
              <a:t>▼</a:t>
            </a:r>
            <a:endParaRPr lang="en-US" altLang="en-US" sz="2400" b="1"/>
          </a:p>
          <a:p>
            <a:r>
              <a:rPr lang="en-US" altLang="en-US" sz="2400" b="1"/>
              <a:t>┌──┐</a:t>
            </a:r>
            <a:r>
              <a:rPr lang="en-US" altLang="zh-CN" sz="2400" b="1"/>
              <a:t> </a:t>
            </a:r>
            <a:r>
              <a:rPr lang="en-US" altLang="en-US" sz="2400" b="1"/>
              <a:t>┌───┐</a:t>
            </a:r>
            <a:r>
              <a:rPr lang="en-US" altLang="zh-CN" sz="2400" b="1"/>
              <a:t> </a:t>
            </a:r>
            <a:r>
              <a:rPr lang="en-US" altLang="en-US" sz="2400" b="1"/>
              <a:t>┌─</a:t>
            </a:r>
            <a:r>
              <a:rPr lang="en-US" altLang="en-US" sz="2400" b="1">
                <a:sym typeface="+mn-ea"/>
              </a:rPr>
              <a:t>─</a:t>
            </a:r>
            <a:r>
              <a:rPr lang="en-US" altLang="en-US" sz="2400" b="1"/>
              <a:t>─┐</a:t>
            </a:r>
            <a:endParaRPr lang="en-US" altLang="en-US" sz="2400" b="1"/>
          </a:p>
          <a:p>
            <a:r>
              <a:rPr lang="en-US" altLang="en-US" sz="2400" b="1"/>
              <a:t>│</a:t>
            </a:r>
            <a:r>
              <a:rPr lang="en-US" altLang="zh-CN" sz="2400" b="1">
                <a:sym typeface="+mn-ea"/>
              </a:rPr>
              <a:t>SRAM</a:t>
            </a:r>
            <a:r>
              <a:rPr lang="en-US" altLang="en-US" sz="2400" b="1"/>
              <a:t>│</a:t>
            </a:r>
            <a:r>
              <a:rPr lang="en-US" altLang="zh-CN" sz="2400" b="1"/>
              <a:t> </a:t>
            </a:r>
            <a:r>
              <a:rPr lang="en-US" altLang="en-US" sz="2400" b="1"/>
              <a:t>│</a:t>
            </a:r>
            <a:r>
              <a:rPr lang="en-US" altLang="zh-CN" sz="2400" b="1">
                <a:sym typeface="+mn-ea"/>
              </a:rPr>
              <a:t>Flash</a:t>
            </a:r>
            <a:r>
              <a:rPr lang="en-US" altLang="zh-CN" sz="2400" b="1"/>
              <a:t> </a:t>
            </a:r>
            <a:r>
              <a:rPr lang="en-US" altLang="en-US" sz="2400" b="1"/>
              <a:t>│</a:t>
            </a:r>
            <a:r>
              <a:rPr lang="en-US" altLang="zh-CN" sz="2400" b="1"/>
              <a:t> </a:t>
            </a:r>
            <a:r>
              <a:rPr lang="en-US" altLang="en-US" sz="2400" b="1"/>
              <a:t>│</a:t>
            </a:r>
            <a:r>
              <a:rPr lang="en-US" altLang="zh-CN" sz="2400" b="1"/>
              <a:t> DMA</a:t>
            </a:r>
            <a:r>
              <a:rPr lang="en-US" altLang="en-US" sz="2400" b="1"/>
              <a:t>│</a:t>
            </a:r>
            <a:endParaRPr lang="en-US" altLang="zh-CN" sz="2400" b="1"/>
          </a:p>
          <a:p>
            <a:r>
              <a:rPr lang="en-US" altLang="en-US" sz="2400" b="1"/>
              <a:t>└──┘</a:t>
            </a:r>
            <a:r>
              <a:rPr lang="en-US" altLang="zh-CN" sz="2400" b="1"/>
              <a:t> </a:t>
            </a:r>
            <a:r>
              <a:rPr lang="en-US" altLang="en-US" sz="2400" b="1"/>
              <a:t>└───┘</a:t>
            </a:r>
            <a:r>
              <a:rPr lang="en-US" altLang="zh-CN" sz="2400" b="1"/>
              <a:t> </a:t>
            </a:r>
            <a:r>
              <a:rPr lang="en-US" altLang="en-US" sz="2400" b="1"/>
              <a:t>└───┘</a:t>
            </a:r>
            <a:endParaRPr lang="en-US" altLang="zh-CN" sz="2400" b="1"/>
          </a:p>
          <a:p>
            <a:endParaRPr lang="zh-CN" altLang="en-US" sz="2400" b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2450" y="113665"/>
            <a:ext cx="1654175" cy="915035"/>
          </a:xfrm>
        </p:spPr>
        <p:txBody>
          <a:bodyPr/>
          <a:lstStyle/>
          <a:p>
            <a:r>
              <a:rPr lang="en-US" altLang="zh-CN" sz="32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DMA</a:t>
            </a:r>
            <a:endParaRPr lang="en-US" altLang="zh-CN" sz="3200" b="1">
              <a:solidFill>
                <a:srgbClr val="3333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2575560" y="288925"/>
          <a:ext cx="8682355" cy="1295124"/>
        </p:xfrm>
        <a:graphic>
          <a:graphicData uri="http://schemas.openxmlformats.org/drawingml/2006/table">
            <a:tbl>
              <a:tblPr/>
              <a:tblGrid>
                <a:gridCol w="1744980"/>
                <a:gridCol w="6937375"/>
              </a:tblGrid>
              <a:tr h="0">
                <a:tc>
                  <a:txBody>
                    <a:bodyPr/>
                    <a:lstStyle/>
                    <a:p>
                      <a:pPr marL="0" indent="0"/>
                      <a:r>
                        <a:rPr lang="zh-CN" altLang="en-US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英文全称</a:t>
                      </a:r>
                      <a:endParaRPr lang="zh-CN" altLang="en-US" sz="2400" b="1" i="0">
                        <a:solidFill>
                          <a:srgbClr val="24292F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altLang="zh-CN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Direct Memory Access</a:t>
                      </a:r>
                      <a:endParaRPr lang="en-US" altLang="zh-CN" sz="2400" b="1" i="0">
                        <a:solidFill>
                          <a:srgbClr val="24292F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/>
                      <a:r>
                        <a:rPr lang="zh-CN" altLang="en-US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中文名</a:t>
                      </a:r>
                      <a:endParaRPr lang="zh-CN" altLang="en-US" sz="2400" b="1" i="0">
                        <a:solidFill>
                          <a:srgbClr val="24292F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zh-CN" altLang="en-US" sz="2400" b="1" i="0">
                          <a:solidFill>
                            <a:srgbClr val="FF0000"/>
                          </a:solidFill>
                          <a:latin typeface="ui-sans-serif"/>
                          <a:ea typeface="ui-sans-serif"/>
                        </a:rPr>
                        <a:t>直接</a:t>
                      </a:r>
                      <a:r>
                        <a:rPr lang="zh-CN" altLang="en-US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存储器访问</a:t>
                      </a:r>
                      <a:endParaRPr lang="zh-CN" altLang="en-US" sz="2400" b="1" i="0">
                        <a:solidFill>
                          <a:srgbClr val="24292F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/>
                      <a:r>
                        <a:rPr lang="zh-CN" altLang="en-US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一句话功能</a:t>
                      </a:r>
                      <a:endParaRPr lang="zh-CN" altLang="en-US" sz="2400" b="1" i="0">
                        <a:solidFill>
                          <a:srgbClr val="24292F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zh-CN" altLang="en-US" sz="2400" b="1" i="0" dirty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不经过 </a:t>
                      </a:r>
                      <a:r>
                        <a:rPr lang="en-US" altLang="zh-CN" sz="2400" b="1" i="0" dirty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CPU</a:t>
                      </a:r>
                      <a:r>
                        <a:rPr lang="zh-CN" altLang="en-US" sz="2400" b="1" i="0" dirty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，让数据在</a:t>
                      </a:r>
                      <a:r>
                        <a:rPr lang="zh-CN" altLang="en-US" sz="2400" b="1" i="0" dirty="0">
                          <a:solidFill>
                            <a:srgbClr val="3333FF"/>
                          </a:solidFill>
                          <a:latin typeface="ui-sans-serif"/>
                          <a:ea typeface="ui-sans-serif"/>
                        </a:rPr>
                        <a:t>外设</a:t>
                      </a:r>
                      <a:r>
                        <a:rPr lang="zh-CN" altLang="en-US" sz="2400" b="1" i="0" dirty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和</a:t>
                      </a:r>
                      <a:r>
                        <a:rPr lang="zh-CN" altLang="en-US" sz="2400" b="1" i="0" dirty="0">
                          <a:solidFill>
                            <a:srgbClr val="3333FF"/>
                          </a:solidFill>
                          <a:latin typeface="ui-sans-serif"/>
                          <a:ea typeface="ui-sans-serif"/>
                        </a:rPr>
                        <a:t>内存</a:t>
                      </a:r>
                      <a:r>
                        <a:rPr lang="zh-CN" altLang="en-US" sz="2400" b="1" i="0" dirty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之间自动搬运</a:t>
                      </a:r>
                      <a:endParaRPr lang="zh-CN" altLang="en-US" sz="2400" b="1" i="0" dirty="0">
                        <a:solidFill>
                          <a:srgbClr val="24292F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275590" y="2367280"/>
            <a:ext cx="5307330" cy="3784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zh-CN" altLang="en-US" sz="2000" b="1"/>
              <a:t>场景：</a:t>
            </a:r>
            <a:r>
              <a:rPr lang="en-US" altLang="zh-CN" sz="2000" b="1"/>
              <a:t>ADC </a:t>
            </a:r>
            <a:r>
              <a:rPr lang="zh-CN" altLang="en-US" sz="2000" b="1"/>
              <a:t>采集</a:t>
            </a:r>
            <a:r>
              <a:rPr lang="en-US" altLang="zh-CN" sz="2000" b="1"/>
              <a:t> 1000 </a:t>
            </a:r>
            <a:r>
              <a:rPr lang="zh-CN" altLang="en-US" sz="2000" b="1"/>
              <a:t>个数据存到数组中</a:t>
            </a:r>
            <a:endParaRPr lang="zh-CN" altLang="en-US" sz="2000" b="1"/>
          </a:p>
          <a:p>
            <a:endParaRPr lang="en-US" altLang="zh-CN" sz="2000" b="1"/>
          </a:p>
          <a:p>
            <a:r>
              <a:rPr lang="en-US" altLang="zh-CN" sz="2000" b="1"/>
              <a:t>CPU</a:t>
            </a:r>
            <a:r>
              <a:rPr lang="zh-CN" altLang="en-US" sz="2000" b="1"/>
              <a:t>的工作（全程被占用）：</a:t>
            </a:r>
            <a:endParaRPr lang="zh-CN" altLang="en-US" sz="2000" b="1"/>
          </a:p>
          <a:p>
            <a:r>
              <a:rPr lang="en-US" altLang="en-US" sz="2000" b="1"/>
              <a:t>├──</a:t>
            </a:r>
            <a:r>
              <a:rPr lang="en-US" altLang="zh-CN" sz="2000" b="1"/>
              <a:t> </a:t>
            </a:r>
            <a:r>
              <a:rPr lang="zh-CN" altLang="en-US" sz="2000" b="1"/>
              <a:t>第</a:t>
            </a:r>
            <a:r>
              <a:rPr lang="en-US" altLang="zh-CN" sz="2000" b="1"/>
              <a:t>1</a:t>
            </a:r>
            <a:r>
              <a:rPr lang="zh-CN" altLang="en-US" sz="2000" b="1"/>
              <a:t>次：读</a:t>
            </a:r>
            <a:r>
              <a:rPr lang="en-US" altLang="zh-CN" sz="2000" b="1"/>
              <a:t>ADC</a:t>
            </a:r>
            <a:r>
              <a:rPr lang="zh-CN" altLang="en-US" sz="2000" b="1"/>
              <a:t>寄存器</a:t>
            </a:r>
            <a:r>
              <a:rPr lang="en-US" altLang="zh-CN" sz="2000" b="1"/>
              <a:t> </a:t>
            </a:r>
            <a:r>
              <a:rPr lang="en-US" altLang="en-US" sz="2000" b="1"/>
              <a:t>→</a:t>
            </a:r>
            <a:r>
              <a:rPr lang="en-US" altLang="zh-CN" sz="2000" b="1"/>
              <a:t> </a:t>
            </a:r>
            <a:r>
              <a:rPr lang="zh-CN" altLang="en-US" sz="2000" b="1"/>
              <a:t>写到数组</a:t>
            </a:r>
            <a:r>
              <a:rPr lang="en-US" altLang="zh-CN" sz="2000" b="1"/>
              <a:t>[0]</a:t>
            </a:r>
            <a:endParaRPr lang="en-US" altLang="zh-CN" sz="2000" b="1"/>
          </a:p>
          <a:p>
            <a:r>
              <a:rPr lang="en-US" altLang="en-US" sz="2000" b="1"/>
              <a:t>├──</a:t>
            </a:r>
            <a:r>
              <a:rPr lang="en-US" altLang="zh-CN" sz="2000" b="1"/>
              <a:t> </a:t>
            </a:r>
            <a:r>
              <a:rPr lang="zh-CN" altLang="en-US" sz="2000" b="1"/>
              <a:t>第</a:t>
            </a:r>
            <a:r>
              <a:rPr lang="en-US" altLang="zh-CN" sz="2000" b="1"/>
              <a:t>2</a:t>
            </a:r>
            <a:r>
              <a:rPr lang="zh-CN" altLang="en-US" sz="2000" b="1"/>
              <a:t>次：读</a:t>
            </a:r>
            <a:r>
              <a:rPr lang="en-US" altLang="zh-CN" sz="2000" b="1"/>
              <a:t>ADC</a:t>
            </a:r>
            <a:r>
              <a:rPr lang="zh-CN" altLang="en-US" sz="2000" b="1"/>
              <a:t>寄存器</a:t>
            </a:r>
            <a:r>
              <a:rPr lang="en-US" altLang="zh-CN" sz="2000" b="1"/>
              <a:t> </a:t>
            </a:r>
            <a:r>
              <a:rPr lang="en-US" altLang="en-US" sz="2000" b="1"/>
              <a:t>→</a:t>
            </a:r>
            <a:r>
              <a:rPr lang="en-US" altLang="zh-CN" sz="2000" b="1"/>
              <a:t> </a:t>
            </a:r>
            <a:r>
              <a:rPr lang="zh-CN" altLang="en-US" sz="2000" b="1"/>
              <a:t>写到数组</a:t>
            </a:r>
            <a:r>
              <a:rPr lang="en-US" altLang="zh-CN" sz="2000" b="1"/>
              <a:t>[1]</a:t>
            </a:r>
            <a:endParaRPr lang="en-US" altLang="zh-CN" sz="2000" b="1"/>
          </a:p>
          <a:p>
            <a:r>
              <a:rPr lang="en-US" altLang="en-US" sz="2000" b="1"/>
              <a:t>├──</a:t>
            </a:r>
            <a:r>
              <a:rPr lang="en-US" altLang="zh-CN" sz="2000" b="1"/>
              <a:t> </a:t>
            </a:r>
            <a:r>
              <a:rPr lang="zh-CN" altLang="en-US" sz="2000" b="1"/>
              <a:t>第</a:t>
            </a:r>
            <a:r>
              <a:rPr lang="en-US" altLang="zh-CN" sz="2000" b="1"/>
              <a:t>3</a:t>
            </a:r>
            <a:r>
              <a:rPr lang="zh-CN" altLang="en-US" sz="2000" b="1"/>
              <a:t>次：读</a:t>
            </a:r>
            <a:r>
              <a:rPr lang="en-US" altLang="zh-CN" sz="2000" b="1"/>
              <a:t>ADC</a:t>
            </a:r>
            <a:r>
              <a:rPr lang="zh-CN" altLang="en-US" sz="2000" b="1"/>
              <a:t>寄存器</a:t>
            </a:r>
            <a:r>
              <a:rPr lang="en-US" altLang="zh-CN" sz="2000" b="1"/>
              <a:t> </a:t>
            </a:r>
            <a:r>
              <a:rPr lang="en-US" altLang="en-US" sz="2000" b="1"/>
              <a:t>→</a:t>
            </a:r>
            <a:r>
              <a:rPr lang="en-US" altLang="zh-CN" sz="2000" b="1"/>
              <a:t> </a:t>
            </a:r>
            <a:r>
              <a:rPr lang="zh-CN" altLang="en-US" sz="2000" b="1"/>
              <a:t>写到数组</a:t>
            </a:r>
            <a:r>
              <a:rPr lang="en-US" altLang="zh-CN" sz="2000" b="1"/>
              <a:t>[2]</a:t>
            </a:r>
            <a:endParaRPr lang="en-US" altLang="zh-CN" sz="2000" b="1"/>
          </a:p>
          <a:p>
            <a:r>
              <a:rPr lang="en-US" altLang="en-US" sz="2000" b="1"/>
              <a:t>│</a:t>
            </a:r>
            <a:r>
              <a:rPr lang="en-US" altLang="zh-CN" sz="2000" b="1"/>
              <a:t>   ...</a:t>
            </a:r>
            <a:endParaRPr lang="en-US" altLang="zh-CN" sz="2000" b="1"/>
          </a:p>
          <a:p>
            <a:r>
              <a:rPr lang="en-US" altLang="en-US" sz="2000" b="1"/>
              <a:t>└──</a:t>
            </a:r>
            <a:r>
              <a:rPr lang="en-US" altLang="zh-CN" sz="2000" b="1"/>
              <a:t> </a:t>
            </a:r>
            <a:r>
              <a:rPr lang="zh-CN" altLang="en-US" sz="2000" b="1"/>
              <a:t>第</a:t>
            </a:r>
            <a:r>
              <a:rPr lang="en-US" altLang="zh-CN" sz="2000" b="1"/>
              <a:t>1000</a:t>
            </a:r>
            <a:r>
              <a:rPr lang="zh-CN" altLang="en-US" sz="2000" b="1"/>
              <a:t>次：</a:t>
            </a:r>
            <a:r>
              <a:rPr lang="en-US" altLang="zh-CN" sz="2000" b="1">
                <a:sym typeface="+mn-ea"/>
              </a:rPr>
              <a:t>...</a:t>
            </a:r>
            <a:r>
              <a:rPr lang="en-US" altLang="zh-CN" sz="2000" b="1"/>
              <a:t> </a:t>
            </a:r>
            <a:r>
              <a:rPr lang="en-US" altLang="en-US" sz="2000" b="1"/>
              <a:t>→</a:t>
            </a:r>
            <a:r>
              <a:rPr lang="en-US" altLang="zh-CN" sz="2000" b="1"/>
              <a:t> </a:t>
            </a:r>
            <a:r>
              <a:rPr lang="zh-CN" altLang="en-US" sz="2000" b="1"/>
              <a:t>写到数组</a:t>
            </a:r>
            <a:r>
              <a:rPr lang="en-US" altLang="zh-CN" sz="2000" b="1"/>
              <a:t>[999]</a:t>
            </a:r>
            <a:endParaRPr lang="en-US" altLang="zh-CN" sz="2000" b="1"/>
          </a:p>
          <a:p>
            <a:endParaRPr lang="en-US" altLang="zh-CN" sz="2000" b="1"/>
          </a:p>
          <a:p>
            <a:r>
              <a:rPr lang="en-US" altLang="zh-CN" sz="2000" b="1"/>
              <a:t>CPU </a:t>
            </a:r>
            <a:r>
              <a:rPr lang="zh-CN" altLang="en-US" sz="2000" b="1"/>
              <a:t>做了</a:t>
            </a:r>
            <a:r>
              <a:rPr lang="en-US" altLang="zh-CN" sz="2000" b="1"/>
              <a:t>1000</a:t>
            </a:r>
            <a:r>
              <a:rPr lang="zh-CN" altLang="en-US" sz="2000" b="1"/>
              <a:t>次搬运工作，期间什么别的事都干不了！</a:t>
            </a:r>
            <a:endParaRPr lang="zh-CN" altLang="en-US" sz="2000" b="1"/>
          </a:p>
          <a:p>
            <a:r>
              <a:rPr lang="en-US" altLang="zh-CN" sz="2000" b="1"/>
              <a:t>CPU</a:t>
            </a:r>
            <a:r>
              <a:rPr lang="zh-CN" altLang="en-US" sz="2000" b="1"/>
              <a:t>：</a:t>
            </a:r>
            <a:r>
              <a:rPr lang="en-US" altLang="zh-CN" sz="2000" b="1"/>
              <a:t>"</a:t>
            </a:r>
            <a:r>
              <a:rPr lang="zh-CN" altLang="en-US" sz="2000" b="1"/>
              <a:t>我堂堂处理器，沦为搬运工？</a:t>
            </a:r>
            <a:r>
              <a:rPr lang="en-US" altLang="zh-CN" sz="2000" b="1"/>
              <a:t>" </a:t>
            </a:r>
            <a:r>
              <a:rPr lang="zh-CN" altLang="en-US" sz="2000" b="1"/>
              <a:t>😤</a:t>
            </a:r>
            <a:endParaRPr lang="zh-CN" altLang="en-US" sz="2000" b="1"/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552450" y="1816100"/>
            <a:ext cx="20231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</a:rPr>
              <a:t>无</a:t>
            </a:r>
            <a:r>
              <a:rPr lang="en-US" altLang="zh-CN" sz="2400" b="1">
                <a:solidFill>
                  <a:srgbClr val="FF0000"/>
                </a:solidFill>
              </a:rPr>
              <a:t>DMA</a:t>
            </a:r>
            <a:r>
              <a:rPr lang="zh-CN" altLang="en-US" sz="2400" b="1">
                <a:solidFill>
                  <a:srgbClr val="FF0000"/>
                </a:solidFill>
              </a:rPr>
              <a:t>：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6141085" y="1816100"/>
            <a:ext cx="20231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</a:rPr>
              <a:t>有</a:t>
            </a:r>
            <a:r>
              <a:rPr lang="en-US" altLang="zh-CN" sz="2400" b="1">
                <a:solidFill>
                  <a:srgbClr val="FF0000"/>
                </a:solidFill>
              </a:rPr>
              <a:t>DMA</a:t>
            </a:r>
            <a:r>
              <a:rPr lang="zh-CN" altLang="en-US" sz="2400" b="1">
                <a:solidFill>
                  <a:srgbClr val="FF0000"/>
                </a:solidFill>
              </a:rPr>
              <a:t>：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5871845" y="2367280"/>
            <a:ext cx="6205220" cy="3784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en-US" altLang="zh-CN" sz="2000" b="1"/>
              <a:t>CPU </a:t>
            </a:r>
            <a:r>
              <a:rPr lang="zh-CN" altLang="en-US" sz="2000" b="1"/>
              <a:t>的工作（只需要说一句话）：</a:t>
            </a:r>
            <a:endParaRPr lang="zh-CN" altLang="en-US" sz="2000" b="1"/>
          </a:p>
          <a:p>
            <a:r>
              <a:rPr lang="en-US" altLang="en-US" sz="2000" b="1"/>
              <a:t>└──</a:t>
            </a:r>
            <a:r>
              <a:rPr lang="en-US" altLang="zh-CN" sz="2000" b="1"/>
              <a:t> "DMA</a:t>
            </a:r>
            <a:r>
              <a:rPr lang="zh-CN" altLang="en-US" sz="2000" b="1"/>
              <a:t>，你帮我把</a:t>
            </a:r>
            <a:r>
              <a:rPr lang="en-US" altLang="zh-CN" sz="2000" b="1"/>
              <a:t>ADC</a:t>
            </a:r>
            <a:r>
              <a:rPr lang="zh-CN" altLang="en-US" sz="2000" b="1"/>
              <a:t>的数据搬</a:t>
            </a:r>
            <a:r>
              <a:rPr lang="en-US" altLang="zh-CN" sz="2000" b="1"/>
              <a:t>1000</a:t>
            </a:r>
            <a:r>
              <a:rPr lang="zh-CN" altLang="en-US" sz="2000" b="1"/>
              <a:t>次到这个数组里，搬完告诉我</a:t>
            </a:r>
            <a:r>
              <a:rPr lang="en-US" altLang="zh-CN" sz="2000" b="1"/>
              <a:t>"</a:t>
            </a:r>
            <a:endParaRPr lang="en-US" altLang="zh-CN" sz="2000" b="1"/>
          </a:p>
          <a:p>
            <a:endParaRPr lang="en-US" altLang="zh-CN" sz="2000" b="1"/>
          </a:p>
          <a:p>
            <a:r>
              <a:rPr lang="en-US" altLang="zh-CN" sz="2000" b="1"/>
              <a:t>DMA </a:t>
            </a:r>
            <a:r>
              <a:rPr lang="zh-CN" altLang="en-US" sz="2000" b="1"/>
              <a:t>的工作（自动完成）：</a:t>
            </a:r>
            <a:endParaRPr lang="zh-CN" altLang="en-US" sz="2000" b="1"/>
          </a:p>
          <a:p>
            <a:r>
              <a:rPr lang="en-US" altLang="en-US" sz="2000" b="1"/>
              <a:t>├─</a:t>
            </a:r>
            <a:r>
              <a:rPr lang="en-US" altLang="zh-CN" sz="2000" b="1"/>
              <a:t> </a:t>
            </a:r>
            <a:r>
              <a:rPr lang="zh-CN" altLang="en-US" sz="2000" b="1"/>
              <a:t>第</a:t>
            </a:r>
            <a:r>
              <a:rPr lang="en-US" altLang="zh-CN" sz="2000" b="1"/>
              <a:t>1</a:t>
            </a:r>
            <a:r>
              <a:rPr lang="zh-CN" altLang="en-US" sz="2000" b="1"/>
              <a:t>次：读</a:t>
            </a:r>
            <a:r>
              <a:rPr lang="en-US" altLang="zh-CN" sz="2000" b="1"/>
              <a:t>ADC </a:t>
            </a:r>
            <a:r>
              <a:rPr lang="en-US" altLang="en-US" sz="2000" b="1"/>
              <a:t>→</a:t>
            </a:r>
            <a:r>
              <a:rPr lang="en-US" altLang="zh-CN" sz="2000" b="1"/>
              <a:t> </a:t>
            </a:r>
            <a:r>
              <a:rPr lang="zh-CN" altLang="en-US" sz="2000" b="1"/>
              <a:t>写数组</a:t>
            </a:r>
            <a:r>
              <a:rPr lang="en-US" altLang="zh-CN" sz="2000" b="1"/>
              <a:t>[0] </a:t>
            </a:r>
            <a:r>
              <a:rPr lang="en-US" altLang="en-US" sz="2000" b="1"/>
              <a:t>┐</a:t>
            </a:r>
            <a:endParaRPr lang="en-US" altLang="en-US" sz="2000" b="1"/>
          </a:p>
          <a:p>
            <a:r>
              <a:rPr lang="en-US" altLang="en-US" sz="2000" b="1"/>
              <a:t>├─</a:t>
            </a:r>
            <a:r>
              <a:rPr lang="en-US" altLang="zh-CN" sz="2000" b="1"/>
              <a:t> </a:t>
            </a:r>
            <a:r>
              <a:rPr lang="zh-CN" altLang="en-US" sz="2000" b="1"/>
              <a:t>第</a:t>
            </a:r>
            <a:r>
              <a:rPr lang="en-US" altLang="zh-CN" sz="2000" b="1"/>
              <a:t>2</a:t>
            </a:r>
            <a:r>
              <a:rPr lang="zh-CN" altLang="en-US" sz="2000" b="1"/>
              <a:t>次：读</a:t>
            </a:r>
            <a:r>
              <a:rPr lang="en-US" altLang="zh-CN" sz="2000" b="1"/>
              <a:t>ADC </a:t>
            </a:r>
            <a:r>
              <a:rPr lang="en-US" altLang="en-US" sz="2000" b="1"/>
              <a:t>→</a:t>
            </a:r>
            <a:r>
              <a:rPr lang="en-US" altLang="zh-CN" sz="2000" b="1"/>
              <a:t> </a:t>
            </a:r>
            <a:r>
              <a:rPr lang="zh-CN" altLang="en-US" sz="2000" b="1"/>
              <a:t>写数组</a:t>
            </a:r>
            <a:r>
              <a:rPr lang="en-US" altLang="zh-CN" sz="2000" b="1"/>
              <a:t>[1] </a:t>
            </a:r>
            <a:r>
              <a:rPr lang="en-US" altLang="en-US" sz="2000" b="1"/>
              <a:t>│</a:t>
            </a:r>
            <a:r>
              <a:rPr lang="en-US" altLang="zh-CN" sz="2000" b="1"/>
              <a:t>CPU </a:t>
            </a:r>
            <a:r>
              <a:rPr lang="zh-CN" altLang="en-US" sz="2000" b="1"/>
              <a:t>完全空闲！</a:t>
            </a:r>
            <a:endParaRPr lang="zh-CN" altLang="en-US" sz="2000" b="1"/>
          </a:p>
          <a:p>
            <a:r>
              <a:rPr lang="en-US" altLang="en-US" sz="2000" b="1"/>
              <a:t>├─</a:t>
            </a:r>
            <a:r>
              <a:rPr lang="en-US" altLang="zh-CN" sz="2000" b="1"/>
              <a:t> ...                                           </a:t>
            </a:r>
            <a:r>
              <a:rPr lang="en-US" altLang="en-US" sz="2000" b="1"/>
              <a:t>│</a:t>
            </a:r>
            <a:r>
              <a:rPr lang="zh-CN" altLang="en-US" sz="2000" b="1"/>
              <a:t>可以去做别的事！</a:t>
            </a:r>
            <a:endParaRPr lang="zh-CN" altLang="en-US" sz="2000" b="1"/>
          </a:p>
          <a:p>
            <a:r>
              <a:rPr lang="en-US" altLang="en-US" sz="2000" b="1"/>
              <a:t>└─</a:t>
            </a:r>
            <a:r>
              <a:rPr lang="en-US" altLang="zh-CN" sz="2000" b="1"/>
              <a:t> </a:t>
            </a:r>
            <a:r>
              <a:rPr lang="zh-CN" altLang="en-US" sz="2000" b="1"/>
              <a:t>第</a:t>
            </a:r>
            <a:r>
              <a:rPr lang="en-US" altLang="zh-CN" sz="2000" b="1"/>
              <a:t>1000</a:t>
            </a:r>
            <a:r>
              <a:rPr lang="zh-CN" altLang="en-US" sz="2000" b="1"/>
              <a:t>次：</a:t>
            </a:r>
            <a:r>
              <a:rPr lang="en-US" altLang="zh-CN" sz="2000" b="1">
                <a:sym typeface="+mn-ea"/>
              </a:rPr>
              <a:t>... </a:t>
            </a:r>
            <a:r>
              <a:rPr lang="en-US" altLang="en-US" sz="2000" b="1"/>
              <a:t>→</a:t>
            </a:r>
            <a:r>
              <a:rPr lang="en-US" altLang="zh-CN" sz="2000" b="1"/>
              <a:t> </a:t>
            </a:r>
            <a:r>
              <a:rPr lang="zh-CN" altLang="en-US" sz="2000" b="1"/>
              <a:t>写数组</a:t>
            </a:r>
            <a:r>
              <a:rPr lang="en-US" altLang="zh-CN" sz="2000" b="1"/>
              <a:t>[999]</a:t>
            </a:r>
            <a:r>
              <a:rPr lang="en-US" altLang="en-US" sz="2000" b="1"/>
              <a:t>┘</a:t>
            </a:r>
            <a:endParaRPr lang="en-US" altLang="en-US" sz="2000" b="1"/>
          </a:p>
          <a:p>
            <a:r>
              <a:rPr lang="en-US" altLang="en-US" sz="2000" b="1"/>
              <a:t>└─</a:t>
            </a:r>
            <a:r>
              <a:rPr lang="en-US" altLang="zh-CN" sz="2000" b="1"/>
              <a:t> </a:t>
            </a:r>
            <a:r>
              <a:rPr lang="zh-CN" altLang="en-US" sz="2000" b="1"/>
              <a:t>触发中断：</a:t>
            </a:r>
            <a:r>
              <a:rPr lang="en-US" altLang="zh-CN" sz="2000" b="1"/>
              <a:t>"</a:t>
            </a:r>
            <a:r>
              <a:rPr lang="zh-CN" altLang="en-US" sz="2000" b="1"/>
              <a:t>老板，搬完了！</a:t>
            </a:r>
            <a:r>
              <a:rPr lang="en-US" altLang="zh-CN" sz="2000" b="1"/>
              <a:t>"</a:t>
            </a:r>
            <a:endParaRPr lang="en-US" altLang="zh-CN" sz="2000" b="1"/>
          </a:p>
          <a:p>
            <a:endParaRPr lang="en-US" altLang="zh-CN" sz="2000" b="1"/>
          </a:p>
          <a:p>
            <a:r>
              <a:rPr lang="en-US" altLang="zh-CN" sz="2000" b="1"/>
              <a:t>CPU </a:t>
            </a:r>
            <a:r>
              <a:rPr lang="zh-CN" altLang="en-US" sz="2000" b="1"/>
              <a:t>全程在做其他运算</a:t>
            </a:r>
            <a:r>
              <a:rPr lang="en-US" altLang="zh-CN" sz="2000" b="1"/>
              <a:t> </a:t>
            </a:r>
            <a:r>
              <a:rPr lang="en-US" altLang="en-US" sz="2000" b="1"/>
              <a:t>→</a:t>
            </a:r>
            <a:r>
              <a:rPr lang="en-US" altLang="zh-CN" sz="2000" b="1"/>
              <a:t> </a:t>
            </a:r>
            <a:r>
              <a:rPr lang="zh-CN" altLang="en-US" sz="2000" b="1"/>
              <a:t>效率大幅提升！</a:t>
            </a:r>
            <a:endParaRPr lang="zh-CN" altLang="en-US" sz="2000" b="1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9575" y="365125"/>
            <a:ext cx="3803015" cy="915035"/>
          </a:xfrm>
        </p:spPr>
        <p:txBody>
          <a:bodyPr/>
          <a:lstStyle/>
          <a:p>
            <a:r>
              <a:rPr lang="en-US" altLang="zh-CN" sz="2800" b="1"/>
              <a:t>DMA </a:t>
            </a:r>
            <a:r>
              <a:rPr lang="zh-CN" altLang="en-US" sz="2800" b="1"/>
              <a:t>的三种搬运方向：</a:t>
            </a:r>
            <a:endParaRPr lang="zh-CN" altLang="en-US" sz="2800" b="1"/>
          </a:p>
        </p:txBody>
      </p:sp>
      <p:sp>
        <p:nvSpPr>
          <p:cNvPr id="3" name="文本框 2"/>
          <p:cNvSpPr txBox="1"/>
          <p:nvPr/>
        </p:nvSpPr>
        <p:spPr>
          <a:xfrm>
            <a:off x="2947035" y="1280160"/>
            <a:ext cx="6708140" cy="30460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en-US" altLang="en-US" sz="2400" b="1"/>
              <a:t>①</a:t>
            </a:r>
            <a:r>
              <a:rPr lang="en-US" altLang="zh-CN" sz="2400" b="1"/>
              <a:t> </a:t>
            </a:r>
            <a:r>
              <a:rPr lang="zh-CN" altLang="en-US" sz="2400" b="1">
                <a:solidFill>
                  <a:srgbClr val="3333FF"/>
                </a:solidFill>
              </a:rPr>
              <a:t>外设</a:t>
            </a:r>
            <a:r>
              <a:rPr lang="en-US" altLang="zh-CN" sz="2400" b="1">
                <a:solidFill>
                  <a:srgbClr val="3333FF"/>
                </a:solidFill>
              </a:rPr>
              <a:t> </a:t>
            </a:r>
            <a:r>
              <a:rPr lang="en-US" altLang="en-US" sz="2400" b="1">
                <a:solidFill>
                  <a:srgbClr val="3333FF"/>
                </a:solidFill>
              </a:rPr>
              <a:t>→</a:t>
            </a:r>
            <a:r>
              <a:rPr lang="en-US" altLang="zh-CN" sz="2400" b="1">
                <a:solidFill>
                  <a:srgbClr val="3333FF"/>
                </a:solidFill>
              </a:rPr>
              <a:t> </a:t>
            </a:r>
            <a:r>
              <a:rPr lang="zh-CN" altLang="en-US" sz="2400" b="1">
                <a:solidFill>
                  <a:srgbClr val="3333FF"/>
                </a:solidFill>
              </a:rPr>
              <a:t>内存</a:t>
            </a:r>
            <a:r>
              <a:rPr lang="zh-CN" altLang="en-US" sz="2400" b="1"/>
              <a:t>（最常用）</a:t>
            </a:r>
            <a:endParaRPr lang="zh-CN" altLang="en-US" sz="2400" b="1"/>
          </a:p>
          <a:p>
            <a:r>
              <a:rPr lang="en-US" altLang="zh-CN" sz="2400" b="1"/>
              <a:t>   </a:t>
            </a:r>
            <a:r>
              <a:rPr lang="zh-CN" altLang="en-US" sz="2400" b="1"/>
              <a:t>例：</a:t>
            </a:r>
            <a:r>
              <a:rPr lang="en-US" altLang="zh-CN" sz="2400" b="1"/>
              <a:t>ADC</a:t>
            </a:r>
            <a:r>
              <a:rPr lang="zh-CN" altLang="en-US" sz="2400" b="1"/>
              <a:t>采集数据</a:t>
            </a:r>
            <a:r>
              <a:rPr lang="en-US" altLang="zh-CN" sz="2400" b="1"/>
              <a:t> </a:t>
            </a:r>
            <a:r>
              <a:rPr lang="en-US" altLang="en-US" sz="2400" b="1"/>
              <a:t>→</a:t>
            </a:r>
            <a:r>
              <a:rPr lang="en-US" altLang="zh-CN" sz="2400" b="1"/>
              <a:t> </a:t>
            </a:r>
            <a:r>
              <a:rPr lang="zh-CN" altLang="en-US" sz="2400" b="1"/>
              <a:t>存到</a:t>
            </a:r>
            <a:r>
              <a:rPr lang="en-US" altLang="zh-CN" sz="2400" b="1"/>
              <a:t>SRAM</a:t>
            </a:r>
            <a:r>
              <a:rPr lang="zh-CN" altLang="en-US" sz="2400" b="1"/>
              <a:t>数组</a:t>
            </a:r>
            <a:endParaRPr lang="zh-CN" altLang="en-US" sz="2400" b="1"/>
          </a:p>
          <a:p>
            <a:endParaRPr lang="en-US" altLang="zh-CN" sz="2400" b="1"/>
          </a:p>
          <a:p>
            <a:r>
              <a:rPr lang="en-US" altLang="en-US" sz="2400" b="1"/>
              <a:t>②</a:t>
            </a:r>
            <a:r>
              <a:rPr lang="en-US" altLang="zh-CN" sz="2400" b="1"/>
              <a:t> </a:t>
            </a:r>
            <a:r>
              <a:rPr lang="zh-CN" altLang="en-US" sz="2400" b="1">
                <a:solidFill>
                  <a:srgbClr val="3333FF"/>
                </a:solidFill>
              </a:rPr>
              <a:t>内存</a:t>
            </a:r>
            <a:r>
              <a:rPr lang="en-US" altLang="zh-CN" sz="2400" b="1">
                <a:solidFill>
                  <a:srgbClr val="3333FF"/>
                </a:solidFill>
              </a:rPr>
              <a:t> </a:t>
            </a:r>
            <a:r>
              <a:rPr lang="en-US" altLang="en-US" sz="2400" b="1">
                <a:solidFill>
                  <a:srgbClr val="3333FF"/>
                </a:solidFill>
              </a:rPr>
              <a:t>→</a:t>
            </a:r>
            <a:r>
              <a:rPr lang="en-US" altLang="zh-CN" sz="2400" b="1">
                <a:solidFill>
                  <a:srgbClr val="3333FF"/>
                </a:solidFill>
              </a:rPr>
              <a:t> </a:t>
            </a:r>
            <a:r>
              <a:rPr lang="zh-CN" altLang="en-US" sz="2400" b="1">
                <a:solidFill>
                  <a:srgbClr val="3333FF"/>
                </a:solidFill>
              </a:rPr>
              <a:t>外设</a:t>
            </a:r>
            <a:endParaRPr lang="zh-CN" altLang="en-US" sz="2400" b="1"/>
          </a:p>
          <a:p>
            <a:r>
              <a:rPr lang="en-US" altLang="zh-CN" sz="2400" b="1"/>
              <a:t>   </a:t>
            </a:r>
            <a:r>
              <a:rPr lang="zh-CN" altLang="en-US" sz="2400" b="1"/>
              <a:t>例：</a:t>
            </a:r>
            <a:r>
              <a:rPr lang="en-US" altLang="zh-CN" sz="2400" b="1"/>
              <a:t>SRAM</a:t>
            </a:r>
            <a:r>
              <a:rPr lang="zh-CN" altLang="en-US" sz="2400" b="1"/>
              <a:t>中的数据</a:t>
            </a:r>
            <a:r>
              <a:rPr lang="en-US" altLang="zh-CN" sz="2400" b="1"/>
              <a:t> </a:t>
            </a:r>
            <a:r>
              <a:rPr lang="en-US" altLang="en-US" sz="2400" b="1"/>
              <a:t>→</a:t>
            </a:r>
            <a:r>
              <a:rPr lang="en-US" altLang="zh-CN" sz="2400" b="1"/>
              <a:t> </a:t>
            </a:r>
            <a:r>
              <a:rPr lang="zh-CN" altLang="en-US" sz="2400" b="1"/>
              <a:t>通过</a:t>
            </a:r>
            <a:r>
              <a:rPr lang="en-US" altLang="zh-CN" sz="2400" b="1"/>
              <a:t>UART</a:t>
            </a:r>
            <a:r>
              <a:rPr lang="zh-CN" altLang="en-US" sz="2400" b="1"/>
              <a:t>发出去</a:t>
            </a:r>
            <a:endParaRPr lang="zh-CN" altLang="en-US" sz="2400" b="1"/>
          </a:p>
          <a:p>
            <a:endParaRPr lang="en-US" altLang="zh-CN" sz="2400" b="1"/>
          </a:p>
          <a:p>
            <a:r>
              <a:rPr lang="en-US" altLang="en-US" sz="2400" b="1"/>
              <a:t>③</a:t>
            </a:r>
            <a:r>
              <a:rPr lang="en-US" altLang="zh-CN" sz="2400" b="1"/>
              <a:t> </a:t>
            </a:r>
            <a:r>
              <a:rPr lang="zh-CN" altLang="en-US" sz="2400" b="1">
                <a:solidFill>
                  <a:srgbClr val="3333FF"/>
                </a:solidFill>
              </a:rPr>
              <a:t>内存</a:t>
            </a:r>
            <a:r>
              <a:rPr lang="en-US" altLang="zh-CN" sz="2400" b="1">
                <a:solidFill>
                  <a:srgbClr val="3333FF"/>
                </a:solidFill>
              </a:rPr>
              <a:t> </a:t>
            </a:r>
            <a:r>
              <a:rPr lang="en-US" altLang="en-US" sz="2400" b="1">
                <a:solidFill>
                  <a:srgbClr val="3333FF"/>
                </a:solidFill>
              </a:rPr>
              <a:t>→</a:t>
            </a:r>
            <a:r>
              <a:rPr lang="en-US" altLang="zh-CN" sz="2400" b="1">
                <a:solidFill>
                  <a:srgbClr val="3333FF"/>
                </a:solidFill>
              </a:rPr>
              <a:t> </a:t>
            </a:r>
            <a:r>
              <a:rPr lang="zh-CN" altLang="en-US" sz="2400" b="1">
                <a:solidFill>
                  <a:srgbClr val="3333FF"/>
                </a:solidFill>
              </a:rPr>
              <a:t>内存</a:t>
            </a:r>
            <a:endParaRPr lang="zh-CN" altLang="en-US" sz="2400" b="1"/>
          </a:p>
          <a:p>
            <a:r>
              <a:rPr lang="en-US" altLang="zh-CN" sz="2400" b="1"/>
              <a:t>   </a:t>
            </a:r>
            <a:r>
              <a:rPr lang="zh-CN" altLang="en-US" sz="2400" b="1"/>
              <a:t>例：把数组</a:t>
            </a:r>
            <a:r>
              <a:rPr lang="en-US" altLang="zh-CN" sz="2400" b="1"/>
              <a:t>A</a:t>
            </a:r>
            <a:r>
              <a:rPr lang="zh-CN" altLang="en-US" sz="2400" b="1"/>
              <a:t>的内容复制到数组</a:t>
            </a:r>
            <a:r>
              <a:rPr lang="en-US" altLang="zh-CN" sz="2400" b="1"/>
              <a:t>B</a:t>
            </a:r>
            <a:endParaRPr lang="zh-CN" altLang="en-US" sz="2400" b="1"/>
          </a:p>
        </p:txBody>
      </p:sp>
      <p:sp>
        <p:nvSpPr>
          <p:cNvPr id="5" name="文本框 4"/>
          <p:cNvSpPr txBox="1"/>
          <p:nvPr/>
        </p:nvSpPr>
        <p:spPr>
          <a:xfrm>
            <a:off x="483870" y="4869815"/>
            <a:ext cx="10878185" cy="15684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en-US" altLang="zh-CN" sz="2400" b="1"/>
              <a:t>UART</a:t>
            </a:r>
            <a:r>
              <a:rPr lang="zh-CN" altLang="en-US" sz="2400" b="1"/>
              <a:t>是通用</a:t>
            </a:r>
            <a:r>
              <a:rPr lang="zh-CN" altLang="en-US" sz="2400" b="1">
                <a:solidFill>
                  <a:srgbClr val="FF0000"/>
                </a:solidFill>
              </a:rPr>
              <a:t>异步</a:t>
            </a:r>
            <a:r>
              <a:rPr lang="zh-CN" altLang="en-US" sz="2400" b="1"/>
              <a:t>收发器（</a:t>
            </a:r>
            <a:r>
              <a:rPr lang="en-US" altLang="zh-CN" sz="2400" b="1"/>
              <a:t>Universal Asynchronous Receiver-Transmitter</a:t>
            </a:r>
            <a:r>
              <a:rPr lang="zh-CN" altLang="en-US" sz="2400" b="1"/>
              <a:t>），一种广泛应用于嵌入式系统和设备间通信的</a:t>
            </a:r>
            <a:r>
              <a:rPr lang="zh-CN" altLang="en-US" sz="2400" b="1">
                <a:solidFill>
                  <a:srgbClr val="FF0000"/>
                </a:solidFill>
              </a:rPr>
              <a:t>串行接口</a:t>
            </a:r>
            <a:r>
              <a:rPr lang="en-US" altLang="zh-CN" sz="2400" b="1"/>
              <a:t>‌</a:t>
            </a:r>
            <a:r>
              <a:rPr lang="zh-CN" altLang="en-US" sz="2400" b="1"/>
              <a:t>。它通过异步方式实现全双工数据传输，仅需</a:t>
            </a:r>
            <a:r>
              <a:rPr lang="en-US" altLang="zh-CN" sz="2400" b="1"/>
              <a:t>TX</a:t>
            </a:r>
            <a:r>
              <a:rPr lang="zh-CN" altLang="en-US" sz="2400" b="1"/>
              <a:t>（发送）和</a:t>
            </a:r>
            <a:r>
              <a:rPr lang="en-US" altLang="zh-CN" sz="2400" b="1"/>
              <a:t>RX</a:t>
            </a:r>
            <a:r>
              <a:rPr lang="zh-CN" altLang="en-US" sz="2400" b="1"/>
              <a:t>（接收）两根信号线即可完成通信，结构简单、成本低，适用于调试、传感器通信、工业控制等多种场景</a:t>
            </a:r>
            <a:r>
              <a:rPr lang="en-US" altLang="zh-CN" sz="2400" b="1"/>
              <a:t> </a:t>
            </a:r>
            <a:r>
              <a:rPr lang="zh-CN" altLang="en-US" sz="2400" b="1"/>
              <a:t>。</a:t>
            </a:r>
            <a:endParaRPr lang="zh-CN" altLang="en-US" sz="2400" b="1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6085" y="262890"/>
            <a:ext cx="1735455" cy="601980"/>
          </a:xfrm>
        </p:spPr>
        <p:txBody>
          <a:bodyPr/>
          <a:lstStyle/>
          <a:p>
            <a:r>
              <a:rPr lang="en-US" altLang="zh-CN"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2. </a:t>
            </a:r>
            <a:r>
              <a:rPr lang="zh-CN" altLang="en-US"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内存</a:t>
            </a:r>
            <a:endParaRPr lang="zh-CN" altLang="en-US" sz="2800" b="1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11530" y="1123315"/>
            <a:ext cx="329057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ts val="1000"/>
              </a:spcBef>
              <a:spcAft>
                <a:spcPts val="600"/>
              </a:spcAft>
            </a:pPr>
            <a:r>
              <a:rPr lang="en-US" altLang="zh-CN" sz="2800" b="1" i="0">
                <a:solidFill>
                  <a:srgbClr val="FF0000"/>
                </a:solidFill>
                <a:latin typeface="ui-sans-serif"/>
                <a:ea typeface="ui-sans-serif"/>
              </a:rPr>
              <a:t>Flash</a:t>
            </a:r>
            <a:r>
              <a:rPr lang="zh-CN" altLang="en-US" sz="2800" b="1" i="0">
                <a:solidFill>
                  <a:srgbClr val="FF0000"/>
                </a:solidFill>
                <a:latin typeface="ui-sans-serif"/>
                <a:ea typeface="ui-sans-serif"/>
              </a:rPr>
              <a:t>（</a:t>
            </a:r>
            <a:r>
              <a:rPr lang="zh-CN" altLang="en-US" sz="2800" b="1" i="0">
                <a:solidFill>
                  <a:srgbClr val="3333FF"/>
                </a:solidFill>
                <a:latin typeface="ui-sans-serif"/>
                <a:ea typeface="ui-sans-serif"/>
              </a:rPr>
              <a:t>程序</a:t>
            </a:r>
            <a:r>
              <a:rPr lang="zh-CN" altLang="en-US" sz="2800" b="1" i="0">
                <a:solidFill>
                  <a:srgbClr val="FF0000"/>
                </a:solidFill>
                <a:latin typeface="ui-sans-serif"/>
                <a:ea typeface="ui-sans-serif"/>
              </a:rPr>
              <a:t>存储器）</a:t>
            </a:r>
            <a:endParaRPr lang="zh-CN" altLang="en-US" sz="2800" b="1" i="0">
              <a:solidFill>
                <a:srgbClr val="FF0000"/>
              </a:solidFill>
              <a:latin typeface="ui-sans-serif"/>
              <a:ea typeface="ui-sans-serif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426085" y="1783715"/>
          <a:ext cx="4627245" cy="1726832"/>
        </p:xfrm>
        <a:graphic>
          <a:graphicData uri="http://schemas.openxmlformats.org/drawingml/2006/table">
            <a:tbl>
              <a:tblPr/>
              <a:tblGrid>
                <a:gridCol w="949325"/>
                <a:gridCol w="3677920"/>
              </a:tblGrid>
              <a:tr h="0">
                <a:tc>
                  <a:txBody>
                    <a:bodyPr/>
                    <a:lstStyle/>
                    <a:p>
                      <a:pPr marL="0" indent="0"/>
                      <a:r>
                        <a:rPr lang="zh-CN" altLang="en-US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英文</a:t>
                      </a:r>
                      <a:endParaRPr lang="zh-CN" altLang="en-US" sz="2400" b="1" i="0">
                        <a:solidFill>
                          <a:srgbClr val="24292F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altLang="zh-CN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Flash Memory</a:t>
                      </a:r>
                      <a:r>
                        <a:rPr lang="zh-CN" altLang="en-US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（闪存）</a:t>
                      </a:r>
                      <a:endParaRPr lang="zh-CN" altLang="en-US" sz="2400" b="1" i="0">
                        <a:solidFill>
                          <a:srgbClr val="24292F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/>
                      <a:r>
                        <a:rPr lang="zh-CN" altLang="en-US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作用</a:t>
                      </a:r>
                      <a:endParaRPr lang="zh-CN" altLang="en-US" sz="2400" b="1" i="0">
                        <a:solidFill>
                          <a:srgbClr val="24292F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zh-CN" altLang="en-US" sz="2400" b="1" i="0">
                          <a:solidFill>
                            <a:srgbClr val="24292F"/>
                          </a:solidFill>
                          <a:highlight>
                            <a:srgbClr val="FFFF00"/>
                          </a:highlight>
                          <a:latin typeface="ui-sans-serif"/>
                          <a:ea typeface="ui-sans-serif"/>
                        </a:rPr>
                        <a:t>存储程序代码和常量数据</a:t>
                      </a:r>
                      <a:endParaRPr lang="zh-CN" altLang="en-US" sz="2400" b="1" i="0">
                        <a:solidFill>
                          <a:srgbClr val="24292F"/>
                        </a:solidFill>
                        <a:highlight>
                          <a:srgbClr val="FFFF00"/>
                        </a:highlight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/>
                      <a:r>
                        <a:rPr lang="zh-CN" altLang="en-US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特点</a:t>
                      </a:r>
                      <a:endParaRPr lang="zh-CN" altLang="en-US" sz="2400" b="1" i="0">
                        <a:solidFill>
                          <a:srgbClr val="24292F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zh-CN" altLang="en-US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掉电不丢失（</a:t>
                      </a:r>
                      <a:r>
                        <a:rPr lang="zh-CN" altLang="en-US" sz="2400" b="1" i="0">
                          <a:solidFill>
                            <a:srgbClr val="C00000"/>
                          </a:solidFill>
                          <a:latin typeface="ui-sans-serif"/>
                          <a:ea typeface="ui-sans-serif"/>
                        </a:rPr>
                        <a:t>非易失性</a:t>
                      </a:r>
                      <a:r>
                        <a:rPr lang="zh-CN" altLang="en-US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）</a:t>
                      </a:r>
                      <a:endParaRPr lang="zh-CN" altLang="en-US" sz="2400" b="1" i="0">
                        <a:solidFill>
                          <a:srgbClr val="24292F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类比</a:t>
                      </a:r>
                      <a:endParaRPr lang="zh-CN" altLang="en-US" sz="2400" b="1" i="0">
                        <a:solidFill>
                          <a:srgbClr val="24292F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2400" b="1" i="0" dirty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像电脑的硬盘</a:t>
                      </a:r>
                      <a:r>
                        <a:rPr lang="en-US" altLang="zh-CN" sz="2400" b="1" i="0" dirty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/SSD</a:t>
                      </a:r>
                      <a:endParaRPr lang="en-US" altLang="zh-CN" sz="2400" b="1" i="0" dirty="0">
                        <a:solidFill>
                          <a:srgbClr val="24292F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523240" y="3702685"/>
            <a:ext cx="5244465" cy="27495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2400" b="1"/>
              <a:t>Flash </a:t>
            </a:r>
            <a:r>
              <a:rPr lang="zh-CN" altLang="en-US" sz="2400" b="1"/>
              <a:t>的内容：</a:t>
            </a:r>
            <a:endParaRPr lang="zh-CN" altLang="en-US" sz="2400" b="1"/>
          </a:p>
          <a:p>
            <a:pPr indent="0" fontAlgn="auto">
              <a:lnSpc>
                <a:spcPct val="120000"/>
              </a:lnSpc>
            </a:pPr>
            <a:r>
              <a:rPr lang="en-US" altLang="en-US" sz="2400" b="1"/>
              <a:t>├──</a:t>
            </a:r>
            <a:r>
              <a:rPr lang="en-US" altLang="zh-CN" sz="2400" b="1"/>
              <a:t> </a:t>
            </a:r>
            <a:r>
              <a:rPr lang="zh-CN" altLang="en-US" sz="2400" b="1"/>
              <a:t>你写的</a:t>
            </a:r>
            <a:r>
              <a:rPr lang="en-US" altLang="zh-CN" sz="2400" b="1"/>
              <a:t> main() </a:t>
            </a:r>
            <a:r>
              <a:rPr lang="zh-CN" altLang="en-US" sz="2400" b="1"/>
              <a:t>函数的机器码</a:t>
            </a:r>
            <a:endParaRPr lang="zh-CN" altLang="en-US" sz="2400" b="1"/>
          </a:p>
          <a:p>
            <a:pPr indent="0" fontAlgn="auto">
              <a:lnSpc>
                <a:spcPct val="120000"/>
              </a:lnSpc>
            </a:pPr>
            <a:r>
              <a:rPr lang="en-US" altLang="en-US" sz="2400" b="1"/>
              <a:t>├──</a:t>
            </a:r>
            <a:r>
              <a:rPr lang="en-US" altLang="zh-CN" sz="2400" b="1"/>
              <a:t> </a:t>
            </a:r>
            <a:r>
              <a:rPr lang="zh-CN" altLang="en-US" sz="2400" b="1"/>
              <a:t>中断处理函数的机器码</a:t>
            </a:r>
            <a:endParaRPr lang="zh-CN" altLang="en-US" sz="2400" b="1"/>
          </a:p>
          <a:p>
            <a:pPr indent="0" fontAlgn="auto">
              <a:lnSpc>
                <a:spcPct val="120000"/>
              </a:lnSpc>
            </a:pPr>
            <a:r>
              <a:rPr lang="en-US" altLang="en-US" sz="2400" b="1"/>
              <a:t>├──</a:t>
            </a:r>
            <a:r>
              <a:rPr lang="en-US" altLang="zh-CN" sz="2400" b="1"/>
              <a:t> const </a:t>
            </a:r>
            <a:r>
              <a:rPr lang="zh-CN" altLang="en-US" sz="2400" b="1"/>
              <a:t>常量数据</a:t>
            </a:r>
            <a:endParaRPr lang="zh-CN" altLang="en-US" sz="2400" b="1"/>
          </a:p>
          <a:p>
            <a:pPr indent="0" fontAlgn="auto">
              <a:lnSpc>
                <a:spcPct val="120000"/>
              </a:lnSpc>
            </a:pPr>
            <a:r>
              <a:rPr lang="en-US" altLang="en-US" sz="2400" b="1"/>
              <a:t>├──</a:t>
            </a:r>
            <a:r>
              <a:rPr lang="en-US" altLang="zh-CN" sz="2400" b="1"/>
              <a:t> </a:t>
            </a:r>
            <a:r>
              <a:rPr lang="zh-CN" altLang="en-US" sz="2400" b="1"/>
              <a:t>中断向量表</a:t>
            </a:r>
            <a:endParaRPr lang="zh-CN" altLang="en-US" sz="2400" b="1"/>
          </a:p>
          <a:p>
            <a:pPr indent="0" fontAlgn="auto">
              <a:lnSpc>
                <a:spcPct val="120000"/>
              </a:lnSpc>
            </a:pPr>
            <a:r>
              <a:rPr lang="en-US" altLang="en-US" sz="2400" b="1"/>
              <a:t>└──</a:t>
            </a:r>
            <a:r>
              <a:rPr lang="en-US" altLang="zh-CN" sz="2400" b="1"/>
              <a:t> </a:t>
            </a:r>
            <a:r>
              <a:rPr lang="zh-CN" altLang="en-US" sz="2400" b="1"/>
              <a:t>启动代码（</a:t>
            </a:r>
            <a:r>
              <a:rPr lang="en-US" altLang="zh-CN" sz="2400" b="1"/>
              <a:t>Startup</a:t>
            </a:r>
            <a:r>
              <a:rPr lang="zh-CN" altLang="en-US" sz="2400" b="1"/>
              <a:t>）</a:t>
            </a:r>
            <a:endParaRPr lang="zh-CN" altLang="en-US" sz="2400" b="1"/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6570345" y="892810"/>
            <a:ext cx="403860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ts val="1000"/>
              </a:spcBef>
              <a:spcAft>
                <a:spcPts val="600"/>
              </a:spcAft>
            </a:pPr>
            <a:r>
              <a:rPr lang="en-US" altLang="zh-CN" sz="2800" b="1" i="0">
                <a:solidFill>
                  <a:srgbClr val="FF0000"/>
                </a:solidFill>
                <a:latin typeface="ui-sans-serif"/>
                <a:ea typeface="ui-sans-serif"/>
              </a:rPr>
              <a:t>SRAM</a:t>
            </a:r>
            <a:r>
              <a:rPr lang="zh-CN" altLang="en-US" sz="2800" b="1" i="0">
                <a:solidFill>
                  <a:srgbClr val="FF0000"/>
                </a:solidFill>
                <a:latin typeface="ui-sans-serif"/>
                <a:ea typeface="ui-sans-serif"/>
              </a:rPr>
              <a:t>（</a:t>
            </a:r>
            <a:r>
              <a:rPr lang="zh-CN" altLang="en-US" sz="2800" b="1" i="0">
                <a:solidFill>
                  <a:srgbClr val="3333FF"/>
                </a:solidFill>
                <a:latin typeface="ui-sans-serif"/>
                <a:ea typeface="ui-sans-serif"/>
              </a:rPr>
              <a:t>数据</a:t>
            </a:r>
            <a:r>
              <a:rPr lang="zh-CN" altLang="en-US" sz="2800" b="1" i="0">
                <a:solidFill>
                  <a:srgbClr val="FF0000"/>
                </a:solidFill>
                <a:latin typeface="ui-sans-serif"/>
                <a:ea typeface="ui-sans-serif"/>
              </a:rPr>
              <a:t>存储器）</a:t>
            </a:r>
            <a:endParaRPr lang="zh-CN" altLang="en-US" sz="2800" b="1" i="0">
              <a:solidFill>
                <a:srgbClr val="FF0000"/>
              </a:solidFill>
              <a:latin typeface="ui-sans-serif"/>
              <a:ea typeface="ui-sans-serif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5432425" y="1492250"/>
          <a:ext cx="6314440" cy="2092592"/>
        </p:xfrm>
        <a:graphic>
          <a:graphicData uri="http://schemas.openxmlformats.org/drawingml/2006/table">
            <a:tbl>
              <a:tblPr/>
              <a:tblGrid>
                <a:gridCol w="1167130"/>
                <a:gridCol w="5147310"/>
              </a:tblGrid>
              <a:tr h="0">
                <a:tc>
                  <a:txBody>
                    <a:bodyPr/>
                    <a:lstStyle/>
                    <a:p>
                      <a:pPr marL="0" indent="0"/>
                      <a:r>
                        <a:rPr lang="zh-CN" altLang="en-US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英文</a:t>
                      </a:r>
                      <a:endParaRPr lang="zh-CN" altLang="en-US" sz="2400" b="1" i="0">
                        <a:solidFill>
                          <a:srgbClr val="24292F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altLang="zh-CN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Static Random Access Memory</a:t>
                      </a:r>
                      <a:r>
                        <a:rPr lang="zh-CN" altLang="en-US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（静态随机存取存储器）</a:t>
                      </a:r>
                      <a:endParaRPr lang="zh-CN" altLang="en-US" sz="2400" b="1" i="0">
                        <a:solidFill>
                          <a:srgbClr val="24292F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/>
                      <a:r>
                        <a:rPr lang="zh-CN" altLang="en-US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作用</a:t>
                      </a:r>
                      <a:endParaRPr lang="zh-CN" altLang="en-US" sz="2400" b="1" i="0">
                        <a:solidFill>
                          <a:srgbClr val="24292F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zh-CN" altLang="en-US" sz="2400" b="1" i="0">
                          <a:solidFill>
                            <a:srgbClr val="24292F"/>
                          </a:solidFill>
                          <a:highlight>
                            <a:srgbClr val="FFFF00"/>
                          </a:highlight>
                          <a:latin typeface="ui-sans-serif"/>
                          <a:ea typeface="ui-sans-serif"/>
                        </a:rPr>
                        <a:t>存储运行时的变量数据</a:t>
                      </a:r>
                      <a:endParaRPr lang="zh-CN" altLang="en-US" sz="2400" b="1" i="0">
                        <a:solidFill>
                          <a:srgbClr val="24292F"/>
                        </a:solidFill>
                        <a:highlight>
                          <a:srgbClr val="FFFF00"/>
                        </a:highlight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/>
                      <a:r>
                        <a:rPr lang="zh-CN" altLang="en-US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特点</a:t>
                      </a:r>
                      <a:endParaRPr lang="zh-CN" altLang="en-US" sz="2400" b="1" i="0">
                        <a:solidFill>
                          <a:srgbClr val="24292F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zh-CN" altLang="en-US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掉电丢失（</a:t>
                      </a:r>
                      <a:r>
                        <a:rPr lang="zh-CN" altLang="en-US" sz="2400" b="1" i="0">
                          <a:solidFill>
                            <a:srgbClr val="C00000"/>
                          </a:solidFill>
                          <a:latin typeface="ui-sans-serif"/>
                          <a:ea typeface="ui-sans-serif"/>
                        </a:rPr>
                        <a:t>易失性</a:t>
                      </a:r>
                      <a:r>
                        <a:rPr lang="zh-CN" altLang="en-US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），但读写极快</a:t>
                      </a:r>
                      <a:endParaRPr lang="zh-CN" altLang="en-US" sz="2400" b="1" i="0">
                        <a:solidFill>
                          <a:srgbClr val="24292F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/>
                      <a:r>
                        <a:rPr lang="zh-CN" altLang="en-US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类比</a:t>
                      </a:r>
                      <a:endParaRPr lang="zh-CN" altLang="en-US" sz="2400" b="1" i="0">
                        <a:solidFill>
                          <a:srgbClr val="24292F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zh-CN" altLang="en-US" sz="2400" b="1" i="0" dirty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就像电脑的内存条（</a:t>
                      </a:r>
                      <a:r>
                        <a:rPr lang="en-US" altLang="zh-CN" sz="2400" b="1" i="0" dirty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RAM</a:t>
                      </a:r>
                      <a:r>
                        <a:rPr lang="zh-CN" altLang="en-US" sz="2400" b="1" i="0" dirty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）</a:t>
                      </a:r>
                      <a:endParaRPr lang="zh-CN" altLang="en-US" sz="2400" b="1" i="0" dirty="0">
                        <a:solidFill>
                          <a:srgbClr val="24292F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6497320" y="3702685"/>
            <a:ext cx="5034915" cy="27495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2400" b="1"/>
              <a:t>SRAM </a:t>
            </a:r>
            <a:r>
              <a:rPr lang="zh-CN" altLang="en-US" sz="2400" b="1"/>
              <a:t>的内容：</a:t>
            </a:r>
            <a:endParaRPr lang="zh-CN" altLang="en-US" sz="2400" b="1"/>
          </a:p>
          <a:p>
            <a:pPr indent="0" fontAlgn="auto">
              <a:lnSpc>
                <a:spcPct val="120000"/>
              </a:lnSpc>
            </a:pPr>
            <a:r>
              <a:rPr lang="en-US" altLang="en-US" sz="2400" b="1"/>
              <a:t>├──</a:t>
            </a:r>
            <a:r>
              <a:rPr lang="en-US" altLang="zh-CN" sz="2400" b="1"/>
              <a:t> </a:t>
            </a:r>
            <a:r>
              <a:rPr lang="zh-CN" altLang="en-US" sz="2400" b="1"/>
              <a:t>全局变量</a:t>
            </a:r>
            <a:r>
              <a:rPr lang="en-US" altLang="zh-CN" sz="2400" b="1"/>
              <a:t> / </a:t>
            </a:r>
            <a:r>
              <a:rPr lang="zh-CN" altLang="en-US" sz="2400" b="1"/>
              <a:t>局部变量</a:t>
            </a:r>
            <a:endParaRPr lang="zh-CN" altLang="en-US" sz="2400" b="1"/>
          </a:p>
          <a:p>
            <a:pPr indent="0" fontAlgn="auto">
              <a:lnSpc>
                <a:spcPct val="120000"/>
              </a:lnSpc>
            </a:pPr>
            <a:r>
              <a:rPr lang="en-US" altLang="en-US" sz="2400" b="1"/>
              <a:t>├──</a:t>
            </a:r>
            <a:r>
              <a:rPr lang="en-US" altLang="zh-CN" sz="2400" b="1"/>
              <a:t> </a:t>
            </a:r>
            <a:r>
              <a:rPr lang="zh-CN" altLang="en-US" sz="2400" b="1"/>
              <a:t>数组、结构体</a:t>
            </a:r>
            <a:endParaRPr lang="zh-CN" altLang="en-US" sz="2400" b="1"/>
          </a:p>
          <a:p>
            <a:pPr indent="0" fontAlgn="auto">
              <a:lnSpc>
                <a:spcPct val="120000"/>
              </a:lnSpc>
            </a:pPr>
            <a:r>
              <a:rPr lang="en-US" altLang="en-US" sz="2400" b="1"/>
              <a:t>├──</a:t>
            </a:r>
            <a:r>
              <a:rPr lang="en-US" altLang="zh-CN" sz="2400" b="1"/>
              <a:t> </a:t>
            </a:r>
            <a:r>
              <a:rPr lang="zh-CN" altLang="en-US" sz="2400" b="1"/>
              <a:t>堆（</a:t>
            </a:r>
            <a:r>
              <a:rPr lang="en-US" altLang="zh-CN" sz="2400" b="1"/>
              <a:t>malloc </a:t>
            </a:r>
            <a:r>
              <a:rPr lang="zh-CN" altLang="en-US" sz="2400" b="1"/>
              <a:t>动态分配）</a:t>
            </a:r>
            <a:endParaRPr lang="zh-CN" altLang="en-US" sz="2400" b="1"/>
          </a:p>
          <a:p>
            <a:pPr indent="0" fontAlgn="auto">
              <a:lnSpc>
                <a:spcPct val="120000"/>
              </a:lnSpc>
            </a:pPr>
            <a:r>
              <a:rPr lang="en-US" altLang="en-US" sz="2400" b="1"/>
              <a:t>├──</a:t>
            </a:r>
            <a:r>
              <a:rPr lang="en-US" altLang="zh-CN" sz="2400" b="1"/>
              <a:t> </a:t>
            </a:r>
            <a:r>
              <a:rPr lang="zh-CN" altLang="en-US" sz="2400" b="1"/>
              <a:t>栈（函数调用、局部变量）</a:t>
            </a:r>
            <a:endParaRPr lang="zh-CN" altLang="en-US" sz="2400" b="1"/>
          </a:p>
          <a:p>
            <a:pPr indent="0" fontAlgn="auto">
              <a:lnSpc>
                <a:spcPct val="120000"/>
              </a:lnSpc>
            </a:pPr>
            <a:r>
              <a:rPr lang="en-US" altLang="en-US" sz="2400" b="1"/>
              <a:t>└──</a:t>
            </a:r>
            <a:r>
              <a:rPr lang="en-US" altLang="zh-CN" sz="2400" b="1"/>
              <a:t> DMA </a:t>
            </a:r>
            <a:r>
              <a:rPr lang="zh-CN" altLang="en-US" sz="2400" b="1"/>
              <a:t>搬运的目标缓冲区</a:t>
            </a:r>
            <a:endParaRPr lang="zh-CN" altLang="en-US" sz="2400" b="1"/>
          </a:p>
        </p:txBody>
      </p:sp>
      <p:sp>
        <p:nvSpPr>
          <p:cNvPr id="9" name="文本框 8"/>
          <p:cNvSpPr txBox="1"/>
          <p:nvPr/>
        </p:nvSpPr>
        <p:spPr>
          <a:xfrm>
            <a:off x="2694305" y="293370"/>
            <a:ext cx="763968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ym typeface="+mn-ea"/>
              </a:rPr>
              <a:t>STM32F103RBT6</a:t>
            </a:r>
            <a:r>
              <a:rPr lang="zh-CN" altLang="en-US" sz="2800" b="1">
                <a:sym typeface="+mn-ea"/>
              </a:rPr>
              <a:t>：</a:t>
            </a:r>
            <a:r>
              <a:rPr lang="en-US" altLang="zh-CN" sz="2800" b="1">
                <a:solidFill>
                  <a:srgbClr val="3333FF"/>
                </a:solidFill>
                <a:sym typeface="+mn-ea"/>
              </a:rPr>
              <a:t>Flash:128KB</a:t>
            </a:r>
            <a:r>
              <a:rPr lang="zh-CN" altLang="en-US" sz="2800" b="1">
                <a:solidFill>
                  <a:srgbClr val="3333FF"/>
                </a:solidFill>
                <a:sym typeface="+mn-ea"/>
              </a:rPr>
              <a:t>、</a:t>
            </a:r>
            <a:r>
              <a:rPr lang="en-US" altLang="zh-CN" sz="2800" b="1">
                <a:solidFill>
                  <a:srgbClr val="3333FF"/>
                </a:solidFill>
                <a:sym typeface="+mn-ea"/>
              </a:rPr>
              <a:t>SRAM:20KB</a:t>
            </a:r>
            <a:endParaRPr lang="en-US" altLang="zh-CN" sz="2800" b="1">
              <a:solidFill>
                <a:srgbClr val="3333FF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29335" y="212090"/>
            <a:ext cx="5351780" cy="915035"/>
          </a:xfrm>
        </p:spPr>
        <p:txBody>
          <a:bodyPr>
            <a:noAutofit/>
          </a:bodyPr>
          <a:lstStyle/>
          <a:p>
            <a:r>
              <a:rPr lang="en-US" altLang="zh-CN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Flash </a:t>
            </a:r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SRAM </a:t>
            </a:r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的关系</a:t>
            </a:r>
            <a:r>
              <a:rPr lang="en-US" altLang="zh-CN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endParaRPr lang="en-US" altLang="zh-CN" sz="3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13055" y="1280160"/>
            <a:ext cx="6000115" cy="3784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zh-CN" altLang="en-US" sz="2400" b="1"/>
              <a:t>程序运行过程：</a:t>
            </a:r>
            <a:endParaRPr lang="zh-CN" altLang="en-US" sz="2400" b="1"/>
          </a:p>
          <a:p>
            <a:endParaRPr lang="en-US" altLang="zh-CN" sz="2400" b="1"/>
          </a:p>
          <a:p>
            <a:r>
              <a:rPr lang="en-US" altLang="en-US" sz="2400" b="1"/>
              <a:t>┌─────┐</a:t>
            </a:r>
            <a:r>
              <a:rPr lang="en-US" altLang="zh-CN" sz="2400" b="1"/>
              <a:t>                        </a:t>
            </a:r>
            <a:r>
              <a:rPr lang="en-US" altLang="en-US" sz="2400" b="1"/>
              <a:t>┌───┐</a:t>
            </a:r>
            <a:endParaRPr lang="en-US" altLang="en-US" sz="2400" b="1"/>
          </a:p>
          <a:p>
            <a:r>
              <a:rPr lang="en-US" altLang="en-US" sz="2400" b="1"/>
              <a:t>│</a:t>
            </a:r>
            <a:r>
              <a:rPr lang="en-US" altLang="zh-CN" sz="2400" b="1"/>
              <a:t>  Flash       </a:t>
            </a:r>
            <a:r>
              <a:rPr lang="en-US" altLang="en-US" sz="2400" b="1"/>
              <a:t>│</a:t>
            </a:r>
            <a:r>
              <a:rPr lang="en-US" altLang="zh-CN" sz="2400" b="1"/>
              <a:t>  </a:t>
            </a:r>
            <a:r>
              <a:rPr lang="en-US" altLang="en-US" sz="2400" b="1"/>
              <a:t>─</a:t>
            </a:r>
            <a:r>
              <a:rPr lang="en-US" altLang="zh-CN" sz="2400" b="1"/>
              <a:t> </a:t>
            </a:r>
            <a:r>
              <a:rPr lang="zh-CN" altLang="en-US" sz="2400" b="1"/>
              <a:t>取指令</a:t>
            </a:r>
            <a:r>
              <a:rPr lang="en-US" altLang="zh-CN" sz="2400" b="1"/>
              <a:t> </a:t>
            </a:r>
            <a:r>
              <a:rPr lang="en-US" altLang="en-US" sz="2400" b="1"/>
              <a:t>─→│</a:t>
            </a:r>
            <a:r>
              <a:rPr lang="en-US" altLang="zh-CN" sz="2400" b="1"/>
              <a:t>CPU    </a:t>
            </a:r>
            <a:r>
              <a:rPr lang="en-US" altLang="en-US" sz="2400" b="1"/>
              <a:t>│</a:t>
            </a:r>
            <a:endParaRPr lang="en-US" altLang="en-US" sz="2400" b="1"/>
          </a:p>
          <a:p>
            <a:r>
              <a:rPr lang="en-US" altLang="en-US" sz="2400" b="1"/>
              <a:t>│</a:t>
            </a:r>
            <a:r>
              <a:rPr lang="en-US" altLang="zh-CN" sz="2400" b="1"/>
              <a:t> (</a:t>
            </a:r>
            <a:r>
              <a:rPr lang="zh-CN" altLang="en-US" sz="2400" b="1"/>
              <a:t>程序代码</a:t>
            </a:r>
            <a:r>
              <a:rPr lang="en-US" altLang="zh-CN" sz="2400" b="1"/>
              <a:t>)</a:t>
            </a:r>
            <a:r>
              <a:rPr lang="en-US" altLang="en-US" sz="2400" b="1"/>
              <a:t>│</a:t>
            </a:r>
            <a:r>
              <a:rPr lang="en-US" altLang="zh-CN" sz="2400" b="1"/>
              <a:t>                         </a:t>
            </a:r>
            <a:r>
              <a:rPr lang="en-US" altLang="en-US" sz="2400" b="1"/>
              <a:t>│</a:t>
            </a:r>
            <a:r>
              <a:rPr lang="en-US" altLang="zh-CN" sz="2400" b="1"/>
              <a:t>          </a:t>
            </a:r>
            <a:r>
              <a:rPr lang="en-US" altLang="en-US" sz="2400" b="1"/>
              <a:t>│</a:t>
            </a:r>
            <a:endParaRPr lang="en-US" altLang="en-US" sz="2400" b="1"/>
          </a:p>
          <a:p>
            <a:r>
              <a:rPr lang="en-US" altLang="en-US" sz="2400" b="1"/>
              <a:t>└─────┘</a:t>
            </a:r>
            <a:r>
              <a:rPr lang="en-US" altLang="zh-CN" sz="2400" b="1"/>
              <a:t>                         </a:t>
            </a:r>
            <a:r>
              <a:rPr lang="en-US" altLang="en-US" sz="2400" b="1"/>
              <a:t>│</a:t>
            </a:r>
            <a:r>
              <a:rPr lang="zh-CN" altLang="en-US" sz="2400" b="1"/>
              <a:t>运算后</a:t>
            </a:r>
            <a:r>
              <a:rPr lang="en-US" altLang="en-US" sz="2400" b="1"/>
              <a:t>│</a:t>
            </a:r>
            <a:endParaRPr lang="en-US" altLang="en-US" sz="2400" b="1"/>
          </a:p>
          <a:p>
            <a:r>
              <a:rPr lang="en-US" altLang="en-US" sz="2400" b="1"/>
              <a:t>┌─────┐</a:t>
            </a:r>
            <a:r>
              <a:rPr lang="en-US" altLang="zh-CN" sz="2400" b="1"/>
              <a:t>                         </a:t>
            </a:r>
            <a:r>
              <a:rPr lang="en-US" altLang="en-US" sz="2400" b="1"/>
              <a:t>│</a:t>
            </a:r>
            <a:r>
              <a:rPr lang="en-US" altLang="zh-CN" sz="2400" b="1"/>
              <a:t>          </a:t>
            </a:r>
            <a:r>
              <a:rPr lang="en-US" altLang="en-US" sz="2400" b="1"/>
              <a:t>│</a:t>
            </a:r>
            <a:endParaRPr lang="en-US" altLang="en-US" sz="2400" b="1"/>
          </a:p>
          <a:p>
            <a:r>
              <a:rPr lang="en-US" altLang="en-US" sz="2400" b="1"/>
              <a:t>│</a:t>
            </a:r>
            <a:r>
              <a:rPr lang="en-US" altLang="zh-CN" sz="2400" b="1"/>
              <a:t>  SRAM     </a:t>
            </a:r>
            <a:r>
              <a:rPr lang="en-US" altLang="en-US" sz="2400" b="1"/>
              <a:t>│</a:t>
            </a:r>
            <a:r>
              <a:rPr lang="en-US" altLang="zh-CN" sz="2400" b="1"/>
              <a:t>  </a:t>
            </a:r>
            <a:r>
              <a:rPr lang="en-US" altLang="en-US" sz="2400" b="1"/>
              <a:t>←</a:t>
            </a:r>
            <a:r>
              <a:rPr lang="en-US" altLang="zh-CN" sz="2400" b="1"/>
              <a:t> </a:t>
            </a:r>
            <a:r>
              <a:rPr lang="zh-CN" altLang="en-US" sz="2400" b="1"/>
              <a:t>读</a:t>
            </a:r>
            <a:r>
              <a:rPr lang="en-US" altLang="zh-CN" sz="2400" b="1"/>
              <a:t>/</a:t>
            </a:r>
            <a:r>
              <a:rPr lang="zh-CN" altLang="en-US" sz="2400" b="1"/>
              <a:t>写变量</a:t>
            </a:r>
            <a:r>
              <a:rPr lang="en-US" altLang="zh-CN" sz="2400" b="1"/>
              <a:t> </a:t>
            </a:r>
            <a:r>
              <a:rPr lang="en-US" altLang="en-US" sz="2400" b="1"/>
              <a:t>→│</a:t>
            </a:r>
            <a:r>
              <a:rPr lang="en-US" altLang="zh-CN" sz="2400" b="1"/>
              <a:t>          </a:t>
            </a:r>
            <a:r>
              <a:rPr lang="en-US" altLang="en-US" sz="2400" b="1"/>
              <a:t>│</a:t>
            </a:r>
            <a:endParaRPr lang="en-US" altLang="en-US" sz="2400" b="1"/>
          </a:p>
          <a:p>
            <a:r>
              <a:rPr lang="en-US" altLang="en-US" sz="2400" b="1"/>
              <a:t>│</a:t>
            </a:r>
            <a:r>
              <a:rPr lang="en-US" altLang="zh-CN" sz="2400" b="1"/>
              <a:t>(</a:t>
            </a:r>
            <a:r>
              <a:rPr lang="zh-CN" altLang="en-US" sz="2400" b="1"/>
              <a:t>变量数据</a:t>
            </a:r>
            <a:r>
              <a:rPr lang="en-US" altLang="zh-CN" sz="2400" b="1"/>
              <a:t>) </a:t>
            </a:r>
            <a:r>
              <a:rPr lang="en-US" altLang="en-US" sz="2400" b="1"/>
              <a:t>│</a:t>
            </a:r>
            <a:r>
              <a:rPr lang="en-US" altLang="zh-CN" sz="2400" b="1"/>
              <a:t>                         </a:t>
            </a:r>
            <a:r>
              <a:rPr lang="en-US" altLang="en-US" sz="2400" b="1"/>
              <a:t>└───┘</a:t>
            </a:r>
            <a:endParaRPr lang="en-US" altLang="en-US" sz="2400" b="1"/>
          </a:p>
          <a:p>
            <a:r>
              <a:rPr lang="en-US" altLang="en-US" sz="2400" b="1"/>
              <a:t>└─────┘</a:t>
            </a:r>
            <a:endParaRPr lang="zh-CN" altLang="en-US" sz="2400" b="1"/>
          </a:p>
        </p:txBody>
      </p:sp>
      <p:sp>
        <p:nvSpPr>
          <p:cNvPr id="4" name="文本框 3"/>
          <p:cNvSpPr txBox="1"/>
          <p:nvPr/>
        </p:nvSpPr>
        <p:spPr>
          <a:xfrm>
            <a:off x="6539230" y="1797050"/>
            <a:ext cx="5315585" cy="28613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en-US" altLang="zh-CN" sz="2000" b="1"/>
              <a:t>0x0800_0000 </a:t>
            </a:r>
            <a:r>
              <a:rPr lang="en-US" altLang="en-US" sz="2000" b="1"/>
              <a:t>┌───────────┐</a:t>
            </a:r>
            <a:endParaRPr lang="en-US" altLang="en-US" sz="2000" b="1"/>
          </a:p>
          <a:p>
            <a:r>
              <a:rPr lang="en-US" altLang="zh-CN" sz="2000" b="1"/>
              <a:t>                     </a:t>
            </a:r>
            <a:r>
              <a:rPr lang="en-US" altLang="en-US" sz="2000" b="1"/>
              <a:t>│</a:t>
            </a:r>
            <a:r>
              <a:rPr lang="en-US" altLang="zh-CN" sz="2000" b="1"/>
              <a:t>    Flash       </a:t>
            </a:r>
            <a:r>
              <a:rPr lang="en-US" altLang="en-US" sz="2000" b="1"/>
              <a:t>│</a:t>
            </a:r>
            <a:r>
              <a:rPr lang="en-US" altLang="zh-CN" sz="2000" b="1"/>
              <a:t>  </a:t>
            </a:r>
            <a:r>
              <a:rPr lang="zh-CN" altLang="en-US" sz="2000" b="1"/>
              <a:t>程序代码</a:t>
            </a:r>
            <a:endParaRPr lang="zh-CN" altLang="en-US" sz="2000" b="1"/>
          </a:p>
          <a:p>
            <a:r>
              <a:rPr lang="en-US" altLang="zh-CN" sz="2000" b="1"/>
              <a:t>0x0801_FFFF </a:t>
            </a:r>
            <a:r>
              <a:rPr lang="en-US" altLang="en-US" sz="2000" b="1"/>
              <a:t>│</a:t>
            </a:r>
            <a:r>
              <a:rPr lang="en-US" altLang="zh-CN" sz="2000" b="1"/>
              <a:t>    (128KB)  </a:t>
            </a:r>
            <a:r>
              <a:rPr lang="en-US" altLang="en-US" sz="2000" b="1"/>
              <a:t>│</a:t>
            </a:r>
            <a:endParaRPr lang="en-US" altLang="en-US" sz="2000" b="1"/>
          </a:p>
          <a:p>
            <a:r>
              <a:rPr lang="en-US" altLang="zh-CN" sz="2000" b="1"/>
              <a:t>                      </a:t>
            </a:r>
            <a:r>
              <a:rPr lang="en-US" altLang="en-US" sz="2000" b="1"/>
              <a:t>├───────────┤</a:t>
            </a:r>
            <a:endParaRPr lang="en-US" altLang="en-US" sz="2000" b="1"/>
          </a:p>
          <a:p>
            <a:r>
              <a:rPr lang="en-US" altLang="zh-CN" sz="2000" b="1"/>
              <a:t>                     </a:t>
            </a:r>
            <a:r>
              <a:rPr lang="en-US" altLang="en-US" sz="2000" b="1"/>
              <a:t>│</a:t>
            </a:r>
            <a:r>
              <a:rPr lang="en-US" altLang="zh-CN" sz="2000" b="1"/>
              <a:t>      ...        </a:t>
            </a:r>
            <a:r>
              <a:rPr lang="en-US" altLang="en-US" sz="2000" b="1"/>
              <a:t>│</a:t>
            </a:r>
            <a:endParaRPr lang="en-US" altLang="en-US" sz="2000" b="1"/>
          </a:p>
          <a:p>
            <a:r>
              <a:rPr lang="en-US" altLang="zh-CN" sz="2000" b="1"/>
              <a:t>0x2000_0000 </a:t>
            </a:r>
            <a:r>
              <a:rPr lang="en-US" altLang="en-US" sz="2000" b="1"/>
              <a:t>├───────────┤</a:t>
            </a:r>
            <a:endParaRPr lang="en-US" altLang="en-US" sz="2000" b="1"/>
          </a:p>
          <a:p>
            <a:r>
              <a:rPr lang="en-US" altLang="zh-CN" sz="2000" b="1"/>
              <a:t>                     </a:t>
            </a:r>
            <a:r>
              <a:rPr lang="en-US" altLang="en-US" sz="2000" b="1"/>
              <a:t>│</a:t>
            </a:r>
            <a:r>
              <a:rPr lang="en-US" altLang="zh-CN" sz="2000" b="1"/>
              <a:t>    SRAM      </a:t>
            </a:r>
            <a:r>
              <a:rPr lang="en-US" altLang="en-US" sz="2000" b="1"/>
              <a:t>│</a:t>
            </a:r>
            <a:r>
              <a:rPr lang="en-US" altLang="zh-CN" sz="2000" b="1"/>
              <a:t>  </a:t>
            </a:r>
            <a:r>
              <a:rPr lang="zh-CN" altLang="en-US" sz="2000" b="1"/>
              <a:t>变量数据</a:t>
            </a:r>
            <a:endParaRPr lang="zh-CN" altLang="en-US" sz="2000" b="1"/>
          </a:p>
          <a:p>
            <a:r>
              <a:rPr lang="en-US" altLang="zh-CN" sz="2000" b="1"/>
              <a:t>                     </a:t>
            </a:r>
            <a:r>
              <a:rPr lang="en-US" altLang="en-US" sz="2000" b="1"/>
              <a:t>│</a:t>
            </a:r>
            <a:r>
              <a:rPr lang="en-US" altLang="zh-CN" sz="2000" b="1"/>
              <a:t>    (20KB)     </a:t>
            </a:r>
            <a:r>
              <a:rPr lang="en-US" altLang="en-US" sz="2000" b="1"/>
              <a:t>│</a:t>
            </a:r>
            <a:endParaRPr lang="en-US" altLang="en-US" sz="2000" b="1"/>
          </a:p>
          <a:p>
            <a:r>
              <a:rPr lang="en-US" altLang="zh-CN" sz="2000" b="1"/>
              <a:t>0x2000_4FFF </a:t>
            </a:r>
            <a:r>
              <a:rPr lang="en-US" altLang="en-US" sz="2000" b="1"/>
              <a:t>└───────────┘</a:t>
            </a:r>
            <a:endParaRPr lang="zh-CN" altLang="en-US" sz="2000" b="1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/>
          <p:nvPr/>
        </p:nvGraphicFramePr>
        <p:xfrm>
          <a:off x="608330" y="1680210"/>
          <a:ext cx="10485120" cy="2824112"/>
        </p:xfrm>
        <a:graphic>
          <a:graphicData uri="http://schemas.openxmlformats.org/drawingml/2006/table">
            <a:tbl>
              <a:tblPr/>
              <a:tblGrid>
                <a:gridCol w="1247140"/>
                <a:gridCol w="3920490"/>
                <a:gridCol w="2696210"/>
                <a:gridCol w="2621280"/>
              </a:tblGrid>
              <a:tr h="0">
                <a:tc>
                  <a:txBody>
                    <a:bodyPr/>
                    <a:lstStyle/>
                    <a:p>
                      <a:pPr marL="0" indent="0"/>
                      <a:r>
                        <a:rPr lang="zh-CN" altLang="en-US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外设</a:t>
                      </a:r>
                      <a:endParaRPr lang="zh-CN" altLang="en-US" sz="2400" b="1" i="0">
                        <a:solidFill>
                          <a:srgbClr val="24292F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zh-CN" altLang="en-US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英文全称</a:t>
                      </a:r>
                      <a:endParaRPr lang="zh-CN" altLang="en-US" sz="2400" b="1" i="0">
                        <a:solidFill>
                          <a:srgbClr val="24292F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zh-CN" altLang="en-US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功能</a:t>
                      </a:r>
                      <a:endParaRPr lang="zh-CN" altLang="en-US" sz="2400" b="1" i="0">
                        <a:solidFill>
                          <a:srgbClr val="24292F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zh-CN" altLang="en-US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类比</a:t>
                      </a:r>
                      <a:endParaRPr lang="zh-CN" altLang="en-US" sz="2400" b="1" i="0">
                        <a:solidFill>
                          <a:srgbClr val="24292F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/>
                      <a:r>
                        <a:rPr lang="en-US" altLang="zh-CN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DMA</a:t>
                      </a:r>
                      <a:endParaRPr lang="en-US" altLang="zh-CN" sz="2400" b="1" i="0">
                        <a:solidFill>
                          <a:srgbClr val="24292F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altLang="zh-CN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Direct Memory Access</a:t>
                      </a:r>
                      <a:endParaRPr lang="en-US" altLang="zh-CN" sz="2400" b="1" i="0">
                        <a:solidFill>
                          <a:srgbClr val="24292F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zh-CN" altLang="en-US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不经</a:t>
                      </a:r>
                      <a:r>
                        <a:rPr lang="en-US" altLang="zh-CN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CPU</a:t>
                      </a:r>
                      <a:r>
                        <a:rPr lang="zh-CN" altLang="en-US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自动搬运数据</a:t>
                      </a:r>
                      <a:endParaRPr lang="zh-CN" altLang="en-US" sz="2400" b="1" i="0">
                        <a:solidFill>
                          <a:srgbClr val="24292F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zh-CN" altLang="en-US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快递员（</a:t>
                      </a:r>
                      <a:r>
                        <a:rPr lang="en-US" altLang="zh-CN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CPU</a:t>
                      </a:r>
                      <a:r>
                        <a:rPr lang="zh-CN" altLang="en-US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不用亲自搬）</a:t>
                      </a:r>
                      <a:endParaRPr lang="zh-CN" altLang="en-US" sz="2400" b="1" i="0">
                        <a:solidFill>
                          <a:srgbClr val="24292F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/>
                      <a:r>
                        <a:rPr lang="en-US" altLang="zh-CN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Flash</a:t>
                      </a:r>
                      <a:endParaRPr lang="en-US" altLang="zh-CN" sz="2400" b="1" i="0">
                        <a:solidFill>
                          <a:srgbClr val="24292F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altLang="zh-CN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Flash Memory</a:t>
                      </a:r>
                      <a:endParaRPr lang="en-US" altLang="zh-CN" sz="2400" b="1" i="0">
                        <a:solidFill>
                          <a:srgbClr val="24292F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zh-CN" altLang="en-US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存程序代码（掉电不丢失）</a:t>
                      </a:r>
                      <a:endParaRPr lang="zh-CN" altLang="en-US" sz="2400" b="1" i="0">
                        <a:solidFill>
                          <a:srgbClr val="24292F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zh-CN" altLang="en-US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电脑的硬盘</a:t>
                      </a:r>
                      <a:r>
                        <a:rPr lang="en-US" altLang="zh-CN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/SSD</a:t>
                      </a:r>
                      <a:endParaRPr lang="en-US" altLang="zh-CN" sz="2400" b="1" i="0">
                        <a:solidFill>
                          <a:srgbClr val="24292F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/>
                      <a:r>
                        <a:rPr lang="en-US" altLang="zh-CN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SRAM</a:t>
                      </a:r>
                      <a:endParaRPr lang="en-US" altLang="zh-CN" sz="2400" b="1" i="0">
                        <a:solidFill>
                          <a:srgbClr val="24292F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altLang="zh-CN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Static Random Access Memory</a:t>
                      </a:r>
                      <a:endParaRPr lang="en-US" altLang="zh-CN" sz="2400" b="1" i="0">
                        <a:solidFill>
                          <a:srgbClr val="24292F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zh-CN" altLang="en-US" sz="2400" b="1" i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存运行变量（掉电丢失）</a:t>
                      </a:r>
                      <a:endParaRPr lang="zh-CN" altLang="en-US" sz="2400" b="1" i="0">
                        <a:solidFill>
                          <a:srgbClr val="24292F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zh-CN" altLang="en-US" sz="2400" b="1" i="0" dirty="0">
                          <a:solidFill>
                            <a:srgbClr val="24292F"/>
                          </a:solidFill>
                          <a:latin typeface="ui-sans-serif"/>
                          <a:ea typeface="ui-sans-serif"/>
                        </a:rPr>
                        <a:t>电脑的内存条</a:t>
                      </a:r>
                      <a:endParaRPr lang="zh-CN" altLang="en-US" sz="2400" b="1" i="0" dirty="0">
                        <a:solidFill>
                          <a:srgbClr val="24292F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71074" marR="71074" marT="32974" marB="3297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4856480" y="795655"/>
            <a:ext cx="3131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总</a:t>
            </a:r>
            <a:r>
              <a:rPr lang="en-US" altLang="zh-CN" sz="36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36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</a:t>
            </a:r>
            <a:endParaRPr lang="zh-CN" altLang="en-US" sz="3600" b="1">
              <a:solidFill>
                <a:srgbClr val="3333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5905" y="1122680"/>
            <a:ext cx="4354195" cy="91503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3200" b="1">
                <a:solidFill>
                  <a:srgbClr val="3333FF"/>
                </a:solidFill>
              </a:rPr>
              <a:t>场景：</a:t>
            </a:r>
            <a:r>
              <a:rPr lang="zh-CN" altLang="en-US" sz="3200" b="1">
                <a:solidFill>
                  <a:srgbClr val="C00000"/>
                </a:solidFill>
              </a:rPr>
              <a:t>用</a:t>
            </a:r>
            <a:r>
              <a:rPr lang="en-US" altLang="zh-CN" sz="3200" b="1">
                <a:solidFill>
                  <a:srgbClr val="C00000"/>
                </a:solidFill>
              </a:rPr>
              <a:t> ADC </a:t>
            </a:r>
            <a:r>
              <a:rPr lang="zh-CN" altLang="en-US" sz="3200" b="1">
                <a:solidFill>
                  <a:srgbClr val="C00000"/>
                </a:solidFill>
              </a:rPr>
              <a:t>采集温度传感器数据并存储</a:t>
            </a:r>
            <a:endParaRPr lang="zh-CN" altLang="en-US" sz="3200" b="1">
              <a:solidFill>
                <a:srgbClr val="C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5250" y="2393315"/>
            <a:ext cx="5027295" cy="31718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/>
              <a:t>任务描述：</a:t>
            </a:r>
            <a:endParaRPr lang="zh-CN" altLang="en-US" sz="2000" b="1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2000" b="1"/>
              <a:t>├──</a:t>
            </a:r>
            <a:r>
              <a:rPr lang="en-US" altLang="zh-CN" sz="2000" b="1"/>
              <a:t> </a:t>
            </a:r>
            <a:r>
              <a:rPr lang="zh-CN" altLang="en-US" sz="2000" b="1"/>
              <a:t>温度传感器接在</a:t>
            </a:r>
            <a:r>
              <a:rPr lang="en-US" altLang="zh-CN" sz="2000" b="1"/>
              <a:t> PA0</a:t>
            </a:r>
            <a:r>
              <a:rPr lang="zh-CN" altLang="en-US" sz="2000" b="1"/>
              <a:t>（</a:t>
            </a:r>
            <a:r>
              <a:rPr lang="en-US" altLang="zh-CN" sz="2000" b="1"/>
              <a:t>ADC1_CH0</a:t>
            </a:r>
            <a:r>
              <a:rPr lang="zh-CN" altLang="en-US" sz="2000" b="1"/>
              <a:t>）</a:t>
            </a:r>
            <a:endParaRPr lang="zh-CN" altLang="en-US" sz="2000" b="1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2000" b="1"/>
              <a:t>├──</a:t>
            </a:r>
            <a:r>
              <a:rPr lang="en-US" altLang="zh-CN" sz="2000" b="1"/>
              <a:t> </a:t>
            </a:r>
            <a:r>
              <a:rPr lang="zh-CN" altLang="en-US" sz="2000" b="1"/>
              <a:t>每秒采集</a:t>
            </a:r>
            <a:r>
              <a:rPr lang="en-US" altLang="zh-CN" sz="2000" b="1"/>
              <a:t> 1000 </a:t>
            </a:r>
            <a:r>
              <a:rPr lang="zh-CN" altLang="en-US" sz="2000" b="1"/>
              <a:t>次温度数据</a:t>
            </a:r>
            <a:endParaRPr lang="zh-CN" altLang="en-US" sz="2000" b="1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2000" b="1"/>
              <a:t>├──</a:t>
            </a:r>
            <a:r>
              <a:rPr lang="en-US" altLang="zh-CN" sz="2000" b="1"/>
              <a:t> </a:t>
            </a:r>
            <a:r>
              <a:rPr lang="zh-CN" altLang="en-US" sz="2000" b="1"/>
              <a:t>采集完后计算平均温度</a:t>
            </a:r>
            <a:endParaRPr lang="zh-CN" altLang="en-US" sz="2000" b="1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2000" b="1"/>
              <a:t>├──</a:t>
            </a:r>
            <a:r>
              <a:rPr lang="en-US" altLang="zh-CN" sz="2000" b="1"/>
              <a:t> </a:t>
            </a:r>
            <a:r>
              <a:rPr lang="zh-CN" altLang="en-US" sz="2000" b="1"/>
              <a:t>把结果通过串口发给电脑</a:t>
            </a:r>
            <a:endParaRPr lang="zh-CN" altLang="en-US" sz="2000" b="1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2000" b="1"/>
              <a:t>└──</a:t>
            </a:r>
            <a:r>
              <a:rPr lang="en-US" altLang="zh-CN" sz="2000" b="1"/>
              <a:t> </a:t>
            </a:r>
            <a:r>
              <a:rPr lang="zh-CN" altLang="en-US" sz="2000" b="1"/>
              <a:t>要求：采集过程中</a:t>
            </a:r>
            <a:r>
              <a:rPr lang="en-US" altLang="zh-CN" sz="2000" b="1"/>
              <a:t> CPU </a:t>
            </a:r>
            <a:r>
              <a:rPr lang="zh-CN" altLang="en-US" sz="2000" b="1"/>
              <a:t>不能</a:t>
            </a:r>
            <a:endParaRPr lang="zh-CN" altLang="en-US" sz="2000" b="1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/>
              <a:t>          </a:t>
            </a:r>
            <a:r>
              <a:rPr lang="zh-CN" altLang="en-US" sz="2000" b="1"/>
              <a:t>被占用（还要干别的事）</a:t>
            </a:r>
            <a:endParaRPr lang="zh-CN" altLang="en-US" sz="2000" b="1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l="7860" t="8471" r="6874" b="7202"/>
          <a:stretch>
            <a:fillRect/>
          </a:stretch>
        </p:blipFill>
        <p:spPr>
          <a:xfrm>
            <a:off x="4932680" y="81280"/>
            <a:ext cx="7078980" cy="657796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859395" cy="708660"/>
          </a:xfrm>
        </p:spPr>
        <p:txBody>
          <a:bodyPr>
            <a:noAutofit/>
          </a:bodyPr>
          <a:lstStyle/>
          <a:p>
            <a:r>
              <a:rPr lang="zh-CN" altLang="en-US" sz="3200" b="1">
                <a:solidFill>
                  <a:srgbClr val="3333FF"/>
                </a:solidFill>
                <a:latin typeface="微软雅黑" panose="020B0503020204020204" charset="-122"/>
                <a:ea typeface="微软雅黑" panose="020B0503020204020204" charset="-122"/>
              </a:rPr>
              <a:t>原因一：速度匹配（最核心的原因）</a:t>
            </a:r>
            <a:endParaRPr lang="zh-CN" altLang="en-US" sz="3200" b="1">
              <a:solidFill>
                <a:srgbClr val="3333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714375" y="1534795"/>
          <a:ext cx="10485120" cy="2397392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0">
                <a:tc>
                  <a:txBody>
                    <a:bodyPr/>
                    <a:lstStyle/>
                    <a:p>
                      <a:pPr marL="0" indent="0"/>
                      <a:r>
                        <a:rPr lang="zh-CN" altLang="en-US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</a:rPr>
                        <a:t>外设</a:t>
                      </a:r>
                      <a:endParaRPr lang="zh-CN" altLang="en-US" sz="2800" b="1" i="0">
                        <a:solidFill>
                          <a:srgbClr val="24292F"/>
                        </a:solidFill>
                        <a:latin typeface="Times New Roman" panose="02020603050405020304" pitchFamily="18" charset="0"/>
                        <a:ea typeface="ui-sans-serif"/>
                      </a:endParaRPr>
                    </a:p>
                  </a:txBody>
                  <a:tcPr marL="71074" marR="71074" marT="32974" marB="32974" anchor="ctr">
                    <a:lnL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zh-CN" altLang="en-US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</a:rPr>
                        <a:t>实际通信速率</a:t>
                      </a:r>
                      <a:endParaRPr lang="zh-CN" altLang="en-US" sz="2800" b="1" i="0">
                        <a:solidFill>
                          <a:srgbClr val="24292F"/>
                        </a:solidFill>
                        <a:latin typeface="Times New Roman" panose="02020603050405020304" pitchFamily="18" charset="0"/>
                        <a:ea typeface="ui-sans-serif"/>
                      </a:endParaRPr>
                    </a:p>
                  </a:txBody>
                  <a:tcPr marL="71074" marR="71074" marT="32974" marB="32974" anchor="ctr">
                    <a:lnL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zh-CN" altLang="en-US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</a:rPr>
                        <a:t>需要的总线速度</a:t>
                      </a:r>
                      <a:endParaRPr lang="zh-CN" altLang="en-US" sz="2800" b="1" i="0">
                        <a:solidFill>
                          <a:srgbClr val="24292F"/>
                        </a:solidFill>
                        <a:latin typeface="Times New Roman" panose="02020603050405020304" pitchFamily="18" charset="0"/>
                        <a:ea typeface="ui-sans-serif"/>
                      </a:endParaRPr>
                    </a:p>
                  </a:txBody>
                  <a:tcPr marL="71074" marR="71074" marT="32974" marB="32974" anchor="ctr">
                    <a:lnL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/>
                      <a:r>
                        <a:rPr lang="en-US" altLang="zh-CN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DMA</a:t>
                      </a:r>
                      <a:r>
                        <a:rPr lang="zh-CN" altLang="en-US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SRAM</a:t>
                      </a:r>
                      <a:endParaRPr lang="en-US" altLang="zh-CN" sz="2800" b="1" i="0">
                        <a:solidFill>
                          <a:srgbClr val="24292F"/>
                        </a:solidFill>
                        <a:latin typeface="Times New Roman" panose="02020603050405020304" pitchFamily="18" charset="0"/>
                        <a:ea typeface="ui-sans-serif"/>
                        <a:cs typeface="Times New Roman" panose="02020603050405020304" pitchFamily="18" charset="0"/>
                      </a:endParaRPr>
                    </a:p>
                  </a:txBody>
                  <a:tcPr marL="71074" marR="71074" marT="32974" marB="32974" anchor="ctr">
                    <a:lnL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zh-CN" altLang="en-US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</a:rPr>
                        <a:t>极高</a:t>
                      </a:r>
                      <a:endParaRPr lang="zh-CN" altLang="en-US" sz="2800" b="1" i="0">
                        <a:solidFill>
                          <a:srgbClr val="24292F"/>
                        </a:solidFill>
                        <a:latin typeface="Times New Roman" panose="02020603050405020304" pitchFamily="18" charset="0"/>
                        <a:ea typeface="ui-sans-serif"/>
                      </a:endParaRPr>
                    </a:p>
                  </a:txBody>
                  <a:tcPr marL="71074" marR="71074" marT="32974" marB="32974" anchor="ctr">
                    <a:lnL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altLang="zh-CN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AHB 72MHz ✅</a:t>
                      </a:r>
                      <a:endParaRPr lang="en-US" altLang="zh-CN" sz="2800" b="1" i="0">
                        <a:solidFill>
                          <a:srgbClr val="24292F"/>
                        </a:solidFill>
                        <a:latin typeface="Times New Roman" panose="02020603050405020304" pitchFamily="18" charset="0"/>
                        <a:ea typeface="ui-sans-serif"/>
                        <a:cs typeface="Times New Roman" panose="02020603050405020304" pitchFamily="18" charset="0"/>
                      </a:endParaRPr>
                    </a:p>
                  </a:txBody>
                  <a:tcPr marL="71074" marR="71074" marT="32974" marB="32974" anchor="ctr">
                    <a:lnL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/>
                      <a:r>
                        <a:rPr lang="en-US" altLang="zh-CN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GPIO</a:t>
                      </a:r>
                      <a:r>
                        <a:rPr lang="zh-CN" altLang="en-US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ADC</a:t>
                      </a:r>
                      <a:r>
                        <a:rPr lang="zh-CN" altLang="en-US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SPI1</a:t>
                      </a:r>
                      <a:endParaRPr lang="en-US" altLang="zh-CN" sz="2800" b="1" i="0">
                        <a:solidFill>
                          <a:srgbClr val="24292F"/>
                        </a:solidFill>
                        <a:latin typeface="Times New Roman" panose="02020603050405020304" pitchFamily="18" charset="0"/>
                        <a:ea typeface="ui-sans-serif"/>
                        <a:cs typeface="Times New Roman" panose="02020603050405020304" pitchFamily="18" charset="0"/>
                      </a:endParaRPr>
                    </a:p>
                  </a:txBody>
                  <a:tcPr marL="71074" marR="71074" marT="32974" marB="32974" anchor="ctr">
                    <a:lnL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zh-CN" altLang="en-US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</a:rPr>
                        <a:t>较高</a:t>
                      </a:r>
                      <a:endParaRPr lang="zh-CN" altLang="en-US" sz="2800" b="1" i="0">
                        <a:solidFill>
                          <a:srgbClr val="24292F"/>
                        </a:solidFill>
                        <a:latin typeface="Times New Roman" panose="02020603050405020304" pitchFamily="18" charset="0"/>
                        <a:ea typeface="ui-sans-serif"/>
                      </a:endParaRPr>
                    </a:p>
                  </a:txBody>
                  <a:tcPr marL="71074" marR="71074" marT="32974" marB="32974" anchor="ctr">
                    <a:lnL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altLang="zh-CN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APB2 72MHz ✅</a:t>
                      </a:r>
                      <a:endParaRPr lang="en-US" altLang="zh-CN" sz="2800" b="1" i="0">
                        <a:solidFill>
                          <a:srgbClr val="24292F"/>
                        </a:solidFill>
                        <a:latin typeface="Times New Roman" panose="02020603050405020304" pitchFamily="18" charset="0"/>
                        <a:ea typeface="ui-sans-serif"/>
                        <a:cs typeface="Times New Roman" panose="02020603050405020304" pitchFamily="18" charset="0"/>
                      </a:endParaRPr>
                    </a:p>
                  </a:txBody>
                  <a:tcPr marL="71074" marR="71074" marT="32974" marB="32974" anchor="ctr">
                    <a:lnL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/>
                      <a:r>
                        <a:rPr lang="en-US" altLang="zh-CN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I2C</a:t>
                      </a:r>
                      <a:r>
                        <a:rPr lang="zh-CN" altLang="en-US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400KHz</a:t>
                      </a:r>
                      <a:r>
                        <a:rPr lang="zh-CN" altLang="en-US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）、</a:t>
                      </a:r>
                      <a:r>
                        <a:rPr lang="en-US" altLang="zh-CN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UART</a:t>
                      </a:r>
                      <a:r>
                        <a:rPr lang="zh-CN" altLang="en-US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115200bps</a:t>
                      </a:r>
                      <a:r>
                        <a:rPr lang="zh-CN" altLang="en-US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）</a:t>
                      </a:r>
                      <a:endParaRPr lang="zh-CN" altLang="en-US" sz="2800" b="1" i="0">
                        <a:solidFill>
                          <a:srgbClr val="24292F"/>
                        </a:solidFill>
                        <a:latin typeface="Times New Roman" panose="02020603050405020304" pitchFamily="18" charset="0"/>
                        <a:ea typeface="ui-sans-serif"/>
                        <a:cs typeface="Times New Roman" panose="02020603050405020304" pitchFamily="18" charset="0"/>
                      </a:endParaRPr>
                    </a:p>
                  </a:txBody>
                  <a:tcPr marL="71074" marR="71074" marT="32974" marB="32974" anchor="ctr">
                    <a:lnL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zh-CN" altLang="en-US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</a:rPr>
                        <a:t>很低</a:t>
                      </a:r>
                      <a:endParaRPr lang="zh-CN" altLang="en-US" sz="2800" b="1" i="0">
                        <a:solidFill>
                          <a:srgbClr val="24292F"/>
                        </a:solidFill>
                        <a:latin typeface="Times New Roman" panose="02020603050405020304" pitchFamily="18" charset="0"/>
                        <a:ea typeface="ui-sans-serif"/>
                      </a:endParaRPr>
                    </a:p>
                  </a:txBody>
                  <a:tcPr marL="71074" marR="71074" marT="32974" marB="32974" anchor="ctr">
                    <a:lnL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altLang="zh-CN" sz="2800" b="1" i="0" dirty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APB1 36MHz </a:t>
                      </a:r>
                      <a:r>
                        <a:rPr lang="zh-CN" altLang="en-US" sz="2800" b="1" i="0" dirty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绰绰</a:t>
                      </a:r>
                      <a:r>
                        <a:rPr lang="zh-CN" altLang="en-US" sz="2800" b="1" i="0" dirty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有余</a:t>
                      </a:r>
                      <a:endParaRPr lang="zh-CN" altLang="en-US" sz="2800" b="1" i="0" dirty="0">
                        <a:solidFill>
                          <a:srgbClr val="24292F"/>
                        </a:solidFill>
                        <a:latin typeface="Times New Roman" panose="02020603050405020304" pitchFamily="18" charset="0"/>
                        <a:ea typeface="ui-sans-serif"/>
                        <a:cs typeface="Times New Roman" panose="02020603050405020304" pitchFamily="18" charset="0"/>
                      </a:endParaRPr>
                    </a:p>
                  </a:txBody>
                  <a:tcPr marL="71074" marR="71074" marT="32974" marB="32974" anchor="ctr">
                    <a:lnL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933575" y="4645660"/>
            <a:ext cx="786701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>
                <a:solidFill>
                  <a:srgbClr val="FF0000"/>
                </a:solidFill>
                <a:sym typeface="+mn-ea"/>
              </a:rPr>
              <a:t>慢设备不需要快总线，硬给它快总线是一种浪费。</a:t>
            </a:r>
            <a:endParaRPr lang="zh-CN" altLang="en-US" sz="280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/>
          <p:nvPr/>
        </p:nvGraphicFramePr>
        <p:xfrm>
          <a:off x="671830" y="2752090"/>
          <a:ext cx="10485120" cy="1478004"/>
        </p:xfrm>
        <a:graphic>
          <a:graphicData uri="http://schemas.openxmlformats.org/drawingml/2006/table">
            <a:tbl>
              <a:tblPr/>
              <a:tblGrid>
                <a:gridCol w="4384040"/>
                <a:gridCol w="3216910"/>
                <a:gridCol w="2884170"/>
              </a:tblGrid>
              <a:tr h="0">
                <a:tc>
                  <a:txBody>
                    <a:bodyPr/>
                    <a:lstStyle/>
                    <a:p>
                      <a:pPr marL="0" indent="0"/>
                      <a:r>
                        <a:rPr lang="zh-CN" altLang="en-US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</a:rPr>
                        <a:t>方案</a:t>
                      </a:r>
                      <a:endParaRPr lang="zh-CN" altLang="en-US" sz="2800" b="1" i="0">
                        <a:solidFill>
                          <a:srgbClr val="24292F"/>
                        </a:solidFill>
                        <a:latin typeface="Times New Roman" panose="02020603050405020304" pitchFamily="18" charset="0"/>
                        <a:ea typeface="ui-sans-serif"/>
                      </a:endParaRPr>
                    </a:p>
                  </a:txBody>
                  <a:tcPr marL="71074" marR="71074" marT="32974" marB="32974" anchor="ctr">
                    <a:lnL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zh-CN" altLang="en-US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</a:rPr>
                        <a:t>总线频率</a:t>
                      </a:r>
                      <a:endParaRPr lang="zh-CN" altLang="en-US" sz="2800" b="1" i="0">
                        <a:solidFill>
                          <a:srgbClr val="24292F"/>
                        </a:solidFill>
                        <a:latin typeface="Times New Roman" panose="02020603050405020304" pitchFamily="18" charset="0"/>
                        <a:ea typeface="ui-sans-serif"/>
                      </a:endParaRPr>
                    </a:p>
                  </a:txBody>
                  <a:tcPr marL="71074" marR="71074" marT="32974" marB="32974" anchor="ctr">
                    <a:lnL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zh-CN" altLang="en-US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</a:rPr>
                        <a:t>功耗</a:t>
                      </a:r>
                      <a:endParaRPr lang="zh-CN" altLang="en-US" sz="2800" b="1" i="0">
                        <a:solidFill>
                          <a:srgbClr val="24292F"/>
                        </a:solidFill>
                        <a:latin typeface="Times New Roman" panose="02020603050405020304" pitchFamily="18" charset="0"/>
                        <a:ea typeface="ui-sans-serif"/>
                      </a:endParaRPr>
                    </a:p>
                  </a:txBody>
                  <a:tcPr marL="71074" marR="71074" marT="32974" marB="32974" anchor="ctr">
                    <a:lnL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/>
                      <a:r>
                        <a:rPr lang="zh-CN" altLang="en-US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全部挂在 </a:t>
                      </a:r>
                      <a:r>
                        <a:rPr lang="en-US" altLang="zh-CN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72MHz </a:t>
                      </a:r>
                      <a:r>
                        <a:rPr lang="zh-CN" altLang="en-US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总线上</a:t>
                      </a:r>
                      <a:endParaRPr lang="zh-CN" altLang="en-US" sz="2800" b="1" i="0">
                        <a:solidFill>
                          <a:srgbClr val="24292F"/>
                        </a:solidFill>
                        <a:latin typeface="Times New Roman" panose="02020603050405020304" pitchFamily="18" charset="0"/>
                        <a:ea typeface="ui-sans-serif"/>
                        <a:cs typeface="Times New Roman" panose="02020603050405020304" pitchFamily="18" charset="0"/>
                      </a:endParaRPr>
                    </a:p>
                  </a:txBody>
                  <a:tcPr marL="71074" marR="71074" marT="32974" marB="32974" anchor="ctr">
                    <a:lnL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altLang="zh-CN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I2C </a:t>
                      </a:r>
                      <a:r>
                        <a:rPr lang="zh-CN" altLang="en-US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也跑 </a:t>
                      </a:r>
                      <a:r>
                        <a:rPr lang="en-US" altLang="zh-CN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72MHz</a:t>
                      </a:r>
                      <a:endParaRPr lang="en-US" altLang="zh-CN" sz="2800" b="1" i="0">
                        <a:solidFill>
                          <a:srgbClr val="24292F"/>
                        </a:solidFill>
                        <a:latin typeface="Times New Roman" panose="02020603050405020304" pitchFamily="18" charset="0"/>
                        <a:ea typeface="ui-sans-serif"/>
                        <a:cs typeface="Times New Roman" panose="02020603050405020304" pitchFamily="18" charset="0"/>
                      </a:endParaRPr>
                    </a:p>
                  </a:txBody>
                  <a:tcPr marL="71074" marR="71074" marT="32974" marB="32974" anchor="ctr">
                    <a:lnL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zh-CN" altLang="en-US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🔴 功耗高</a:t>
                      </a:r>
                      <a:endParaRPr lang="zh-CN" altLang="en-US" sz="2800" b="1" i="0">
                        <a:solidFill>
                          <a:srgbClr val="24292F"/>
                        </a:solidFill>
                        <a:latin typeface="Times New Roman" panose="02020603050405020304" pitchFamily="18" charset="0"/>
                        <a:ea typeface="ui-sans-serif"/>
                        <a:cs typeface="Times New Roman" panose="02020603050405020304" pitchFamily="18" charset="0"/>
                      </a:endParaRPr>
                    </a:p>
                  </a:txBody>
                  <a:tcPr marL="71074" marR="71074" marT="32974" marB="32974" anchor="ctr">
                    <a:lnL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/>
                      <a:r>
                        <a:rPr lang="en-US" altLang="zh-CN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I2C </a:t>
                      </a:r>
                      <a:r>
                        <a:rPr lang="zh-CN" altLang="en-US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挂在 </a:t>
                      </a:r>
                      <a:r>
                        <a:rPr lang="en-US" altLang="zh-CN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36MHz </a:t>
                      </a:r>
                      <a:r>
                        <a:rPr lang="zh-CN" altLang="en-US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的 </a:t>
                      </a:r>
                      <a:r>
                        <a:rPr lang="en-US" altLang="zh-CN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APB1</a:t>
                      </a:r>
                      <a:endParaRPr lang="en-US" altLang="zh-CN" sz="2800" b="1" i="0">
                        <a:solidFill>
                          <a:srgbClr val="24292F"/>
                        </a:solidFill>
                        <a:latin typeface="Times New Roman" panose="02020603050405020304" pitchFamily="18" charset="0"/>
                        <a:ea typeface="ui-sans-serif"/>
                        <a:cs typeface="Times New Roman" panose="02020603050405020304" pitchFamily="18" charset="0"/>
                      </a:endParaRPr>
                    </a:p>
                  </a:txBody>
                  <a:tcPr marL="71074" marR="71074" marT="32974" marB="32974" anchor="ctr">
                    <a:lnL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altLang="zh-CN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I2C </a:t>
                      </a:r>
                      <a:r>
                        <a:rPr lang="zh-CN" altLang="en-US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跑 </a:t>
                      </a:r>
                      <a:r>
                        <a:rPr lang="en-US" altLang="zh-CN" sz="2800" b="1" i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36MHz</a:t>
                      </a:r>
                      <a:endParaRPr lang="en-US" altLang="zh-CN" sz="2800" b="1" i="0">
                        <a:solidFill>
                          <a:srgbClr val="24292F"/>
                        </a:solidFill>
                        <a:latin typeface="Times New Roman" panose="02020603050405020304" pitchFamily="18" charset="0"/>
                        <a:ea typeface="ui-sans-serif"/>
                        <a:cs typeface="Times New Roman" panose="02020603050405020304" pitchFamily="18" charset="0"/>
                      </a:endParaRPr>
                    </a:p>
                  </a:txBody>
                  <a:tcPr marL="71074" marR="71074" marT="32974" marB="32974" anchor="ctr">
                    <a:lnL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zh-CN" altLang="en-US" sz="2800" b="1" i="0" dirty="0">
                          <a:solidFill>
                            <a:srgbClr val="24292F"/>
                          </a:solidFill>
                          <a:latin typeface="Times New Roman" panose="02020603050405020304" pitchFamily="18" charset="0"/>
                          <a:ea typeface="ui-sans-serif"/>
                          <a:cs typeface="Times New Roman" panose="02020603050405020304" pitchFamily="18" charset="0"/>
                        </a:rPr>
                        <a:t>🟢 功耗降低一半</a:t>
                      </a:r>
                      <a:endParaRPr lang="zh-CN" altLang="en-US" sz="2800" b="1" i="0" dirty="0">
                        <a:solidFill>
                          <a:srgbClr val="24292F"/>
                        </a:solidFill>
                        <a:latin typeface="Times New Roman" panose="02020603050405020304" pitchFamily="18" charset="0"/>
                        <a:ea typeface="ui-sans-serif"/>
                        <a:cs typeface="Times New Roman" panose="02020603050405020304" pitchFamily="18" charset="0"/>
                      </a:endParaRPr>
                    </a:p>
                  </a:txBody>
                  <a:tcPr marL="71074" marR="71074" marT="32974" marB="32974" anchor="ctr">
                    <a:lnL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731520" y="452438"/>
            <a:ext cx="5080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Bef>
                <a:spcPts val="1000"/>
              </a:spcBef>
              <a:spcAft>
                <a:spcPts val="600"/>
              </a:spcAft>
            </a:pPr>
            <a:r>
              <a:rPr lang="zh-CN" altLang="en-US" sz="3200" b="1" i="0">
                <a:solidFill>
                  <a:srgbClr val="333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原因二：降低功耗 🔋</a:t>
            </a:r>
            <a:endParaRPr lang="zh-CN" altLang="en-US" sz="3200" b="1" i="0">
              <a:solidFill>
                <a:srgbClr val="3333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1520" y="1310005"/>
            <a:ext cx="10866755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</a:pPr>
            <a:r>
              <a:rPr lang="zh-CN" altLang="en-US" sz="2800" b="1" i="0">
                <a:solidFill>
                  <a:schemeClr val="tx1"/>
                </a:solidFill>
                <a:latin typeface="ui-monospace"/>
                <a:ea typeface="ui-monospace"/>
              </a:rPr>
              <a:t>功耗公式（</a:t>
            </a:r>
            <a:r>
              <a:rPr lang="en-US" altLang="zh-CN" sz="2800" b="1" i="0">
                <a:solidFill>
                  <a:schemeClr val="tx1"/>
                </a:solidFill>
                <a:latin typeface="ui-monospace"/>
                <a:ea typeface="ui-monospace"/>
              </a:rPr>
              <a:t>CMOS</a:t>
            </a:r>
            <a:r>
              <a:rPr lang="zh-CN" altLang="en-US" sz="2800" b="1" i="0">
                <a:solidFill>
                  <a:schemeClr val="tx1"/>
                </a:solidFill>
                <a:latin typeface="ui-monospace"/>
                <a:ea typeface="ui-monospace"/>
              </a:rPr>
              <a:t>电路）：</a:t>
            </a:r>
            <a:endParaRPr lang="zh-CN" altLang="en-US" sz="2800" b="1" i="0">
              <a:solidFill>
                <a:schemeClr val="tx1"/>
              </a:solidFill>
              <a:latin typeface="ui-monospace"/>
              <a:ea typeface="ui-monospace"/>
            </a:endParaRPr>
          </a:p>
          <a:p>
            <a:pPr marL="0" indent="0">
              <a:lnSpc>
                <a:spcPct val="100000"/>
              </a:lnSpc>
            </a:pPr>
            <a:r>
              <a:rPr lang="zh-CN" altLang="en-US" sz="2800" b="1" i="0">
                <a:solidFill>
                  <a:schemeClr val="tx1"/>
                </a:solidFill>
                <a:latin typeface="ui-monospace"/>
                <a:ea typeface="ui-monospace"/>
              </a:rPr>
              <a:t> </a:t>
            </a:r>
            <a:r>
              <a:rPr lang="en-US" altLang="zh-CN" sz="2800" b="1" i="0">
                <a:solidFill>
                  <a:schemeClr val="tx1"/>
                </a:solidFill>
                <a:latin typeface="ui-monospace"/>
                <a:ea typeface="ui-monospace"/>
              </a:rPr>
              <a:t>               </a:t>
            </a:r>
            <a:r>
              <a:rPr lang="zh-CN" altLang="en-US" sz="2800" b="1" i="0">
                <a:solidFill>
                  <a:srgbClr val="FF0000"/>
                </a:solidFill>
                <a:latin typeface="ui-monospace"/>
                <a:ea typeface="ui-monospace"/>
              </a:rPr>
              <a:t> </a:t>
            </a:r>
            <a:r>
              <a:rPr lang="en-US" altLang="zh-CN" sz="2800" b="1" i="0">
                <a:solidFill>
                  <a:srgbClr val="FF0000"/>
                </a:solidFill>
                <a:latin typeface="ui-monospace"/>
                <a:ea typeface="ui-monospace"/>
              </a:rPr>
              <a:t>P = C × V² × f</a:t>
            </a:r>
            <a:r>
              <a:rPr lang="en-US" altLang="zh-CN" sz="2800" b="1" i="0">
                <a:solidFill>
                  <a:schemeClr val="tx1"/>
                </a:solidFill>
                <a:latin typeface="ui-monospace"/>
                <a:ea typeface="ui-monospace"/>
              </a:rPr>
              <a:t> ↑ </a:t>
            </a:r>
            <a:r>
              <a:rPr lang="zh-CN" altLang="en-US" sz="2800" b="1" i="0">
                <a:solidFill>
                  <a:schemeClr val="tx1"/>
                </a:solidFill>
                <a:latin typeface="ui-monospace"/>
                <a:ea typeface="ui-monospace"/>
              </a:rPr>
              <a:t>频率越高，功耗越大！</a:t>
            </a:r>
            <a:endParaRPr lang="zh-CN" altLang="en-US" sz="2800" b="1" i="0">
              <a:solidFill>
                <a:schemeClr val="tx1"/>
              </a:solidFill>
              <a:latin typeface="ui-monospace"/>
              <a:ea typeface="ui-monospace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116580" y="467106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>
                <a:solidFill>
                  <a:srgbClr val="FF0000"/>
                </a:solidFill>
                <a:sym typeface="+mn-ea"/>
              </a:rPr>
              <a:t>分总线</a:t>
            </a:r>
            <a:r>
              <a:rPr lang="en-US" altLang="zh-CN" sz="280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en-US" sz="2800">
                <a:solidFill>
                  <a:srgbClr val="FF0000"/>
                </a:solidFill>
                <a:sym typeface="+mn-ea"/>
              </a:rPr>
              <a:t>→</a:t>
            </a:r>
            <a:r>
              <a:rPr lang="en-US" altLang="zh-CN" sz="2800">
                <a:solidFill>
                  <a:srgbClr val="FF0000"/>
                </a:solidFill>
                <a:sym typeface="+mn-ea"/>
              </a:rPr>
              <a:t> </a:t>
            </a:r>
            <a:r>
              <a:rPr lang="zh-CN" altLang="en-US" sz="2800">
                <a:solidFill>
                  <a:srgbClr val="FF0000"/>
                </a:solidFill>
                <a:sym typeface="+mn-ea"/>
              </a:rPr>
              <a:t>慢设</a:t>
            </a:r>
            <a:r>
              <a:rPr lang="en-US" altLang="zh-CN" sz="2800">
                <a:solidFill>
                  <a:srgbClr val="FF0000"/>
                </a:solidFill>
                <a:sym typeface="+mn-ea"/>
              </a:rPr>
              <a:t> </a:t>
            </a:r>
            <a:r>
              <a:rPr lang="zh-CN" altLang="en-US" sz="2800">
                <a:solidFill>
                  <a:srgbClr val="FF0000"/>
                </a:solidFill>
                <a:sym typeface="+mn-ea"/>
              </a:rPr>
              <a:t>备跑低频率</a:t>
            </a:r>
            <a:r>
              <a:rPr lang="en-US" altLang="zh-CN" sz="280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en-US" sz="2800">
                <a:solidFill>
                  <a:srgbClr val="FF0000"/>
                </a:solidFill>
                <a:sym typeface="+mn-ea"/>
              </a:rPr>
              <a:t>→</a:t>
            </a:r>
            <a:r>
              <a:rPr lang="en-US" altLang="zh-CN" sz="2800">
                <a:solidFill>
                  <a:srgbClr val="FF0000"/>
                </a:solidFill>
                <a:sym typeface="+mn-ea"/>
              </a:rPr>
              <a:t> </a:t>
            </a:r>
            <a:r>
              <a:rPr lang="zh-CN" altLang="en-US" sz="2800">
                <a:solidFill>
                  <a:srgbClr val="FF0000"/>
                </a:solidFill>
                <a:sym typeface="+mn-ea"/>
              </a:rPr>
              <a:t>省电</a:t>
            </a:r>
            <a:endParaRPr lang="zh-CN" altLang="en-US" sz="280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29030" y="265430"/>
            <a:ext cx="8522970" cy="895350"/>
          </a:xfrm>
        </p:spPr>
        <p:txBody>
          <a:bodyPr>
            <a:noAutofit/>
          </a:bodyPr>
          <a:lstStyle/>
          <a:p>
            <a:r>
              <a:rPr lang="zh-CN" altLang="en-US" sz="3200" b="1">
                <a:solidFill>
                  <a:srgbClr val="3333FF"/>
                </a:solidFill>
                <a:latin typeface="微软雅黑" panose="020B0503020204020204" charset="-122"/>
                <a:ea typeface="微软雅黑" panose="020B0503020204020204" charset="-122"/>
              </a:rPr>
              <a:t>原因三：避免总线冲突（提高并行性）</a:t>
            </a:r>
            <a:endParaRPr lang="zh-CN" altLang="en-US" sz="3200" b="1">
              <a:solidFill>
                <a:srgbClr val="3333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48460" y="1895475"/>
            <a:ext cx="9101455" cy="39693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zh-CN" altLang="en-US" sz="2800" b="1"/>
              <a:t>时刻</a:t>
            </a:r>
            <a:r>
              <a:rPr lang="en-US" altLang="zh-CN" sz="2800" b="1"/>
              <a:t>1: CPU</a:t>
            </a:r>
            <a:r>
              <a:rPr lang="zh-CN" altLang="en-US" sz="2800" b="1"/>
              <a:t>读</a:t>
            </a:r>
            <a:r>
              <a:rPr lang="en-US" altLang="zh-CN" sz="2800" b="1"/>
              <a:t>GPIO </a:t>
            </a:r>
            <a:r>
              <a:rPr lang="en-US" altLang="en-US" sz="2800" b="1"/>
              <a:t>──────┐</a:t>
            </a:r>
            <a:endParaRPr lang="en-US" altLang="en-US" sz="2800" b="1"/>
          </a:p>
          <a:p>
            <a:r>
              <a:rPr lang="zh-CN" altLang="en-US" sz="2800" b="1"/>
              <a:t>时刻</a:t>
            </a:r>
            <a:r>
              <a:rPr lang="en-US" altLang="zh-CN" sz="2800" b="1"/>
              <a:t>2: DMA</a:t>
            </a:r>
            <a:r>
              <a:rPr lang="zh-CN" altLang="en-US" sz="2800" b="1"/>
              <a:t>搬运数据</a:t>
            </a:r>
            <a:r>
              <a:rPr lang="en-US" altLang="zh-CN" sz="2800" b="1"/>
              <a:t> </a:t>
            </a:r>
            <a:r>
              <a:rPr lang="en-US" altLang="en-US" sz="2800" b="1"/>
              <a:t>────┐│</a:t>
            </a:r>
            <a:r>
              <a:rPr lang="en-US" altLang="zh-CN" sz="2800" b="1"/>
              <a:t>  </a:t>
            </a:r>
            <a:r>
              <a:rPr lang="en-US" altLang="en-US" sz="2800" b="1"/>
              <a:t>←</a:t>
            </a:r>
            <a:r>
              <a:rPr lang="en-US" altLang="zh-CN" sz="2800" b="1"/>
              <a:t> </a:t>
            </a:r>
            <a:r>
              <a:rPr lang="zh-CN" altLang="en-US" sz="2800" b="1"/>
              <a:t>必须排队！</a:t>
            </a:r>
            <a:endParaRPr lang="zh-CN" altLang="en-US" sz="2800" b="1"/>
          </a:p>
          <a:p>
            <a:r>
              <a:rPr lang="en-US" altLang="zh-CN" sz="2800" b="1"/>
              <a:t>                                                </a:t>
            </a:r>
            <a:r>
              <a:rPr lang="en-US" altLang="en-US" sz="2800" b="1"/>
              <a:t>▼</a:t>
            </a:r>
            <a:r>
              <a:rPr lang="en-US" altLang="zh-CN" sz="2800" b="1"/>
              <a:t>  </a:t>
            </a:r>
            <a:r>
              <a:rPr lang="en-US" altLang="en-US" sz="2800" b="1"/>
              <a:t>▼</a:t>
            </a:r>
            <a:endParaRPr lang="en-US" altLang="en-US" sz="2800" b="1"/>
          </a:p>
          <a:p>
            <a:r>
              <a:rPr lang="en-US" altLang="zh-CN" sz="2800" b="1"/>
              <a:t>                                       </a:t>
            </a:r>
            <a:r>
              <a:rPr lang="en-US" altLang="en-US" sz="2800" b="1"/>
              <a:t>┌──────┐</a:t>
            </a:r>
            <a:endParaRPr lang="en-US" altLang="en-US" sz="2800" b="1"/>
          </a:p>
          <a:p>
            <a:r>
              <a:rPr lang="en-US" altLang="zh-CN" sz="2800" b="1"/>
              <a:t>                                       </a:t>
            </a:r>
            <a:r>
              <a:rPr lang="en-US" altLang="en-US" sz="2800" b="1"/>
              <a:t>│</a:t>
            </a:r>
            <a:r>
              <a:rPr lang="en-US" altLang="zh-CN" sz="2800" b="1"/>
              <a:t> </a:t>
            </a:r>
            <a:r>
              <a:rPr lang="zh-CN" altLang="en-US" sz="2800" b="1"/>
              <a:t>唯一的总线</a:t>
            </a:r>
            <a:r>
              <a:rPr lang="en-US" altLang="zh-CN" sz="2800" b="1"/>
              <a:t>   </a:t>
            </a:r>
            <a:r>
              <a:rPr lang="en-US" altLang="en-US" sz="2800" b="1"/>
              <a:t>│</a:t>
            </a:r>
            <a:endParaRPr lang="en-US" altLang="en-US" sz="2800" b="1"/>
          </a:p>
          <a:p>
            <a:r>
              <a:rPr lang="en-US" altLang="zh-CN" sz="2800" b="1"/>
              <a:t>                                       </a:t>
            </a:r>
            <a:r>
              <a:rPr lang="en-US" altLang="en-US" sz="2800" b="1"/>
              <a:t>└──────┘</a:t>
            </a:r>
            <a:endParaRPr lang="en-US" altLang="en-US" sz="2800" b="1"/>
          </a:p>
          <a:p>
            <a:endParaRPr lang="en-US" altLang="zh-CN" sz="2800" b="1"/>
          </a:p>
          <a:p>
            <a:pPr algn="ctr"/>
            <a:r>
              <a:rPr lang="en-US" altLang="zh-CN" sz="2800" b="1"/>
              <a:t>CPU </a:t>
            </a:r>
            <a:r>
              <a:rPr lang="zh-CN" altLang="en-US" sz="2800" b="1"/>
              <a:t>和</a:t>
            </a:r>
            <a:r>
              <a:rPr lang="en-US" altLang="zh-CN" sz="2800" b="1"/>
              <a:t> DMA </a:t>
            </a:r>
            <a:r>
              <a:rPr lang="zh-CN" altLang="en-US" sz="2800" b="1"/>
              <a:t>抢同一条总线</a:t>
            </a:r>
            <a:r>
              <a:rPr lang="en-US" altLang="zh-CN" sz="2800" b="1"/>
              <a:t> </a:t>
            </a:r>
            <a:r>
              <a:rPr lang="en-US" altLang="en-US" sz="2800" b="1"/>
              <a:t>→</a:t>
            </a:r>
            <a:r>
              <a:rPr lang="en-US" altLang="zh-CN" sz="2800" b="1"/>
              <a:t> </a:t>
            </a:r>
            <a:r>
              <a:rPr lang="zh-CN" altLang="en-US" sz="2800" b="1"/>
              <a:t>互相等待</a:t>
            </a:r>
            <a:r>
              <a:rPr lang="en-US" altLang="zh-CN" sz="2800" b="1"/>
              <a:t> </a:t>
            </a:r>
            <a:r>
              <a:rPr lang="en-US" altLang="en-US" sz="2800" b="1"/>
              <a:t>→</a:t>
            </a:r>
            <a:r>
              <a:rPr lang="en-US" altLang="zh-CN" sz="2800" b="1"/>
              <a:t> </a:t>
            </a:r>
            <a:r>
              <a:rPr lang="zh-CN" altLang="en-US" sz="2800" b="1"/>
              <a:t>效率低</a:t>
            </a:r>
            <a:endParaRPr lang="zh-CN" altLang="en-US" sz="2800" b="1"/>
          </a:p>
          <a:p>
            <a:endParaRPr lang="zh-CN" altLang="en-US" sz="2800" b="1"/>
          </a:p>
        </p:txBody>
      </p:sp>
      <p:sp>
        <p:nvSpPr>
          <p:cNvPr id="4" name="文本框 3"/>
          <p:cNvSpPr txBox="1"/>
          <p:nvPr/>
        </p:nvSpPr>
        <p:spPr>
          <a:xfrm>
            <a:off x="466090" y="1213803"/>
            <a:ext cx="5080000" cy="52197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Bef>
                <a:spcPts val="1000"/>
              </a:spcBef>
              <a:spcAft>
                <a:spcPts val="600"/>
              </a:spcAft>
            </a:pPr>
            <a:r>
              <a:rPr lang="zh-CN" altLang="en-US" sz="2800" b="1" i="0">
                <a:solidFill>
                  <a:srgbClr val="24292F"/>
                </a:solidFill>
                <a:latin typeface="ui-sans-serif"/>
                <a:ea typeface="ui-sans-serif"/>
              </a:rPr>
              <a:t>只有一条总线时：</a:t>
            </a:r>
            <a:endParaRPr lang="zh-CN" altLang="en-US" sz="2800" b="1" i="0">
              <a:solidFill>
                <a:srgbClr val="24292F"/>
              </a:solidFill>
              <a:latin typeface="ui-sans-serif"/>
              <a:ea typeface="ui-sans-serif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23240" y="636905"/>
            <a:ext cx="249110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ts val="1000"/>
              </a:spcBef>
              <a:spcAft>
                <a:spcPts val="600"/>
              </a:spcAft>
            </a:pPr>
            <a:r>
              <a:rPr lang="zh-CN" altLang="en-US" sz="2800" b="1" i="0">
                <a:solidFill>
                  <a:srgbClr val="24292F"/>
                </a:solidFill>
                <a:latin typeface="ui-sans-serif"/>
                <a:ea typeface="ui-sans-serif"/>
              </a:rPr>
              <a:t>分多条总线时：</a:t>
            </a:r>
            <a:endParaRPr lang="zh-CN" altLang="en-US" sz="2800" b="1" i="0">
              <a:solidFill>
                <a:srgbClr val="24292F"/>
              </a:solidFill>
              <a:latin typeface="ui-sans-serif"/>
              <a:ea typeface="ui-sans-serif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8790" y="1678940"/>
            <a:ext cx="11053445" cy="33229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/>
              <a:t>AHB:  DMA</a:t>
            </a:r>
            <a:r>
              <a:rPr lang="zh-CN" altLang="en-US" sz="2800" b="1"/>
              <a:t>搬运数据</a:t>
            </a:r>
            <a:r>
              <a:rPr lang="en-US" altLang="zh-CN" sz="2800" b="1"/>
              <a:t> </a:t>
            </a:r>
            <a:r>
              <a:rPr lang="en-US" altLang="en-US" sz="2800" b="1"/>
              <a:t>──────→</a:t>
            </a:r>
            <a:r>
              <a:rPr lang="en-US" altLang="zh-CN" sz="2800" b="1"/>
              <a:t> SRAM     </a:t>
            </a:r>
            <a:r>
              <a:rPr lang="zh-CN" altLang="en-US" sz="2800" b="1"/>
              <a:t>（在</a:t>
            </a:r>
            <a:r>
              <a:rPr lang="en-US" altLang="zh-CN" sz="2800" b="1"/>
              <a:t>AHB</a:t>
            </a:r>
            <a:r>
              <a:rPr lang="zh-CN" altLang="en-US" sz="2800" b="1"/>
              <a:t>上进行）</a:t>
            </a:r>
            <a:endParaRPr lang="zh-CN" altLang="en-US" sz="2800" b="1"/>
          </a:p>
          <a:p>
            <a:pPr>
              <a:lnSpc>
                <a:spcPct val="150000"/>
              </a:lnSpc>
            </a:pPr>
            <a:r>
              <a:rPr lang="en-US" altLang="zh-CN" sz="2800" b="1"/>
              <a:t>APB2: CPU</a:t>
            </a:r>
            <a:r>
              <a:rPr lang="zh-CN" altLang="en-US" sz="2800" b="1"/>
              <a:t>读</a:t>
            </a:r>
            <a:r>
              <a:rPr lang="en-US" altLang="zh-CN" sz="2800" b="1"/>
              <a:t>GPIO </a:t>
            </a:r>
            <a:r>
              <a:rPr lang="en-US" altLang="en-US" sz="2800" b="1"/>
              <a:t>─────────→</a:t>
            </a:r>
            <a:r>
              <a:rPr lang="en-US" altLang="zh-CN" sz="2800" b="1"/>
              <a:t> GPIOA   </a:t>
            </a:r>
            <a:r>
              <a:rPr lang="zh-CN" altLang="en-US" sz="2800" b="1"/>
              <a:t>（在</a:t>
            </a:r>
            <a:r>
              <a:rPr lang="en-US" altLang="zh-CN" sz="2800" b="1"/>
              <a:t>APB2</a:t>
            </a:r>
            <a:r>
              <a:rPr lang="zh-CN" altLang="en-US" sz="2800" b="1"/>
              <a:t>上进行）</a:t>
            </a:r>
            <a:endParaRPr lang="zh-CN" altLang="en-US" sz="2800" b="1"/>
          </a:p>
          <a:p>
            <a:pPr>
              <a:lnSpc>
                <a:spcPct val="150000"/>
              </a:lnSpc>
            </a:pPr>
            <a:r>
              <a:rPr lang="en-US" altLang="zh-CN" sz="2800" b="1"/>
              <a:t>APB1: UART</a:t>
            </a:r>
            <a:r>
              <a:rPr lang="zh-CN" altLang="en-US" sz="2800" b="1"/>
              <a:t>发送数据</a:t>
            </a:r>
            <a:r>
              <a:rPr lang="en-US" altLang="zh-CN" sz="2800" b="1"/>
              <a:t> </a:t>
            </a:r>
            <a:r>
              <a:rPr lang="en-US" altLang="en-US" sz="2800" b="1"/>
              <a:t>──────→</a:t>
            </a:r>
            <a:r>
              <a:rPr lang="en-US" altLang="zh-CN" sz="2800" b="1"/>
              <a:t> USART2  </a:t>
            </a:r>
            <a:r>
              <a:rPr lang="zh-CN" altLang="en-US" sz="2800" b="1"/>
              <a:t>（在</a:t>
            </a:r>
            <a:r>
              <a:rPr lang="en-US" altLang="zh-CN" sz="2800" b="1"/>
              <a:t>APB1</a:t>
            </a:r>
            <a:r>
              <a:rPr lang="zh-CN" altLang="en-US" sz="2800" b="1"/>
              <a:t>上进行）</a:t>
            </a:r>
            <a:endParaRPr lang="zh-CN" altLang="en-US" sz="2800" b="1"/>
          </a:p>
          <a:p>
            <a:endParaRPr lang="en-US" altLang="zh-CN" sz="2800" b="1"/>
          </a:p>
          <a:p>
            <a:pPr algn="ctr"/>
            <a:r>
              <a:rPr lang="zh-CN" altLang="en-US" sz="2800" b="1">
                <a:solidFill>
                  <a:srgbClr val="FF0000"/>
                </a:solidFill>
              </a:rPr>
              <a:t>三件事可以【同时进行】！互不干扰！</a:t>
            </a:r>
            <a:endParaRPr lang="zh-CN" altLang="en-US" sz="2800" b="1">
              <a:solidFill>
                <a:srgbClr val="FF0000"/>
              </a:solidFill>
            </a:endParaRPr>
          </a:p>
          <a:p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59000" y="5451475"/>
            <a:ext cx="834390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zh-CN" altLang="en-US" sz="2800" b="1" i="0">
                <a:solidFill>
                  <a:srgbClr val="FF0000"/>
                </a:solidFill>
                <a:latin typeface="ui-sans-serif"/>
                <a:ea typeface="ui-sans-serif"/>
              </a:rPr>
              <a:t>多总线 </a:t>
            </a:r>
            <a:r>
              <a:rPr lang="en-US" altLang="zh-CN" sz="2800" b="1" i="0">
                <a:solidFill>
                  <a:srgbClr val="FF0000"/>
                </a:solidFill>
                <a:latin typeface="ui-sans-serif"/>
                <a:ea typeface="ui-sans-serif"/>
              </a:rPr>
              <a:t>→ </a:t>
            </a:r>
            <a:r>
              <a:rPr lang="zh-CN" altLang="en-US" sz="2800" b="1" i="0">
                <a:solidFill>
                  <a:srgbClr val="FF0000"/>
                </a:solidFill>
                <a:latin typeface="ui-sans-serif"/>
                <a:ea typeface="ui-sans-serif"/>
              </a:rPr>
              <a:t>多通道 </a:t>
            </a:r>
            <a:r>
              <a:rPr lang="en-US" altLang="zh-CN" sz="2800" b="1" i="0">
                <a:solidFill>
                  <a:srgbClr val="FF0000"/>
                </a:solidFill>
                <a:latin typeface="ui-sans-serif"/>
                <a:ea typeface="ui-sans-serif"/>
              </a:rPr>
              <a:t>→ </a:t>
            </a:r>
            <a:r>
              <a:rPr lang="zh-CN" altLang="en-US" sz="2800" b="1" i="0">
                <a:solidFill>
                  <a:srgbClr val="FF0000"/>
                </a:solidFill>
                <a:latin typeface="ui-sans-serif"/>
                <a:ea typeface="ui-sans-serif"/>
              </a:rPr>
              <a:t>并行工作 </a:t>
            </a:r>
            <a:r>
              <a:rPr lang="en-US" altLang="zh-CN" sz="2800" b="1" i="0">
                <a:solidFill>
                  <a:srgbClr val="FF0000"/>
                </a:solidFill>
                <a:latin typeface="ui-sans-serif"/>
                <a:ea typeface="ui-sans-serif"/>
              </a:rPr>
              <a:t>→ </a:t>
            </a:r>
            <a:r>
              <a:rPr lang="zh-CN" altLang="en-US" sz="2800" b="1" i="0">
                <a:solidFill>
                  <a:srgbClr val="FF0000"/>
                </a:solidFill>
                <a:latin typeface="ui-sans-serif"/>
                <a:ea typeface="ui-sans-serif"/>
              </a:rPr>
              <a:t>系统吞吐量提升</a:t>
            </a:r>
            <a:endParaRPr lang="zh-CN" altLang="en-US" sz="2800" b="1" i="0">
              <a:solidFill>
                <a:srgbClr val="FF0000"/>
              </a:solidFill>
              <a:latin typeface="ui-sans-serif"/>
              <a:ea typeface="ui-sans-serif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0035" y="159385"/>
            <a:ext cx="4290060" cy="781685"/>
          </a:xfrm>
        </p:spPr>
        <p:txBody>
          <a:bodyPr/>
          <a:lstStyle/>
          <a:p>
            <a:r>
              <a:rPr lang="zh-CN" altLang="en-US" sz="3200" b="1">
                <a:solidFill>
                  <a:srgbClr val="3333FF"/>
                </a:solidFill>
                <a:latin typeface="微软雅黑" panose="020B0503020204020204" charset="-122"/>
                <a:ea typeface="微软雅黑" panose="020B0503020204020204" charset="-122"/>
              </a:rPr>
              <a:t>原因四：简化外设设计</a:t>
            </a:r>
            <a:endParaRPr lang="zh-CN" altLang="en-US" sz="3200" b="1">
              <a:solidFill>
                <a:srgbClr val="3333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97505" y="826135"/>
            <a:ext cx="7809865" cy="57759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zh-CN" altLang="en-US" sz="2800" b="1"/>
              <a:t>如果总线速度是</a:t>
            </a:r>
            <a:r>
              <a:rPr lang="en-US" altLang="zh-CN" sz="2800" b="1"/>
              <a:t> 72MHz</a:t>
            </a:r>
            <a:r>
              <a:rPr lang="zh-CN" altLang="en-US" sz="2800" b="1"/>
              <a:t>：</a:t>
            </a:r>
            <a:endParaRPr lang="zh-CN" altLang="en-US" sz="2800" b="1"/>
          </a:p>
          <a:p>
            <a:pPr indent="0" fontAlgn="auto">
              <a:lnSpc>
                <a:spcPct val="120000"/>
              </a:lnSpc>
            </a:pPr>
            <a:r>
              <a:rPr lang="en-US" altLang="en-US" sz="2800" b="1"/>
              <a:t>├──</a:t>
            </a:r>
            <a:r>
              <a:rPr lang="en-US" altLang="zh-CN" sz="2800" b="1"/>
              <a:t> </a:t>
            </a:r>
            <a:r>
              <a:rPr lang="zh-CN" altLang="en-US" sz="2800" b="1"/>
              <a:t>外设内部电路必须能响应</a:t>
            </a:r>
            <a:r>
              <a:rPr lang="en-US" altLang="zh-CN" sz="2800" b="1"/>
              <a:t> 72MHz </a:t>
            </a:r>
            <a:r>
              <a:rPr lang="zh-CN" altLang="en-US" sz="2800" b="1"/>
              <a:t>的时序</a:t>
            </a:r>
            <a:endParaRPr lang="zh-CN" altLang="en-US" sz="2800" b="1"/>
          </a:p>
          <a:p>
            <a:pPr indent="0" fontAlgn="auto">
              <a:lnSpc>
                <a:spcPct val="120000"/>
              </a:lnSpc>
            </a:pPr>
            <a:r>
              <a:rPr lang="en-US" altLang="en-US" sz="2800" b="1"/>
              <a:t>├──</a:t>
            </a:r>
            <a:r>
              <a:rPr lang="en-US" altLang="zh-CN" sz="2800" b="1"/>
              <a:t> </a:t>
            </a:r>
            <a:r>
              <a:rPr lang="zh-CN" altLang="en-US" sz="2800" b="1"/>
              <a:t>设计复杂度</a:t>
            </a:r>
            <a:r>
              <a:rPr lang="en-US" altLang="zh-CN" sz="2800" b="1"/>
              <a:t> </a:t>
            </a:r>
            <a:r>
              <a:rPr lang="en-US" altLang="en-US" sz="2800" b="1"/>
              <a:t>↑</a:t>
            </a:r>
            <a:endParaRPr lang="en-US" altLang="en-US" sz="2800" b="1"/>
          </a:p>
          <a:p>
            <a:pPr indent="0" fontAlgn="auto">
              <a:lnSpc>
                <a:spcPct val="120000"/>
              </a:lnSpc>
            </a:pPr>
            <a:r>
              <a:rPr lang="en-US" altLang="en-US" sz="2800" b="1"/>
              <a:t>├──</a:t>
            </a:r>
            <a:r>
              <a:rPr lang="en-US" altLang="zh-CN" sz="2800" b="1"/>
              <a:t> </a:t>
            </a:r>
            <a:r>
              <a:rPr lang="zh-CN" altLang="en-US" sz="2800" b="1"/>
              <a:t>芯片面积</a:t>
            </a:r>
            <a:r>
              <a:rPr lang="en-US" altLang="zh-CN" sz="2800" b="1"/>
              <a:t> </a:t>
            </a:r>
            <a:r>
              <a:rPr lang="en-US" altLang="en-US" sz="2800" b="1"/>
              <a:t>↑</a:t>
            </a:r>
            <a:endParaRPr lang="en-US" altLang="en-US" sz="2800" b="1"/>
          </a:p>
          <a:p>
            <a:pPr indent="0" fontAlgn="auto">
              <a:lnSpc>
                <a:spcPct val="120000"/>
              </a:lnSpc>
            </a:pPr>
            <a:r>
              <a:rPr lang="en-US" altLang="en-US" sz="2800" b="1"/>
              <a:t>└──</a:t>
            </a:r>
            <a:r>
              <a:rPr lang="en-US" altLang="zh-CN" sz="2800" b="1"/>
              <a:t> </a:t>
            </a:r>
            <a:r>
              <a:rPr lang="zh-CN" altLang="en-US" sz="2800" b="1"/>
              <a:t>成本</a:t>
            </a:r>
            <a:r>
              <a:rPr lang="en-US" altLang="zh-CN" sz="2800" b="1"/>
              <a:t> </a:t>
            </a:r>
            <a:r>
              <a:rPr lang="en-US" altLang="en-US" sz="2800" b="1"/>
              <a:t>↑</a:t>
            </a:r>
            <a:endParaRPr lang="en-US" altLang="en-US" sz="2800" b="1"/>
          </a:p>
          <a:p>
            <a:pPr indent="0" fontAlgn="auto">
              <a:lnSpc>
                <a:spcPct val="120000"/>
              </a:lnSpc>
            </a:pPr>
            <a:endParaRPr lang="en-US" altLang="zh-CN" sz="2800" b="1"/>
          </a:p>
          <a:p>
            <a:pPr indent="0" fontAlgn="auto">
              <a:lnSpc>
                <a:spcPct val="120000"/>
              </a:lnSpc>
            </a:pPr>
            <a:r>
              <a:rPr lang="zh-CN" altLang="en-US" sz="2800" b="1"/>
              <a:t>如果给慢设备一条</a:t>
            </a:r>
            <a:r>
              <a:rPr lang="en-US" altLang="zh-CN" sz="2800" b="1"/>
              <a:t> 36MHz </a:t>
            </a:r>
            <a:r>
              <a:rPr lang="zh-CN" altLang="en-US" sz="2800" b="1"/>
              <a:t>的总线：</a:t>
            </a:r>
            <a:endParaRPr lang="zh-CN" altLang="en-US" sz="2800" b="1"/>
          </a:p>
          <a:p>
            <a:pPr indent="0" fontAlgn="auto">
              <a:lnSpc>
                <a:spcPct val="120000"/>
              </a:lnSpc>
            </a:pPr>
            <a:r>
              <a:rPr lang="en-US" altLang="en-US" sz="2800" b="1"/>
              <a:t>├──</a:t>
            </a:r>
            <a:r>
              <a:rPr lang="en-US" altLang="zh-CN" sz="2800" b="1"/>
              <a:t> </a:t>
            </a:r>
            <a:r>
              <a:rPr lang="zh-CN" altLang="en-US" sz="2800" b="1"/>
              <a:t>外设内部电路只需响应</a:t>
            </a:r>
            <a:r>
              <a:rPr lang="en-US" altLang="zh-CN" sz="2800" b="1"/>
              <a:t> 36MHz</a:t>
            </a:r>
            <a:endParaRPr lang="en-US" altLang="zh-CN" sz="2800" b="1"/>
          </a:p>
          <a:p>
            <a:pPr indent="0" fontAlgn="auto">
              <a:lnSpc>
                <a:spcPct val="120000"/>
              </a:lnSpc>
            </a:pPr>
            <a:r>
              <a:rPr lang="en-US" altLang="en-US" sz="2800" b="1"/>
              <a:t>├──</a:t>
            </a:r>
            <a:r>
              <a:rPr lang="en-US" altLang="zh-CN" sz="2800" b="1"/>
              <a:t> </a:t>
            </a:r>
            <a:r>
              <a:rPr lang="zh-CN" altLang="en-US" sz="2800" b="1"/>
              <a:t>设计更简单</a:t>
            </a:r>
            <a:endParaRPr lang="zh-CN" altLang="en-US" sz="2800" b="1"/>
          </a:p>
          <a:p>
            <a:pPr indent="0" fontAlgn="auto">
              <a:lnSpc>
                <a:spcPct val="120000"/>
              </a:lnSpc>
            </a:pPr>
            <a:r>
              <a:rPr lang="en-US" altLang="en-US" sz="2800" b="1"/>
              <a:t>├──</a:t>
            </a:r>
            <a:r>
              <a:rPr lang="en-US" altLang="zh-CN" sz="2800" b="1"/>
              <a:t> </a:t>
            </a:r>
            <a:r>
              <a:rPr lang="zh-CN" altLang="en-US" sz="2800" b="1"/>
              <a:t>芯片面积更小</a:t>
            </a:r>
            <a:endParaRPr lang="zh-CN" altLang="en-US" sz="2800" b="1"/>
          </a:p>
          <a:p>
            <a:pPr indent="0" fontAlgn="auto">
              <a:lnSpc>
                <a:spcPct val="120000"/>
              </a:lnSpc>
            </a:pPr>
            <a:r>
              <a:rPr lang="en-US" altLang="en-US" sz="2800" b="1"/>
              <a:t>└──</a:t>
            </a:r>
            <a:r>
              <a:rPr lang="en-US" altLang="zh-CN" sz="2800" b="1"/>
              <a:t> </a:t>
            </a:r>
            <a:r>
              <a:rPr lang="zh-CN" altLang="en-US" sz="2800" b="1"/>
              <a:t>成本更低</a:t>
            </a:r>
            <a:r>
              <a:rPr lang="en-US" altLang="zh-CN" sz="2800" b="1"/>
              <a:t> </a:t>
            </a:r>
            <a:r>
              <a:rPr lang="en-US" altLang="en-US" sz="2800" b="1"/>
              <a:t>✅</a:t>
            </a:r>
            <a:endParaRPr lang="zh-CN" altLang="en-US" sz="2800" b="1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26110" y="1138555"/>
            <a:ext cx="11326495" cy="50463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>
                <a:solidFill>
                  <a:srgbClr val="FF0000"/>
                </a:solidFill>
              </a:rPr>
              <a:t>为什么分多条总线？</a:t>
            </a:r>
            <a:endParaRPr lang="zh-CN" altLang="en-US" sz="2800" b="1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en-US" sz="2800" b="1"/>
              <a:t>│</a:t>
            </a:r>
            <a:endParaRPr lang="en-US" altLang="en-US" sz="2800" b="1"/>
          </a:p>
          <a:p>
            <a:pPr>
              <a:lnSpc>
                <a:spcPct val="150000"/>
              </a:lnSpc>
            </a:pPr>
            <a:r>
              <a:rPr lang="en-US" altLang="en-US" sz="2800" b="1"/>
              <a:t>├──</a:t>
            </a:r>
            <a:r>
              <a:rPr lang="en-US" altLang="zh-CN" sz="2800" b="1"/>
              <a:t> 1. </a:t>
            </a:r>
            <a:r>
              <a:rPr lang="zh-CN" altLang="en-US" sz="2800" b="1"/>
              <a:t>⚡</a:t>
            </a:r>
            <a:r>
              <a:rPr lang="en-US" altLang="zh-CN" sz="2800" b="1"/>
              <a:t> </a:t>
            </a:r>
            <a:r>
              <a:rPr lang="zh-CN" altLang="en-US" sz="2800" b="1"/>
              <a:t>速度匹配</a:t>
            </a:r>
            <a:r>
              <a:rPr lang="en-US" altLang="zh-CN" sz="2800" b="1"/>
              <a:t> </a:t>
            </a:r>
            <a:r>
              <a:rPr lang="en-US" altLang="en-US" sz="2800" b="1"/>
              <a:t>──→</a:t>
            </a:r>
            <a:r>
              <a:rPr lang="en-US" altLang="zh-CN" sz="2800" b="1"/>
              <a:t> </a:t>
            </a:r>
            <a:r>
              <a:rPr lang="zh-CN" altLang="en-US" sz="2800" b="1"/>
              <a:t>快设备走快路，慢设备走慢路</a:t>
            </a:r>
            <a:endParaRPr lang="zh-CN" altLang="en-US" sz="2800" b="1"/>
          </a:p>
          <a:p>
            <a:pPr>
              <a:lnSpc>
                <a:spcPct val="150000"/>
              </a:lnSpc>
            </a:pPr>
            <a:r>
              <a:rPr lang="en-US" altLang="en-US" sz="2800" b="1"/>
              <a:t>├──</a:t>
            </a:r>
            <a:r>
              <a:rPr lang="en-US" altLang="zh-CN" sz="2800" b="1"/>
              <a:t> 2. </a:t>
            </a:r>
            <a:r>
              <a:rPr lang="zh-CN" altLang="en-US" sz="2800" b="1"/>
              <a:t>🔋</a:t>
            </a:r>
            <a:r>
              <a:rPr lang="en-US" altLang="zh-CN" sz="2800" b="1"/>
              <a:t> </a:t>
            </a:r>
            <a:r>
              <a:rPr lang="zh-CN" altLang="en-US" sz="2800" b="1"/>
              <a:t>降低功耗</a:t>
            </a:r>
            <a:r>
              <a:rPr lang="en-US" altLang="zh-CN" sz="2800" b="1"/>
              <a:t> </a:t>
            </a:r>
            <a:r>
              <a:rPr lang="en-US" altLang="en-US" sz="2800" b="1"/>
              <a:t>──→</a:t>
            </a:r>
            <a:r>
              <a:rPr lang="en-US" altLang="zh-CN" sz="2800" b="1"/>
              <a:t> </a:t>
            </a:r>
            <a:r>
              <a:rPr lang="zh-CN" altLang="en-US" sz="2800" b="1"/>
              <a:t>低频总线更省电</a:t>
            </a:r>
            <a:endParaRPr lang="zh-CN" altLang="en-US" sz="2800" b="1"/>
          </a:p>
          <a:p>
            <a:pPr>
              <a:lnSpc>
                <a:spcPct val="150000"/>
              </a:lnSpc>
            </a:pPr>
            <a:r>
              <a:rPr lang="en-US" altLang="en-US" sz="2800" b="1"/>
              <a:t>├──</a:t>
            </a:r>
            <a:r>
              <a:rPr lang="en-US" altLang="zh-CN" sz="2800" b="1"/>
              <a:t> 3. </a:t>
            </a:r>
            <a:r>
              <a:rPr lang="zh-CN" altLang="en-US" sz="2800" b="1"/>
              <a:t>🔀</a:t>
            </a:r>
            <a:r>
              <a:rPr lang="en-US" altLang="zh-CN" sz="2800" b="1"/>
              <a:t> </a:t>
            </a:r>
            <a:r>
              <a:rPr lang="zh-CN" altLang="en-US" sz="2800" b="1"/>
              <a:t>避免冲突</a:t>
            </a:r>
            <a:r>
              <a:rPr lang="en-US" altLang="zh-CN" sz="2800" b="1"/>
              <a:t> </a:t>
            </a:r>
            <a:r>
              <a:rPr lang="en-US" altLang="en-US" sz="2800" b="1"/>
              <a:t>──→</a:t>
            </a:r>
            <a:r>
              <a:rPr lang="en-US" altLang="zh-CN" sz="2800" b="1"/>
              <a:t> </a:t>
            </a:r>
            <a:r>
              <a:rPr lang="zh-CN" altLang="en-US" sz="2800" b="1"/>
              <a:t>多总线可并行工作，提高效率</a:t>
            </a:r>
            <a:endParaRPr lang="zh-CN" altLang="en-US" sz="2800" b="1"/>
          </a:p>
          <a:p>
            <a:pPr>
              <a:lnSpc>
                <a:spcPct val="150000"/>
              </a:lnSpc>
            </a:pPr>
            <a:r>
              <a:rPr lang="en-US" altLang="en-US" sz="2800" b="1"/>
              <a:t>├──</a:t>
            </a:r>
            <a:r>
              <a:rPr lang="en-US" altLang="zh-CN" sz="2800" b="1"/>
              <a:t> 4. </a:t>
            </a:r>
            <a:r>
              <a:rPr lang="zh-CN" altLang="en-US" sz="2800" b="1"/>
              <a:t>💰</a:t>
            </a:r>
            <a:r>
              <a:rPr lang="en-US" altLang="zh-CN" sz="2800" b="1"/>
              <a:t> </a:t>
            </a:r>
            <a:r>
              <a:rPr lang="zh-CN" altLang="en-US" sz="2800" b="1"/>
              <a:t>降低成本</a:t>
            </a:r>
            <a:r>
              <a:rPr lang="en-US" altLang="zh-CN" sz="2800" b="1"/>
              <a:t> </a:t>
            </a:r>
            <a:r>
              <a:rPr lang="en-US" altLang="en-US" sz="2800" b="1"/>
              <a:t>──→</a:t>
            </a:r>
            <a:r>
              <a:rPr lang="en-US" altLang="zh-CN" sz="2800" b="1"/>
              <a:t> </a:t>
            </a:r>
            <a:r>
              <a:rPr lang="zh-CN" altLang="en-US" sz="2800" b="1"/>
              <a:t>慢设备不需要复杂的高速接口</a:t>
            </a:r>
            <a:endParaRPr lang="zh-CN" altLang="en-US" sz="2800" b="1"/>
          </a:p>
          <a:p>
            <a:pPr>
              <a:lnSpc>
                <a:spcPct val="150000"/>
              </a:lnSpc>
            </a:pPr>
            <a:r>
              <a:rPr lang="en-US" altLang="en-US" sz="2800" b="1"/>
              <a:t>└──</a:t>
            </a:r>
            <a:r>
              <a:rPr lang="en-US" altLang="zh-CN" sz="2800" b="1"/>
              <a:t> 5. </a:t>
            </a:r>
            <a:r>
              <a:rPr lang="zh-CN" altLang="en-US" sz="2800" b="1"/>
              <a:t>🎛</a:t>
            </a:r>
            <a:r>
              <a:rPr lang="en-US" altLang="zh-CN" sz="2800" b="1"/>
              <a:t> </a:t>
            </a:r>
            <a:r>
              <a:rPr lang="zh-CN" altLang="en-US" sz="2800" b="1"/>
              <a:t>精细管控</a:t>
            </a:r>
            <a:r>
              <a:rPr lang="en-US" altLang="zh-CN" sz="2800" b="1"/>
              <a:t> </a:t>
            </a:r>
            <a:r>
              <a:rPr lang="en-US" altLang="en-US" sz="2800" b="1"/>
              <a:t>──→</a:t>
            </a:r>
            <a:r>
              <a:rPr lang="en-US" altLang="zh-CN" sz="2800" b="1"/>
              <a:t> </a:t>
            </a:r>
            <a:r>
              <a:rPr lang="zh-CN" altLang="en-US" sz="2800" b="1"/>
              <a:t>可以单独开关每条总线的时钟</a:t>
            </a:r>
            <a:endParaRPr lang="zh-CN" altLang="en-US" sz="2800" b="1"/>
          </a:p>
          <a:p>
            <a:endParaRPr lang="zh-CN" altLang="en-US" sz="2800" b="1"/>
          </a:p>
        </p:txBody>
      </p:sp>
      <p:sp>
        <p:nvSpPr>
          <p:cNvPr id="5" name="文本框 4"/>
          <p:cNvSpPr txBox="1"/>
          <p:nvPr/>
        </p:nvSpPr>
        <p:spPr>
          <a:xfrm>
            <a:off x="4135120" y="276860"/>
            <a:ext cx="364617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ts val="1000"/>
              </a:spcBef>
              <a:spcAft>
                <a:spcPts val="600"/>
              </a:spcAft>
            </a:pPr>
            <a:r>
              <a:rPr lang="zh-CN" altLang="en-US" sz="3200" b="1" i="0">
                <a:solidFill>
                  <a:srgbClr val="3333FF"/>
                </a:solidFill>
                <a:latin typeface="ui-sans-serif"/>
                <a:ea typeface="ui-sans-serif"/>
              </a:rPr>
              <a:t>总结：五大原因</a:t>
            </a:r>
            <a:endParaRPr lang="zh-CN" altLang="en-US" sz="3200" b="1" i="0">
              <a:solidFill>
                <a:srgbClr val="3333FF"/>
              </a:solidFill>
              <a:latin typeface="ui-sans-serif"/>
              <a:ea typeface="ui-sans-serif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6715" y="201930"/>
            <a:ext cx="4417060" cy="760095"/>
          </a:xfrm>
        </p:spPr>
        <p:txBody>
          <a:bodyPr>
            <a:normAutofit/>
          </a:bodyPr>
          <a:lstStyle/>
          <a:p>
            <a:r>
              <a:rPr lang="zh-CN" altLang="en-US" sz="3200" b="1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中断响应完整过程：</a:t>
            </a:r>
            <a:endParaRPr lang="zh-CN" altLang="en-US" sz="3200" b="1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" name="图示 3"/>
          <p:cNvGraphicFramePr/>
          <p:nvPr/>
        </p:nvGraphicFramePr>
        <p:xfrm>
          <a:off x="285750" y="346710"/>
          <a:ext cx="11423650" cy="6386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8497570" y="3964940"/>
            <a:ext cx="3372485" cy="19348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noAutofit/>
          </a:bodyPr>
          <a:lstStyle/>
          <a:p>
            <a:pPr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>
                <a:solidFill>
                  <a:srgbClr val="FF0000"/>
                </a:solidFill>
              </a:rPr>
              <a:t>6. </a:t>
            </a:r>
            <a:r>
              <a:rPr lang="zh-CN" altLang="en-US" sz="2400" b="1">
                <a:solidFill>
                  <a:srgbClr val="FF0000"/>
                </a:solidFill>
              </a:rPr>
              <a:t>【</a:t>
            </a:r>
            <a:r>
              <a:rPr lang="zh-CN" altLang="en-US" sz="2400" b="1" dirty="0">
                <a:solidFill>
                  <a:srgbClr val="FF0000"/>
                </a:solidFill>
                <a:sym typeface="+mn-ea"/>
              </a:rPr>
              <a:t>软件执行</a:t>
            </a:r>
            <a:r>
              <a:rPr lang="zh-CN" altLang="en-US" sz="2400" b="1">
                <a:solidFill>
                  <a:srgbClr val="FF0000"/>
                </a:solidFill>
              </a:rPr>
              <a:t>】</a:t>
            </a:r>
            <a:r>
              <a:rPr lang="en-US" altLang="zh-CN" sz="2400" b="1" dirty="0">
                <a:solidFill>
                  <a:srgbClr val="FF0000"/>
                </a:solidFill>
                <a:sym typeface="+mn-ea"/>
              </a:rPr>
              <a:t>EXTIx_IRQHandler()</a:t>
            </a:r>
            <a:endParaRPr lang="en-US" altLang="zh-CN" sz="2400" b="1" dirty="0">
              <a:solidFill>
                <a:srgbClr val="FF0000"/>
              </a:solidFill>
              <a:sym typeface="+mn-ea"/>
            </a:endParaRPr>
          </a:p>
          <a:p>
            <a:pPr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400" b="1" dirty="0">
              <a:solidFill>
                <a:srgbClr val="FF0000"/>
              </a:solidFill>
              <a:sym typeface="+mn-ea"/>
            </a:endParaRPr>
          </a:p>
          <a:p>
            <a:pPr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rgbClr val="FF0000"/>
                </a:solidFill>
                <a:sym typeface="+mn-ea"/>
              </a:rPr>
              <a:t>7. </a:t>
            </a:r>
            <a:r>
              <a:rPr lang="zh-CN" altLang="en-US" sz="2400" b="1" dirty="0">
                <a:solidFill>
                  <a:srgbClr val="FF0000"/>
                </a:solidFill>
                <a:sym typeface="+mn-ea"/>
              </a:rPr>
              <a:t>中断返回（硬件自动完成）</a:t>
            </a:r>
            <a:endParaRPr lang="zh-CN" altLang="en-US" sz="2400" b="1" dirty="0">
              <a:solidFill>
                <a:srgbClr val="FF0000"/>
              </a:solidFill>
              <a:sym typeface="+mn-ea"/>
            </a:endParaRPr>
          </a:p>
          <a:p>
            <a:pPr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400" b="1">
              <a:solidFill>
                <a:srgbClr val="FF0000"/>
              </a:solidFill>
            </a:endParaRPr>
          </a:p>
        </p:txBody>
      </p:sp>
      <p:cxnSp>
        <p:nvCxnSpPr>
          <p:cNvPr id="6" name="直接箭头连接符 5"/>
          <p:cNvCxnSpPr>
            <a:endCxn id="5" idx="1"/>
          </p:cNvCxnSpPr>
          <p:nvPr/>
        </p:nvCxnSpPr>
        <p:spPr>
          <a:xfrm>
            <a:off x="7743190" y="4906010"/>
            <a:ext cx="75438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003425" y="5162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00605" y="155575"/>
            <a:ext cx="7768590" cy="6546850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 fontScale="97500"/>
          </a:bodyPr>
          <a:lstStyle/>
          <a:p>
            <a:pPr marL="0" indent="0" algn="ctr">
              <a:buNone/>
            </a:pPr>
            <a:r>
              <a:rPr lang="zh-CN" altLang="en-US" sz="3555" b="1" dirty="0">
                <a:solidFill>
                  <a:srgbClr val="3333FF"/>
                </a:solidFill>
              </a:rPr>
              <a:t>【软件执行】</a:t>
            </a:r>
            <a:endParaRPr lang="zh-CN" altLang="en-US" b="1" dirty="0"/>
          </a:p>
          <a:p>
            <a:r>
              <a:rPr lang="zh-CN" altLang="en-US" b="1" dirty="0">
                <a:solidFill>
                  <a:srgbClr val="3333FF"/>
                </a:solidFill>
              </a:rPr>
              <a:t>检查中断标志</a:t>
            </a:r>
            <a:r>
              <a:rPr lang="en-US" altLang="zh-CN" b="1" dirty="0">
                <a:solidFill>
                  <a:srgbClr val="3333FF"/>
                </a:solidFill>
              </a:rPr>
              <a:t> </a:t>
            </a:r>
            <a:r>
              <a:rPr lang="zh-CN" altLang="en-US" b="1" dirty="0">
                <a:solidFill>
                  <a:srgbClr val="3333FF"/>
                </a:solidFill>
              </a:rPr>
              <a:t>：</a:t>
            </a:r>
            <a:r>
              <a:rPr lang="en-US" altLang="zh-CN" b="1" dirty="0">
                <a:solidFill>
                  <a:srgbClr val="3333FF"/>
                </a:solidFill>
              </a:rPr>
              <a:t> </a:t>
            </a:r>
            <a:r>
              <a:rPr lang="en-US" altLang="zh-CN" b="1" dirty="0"/>
              <a:t>       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         if(EXTI_GetITStatus(EXTI_Linex))</a:t>
            </a:r>
            <a:endParaRPr lang="en-US" altLang="en-US" b="1" dirty="0"/>
          </a:p>
          <a:p>
            <a:pPr marL="0" indent="0">
              <a:buNone/>
            </a:pPr>
            <a:r>
              <a:rPr lang="en-US" altLang="zh-CN" b="1" dirty="0"/>
              <a:t>         - </a:t>
            </a:r>
            <a:r>
              <a:rPr lang="zh-CN" altLang="en-US" b="1" dirty="0"/>
              <a:t>读取</a:t>
            </a:r>
            <a:r>
              <a:rPr lang="en-US" altLang="zh-CN" b="1" dirty="0"/>
              <a:t>EXTI_PR</a:t>
            </a:r>
            <a:r>
              <a:rPr lang="zh-CN" altLang="en-US" b="1" dirty="0"/>
              <a:t>寄存器</a:t>
            </a:r>
            <a:r>
              <a:rPr lang="en-US" altLang="zh-CN" b="1" dirty="0"/>
              <a:t>         </a:t>
            </a:r>
            <a:endParaRPr lang="en-US" altLang="en-US" b="1" dirty="0"/>
          </a:p>
          <a:p>
            <a:r>
              <a:rPr lang="en-US" altLang="zh-CN" b="1" dirty="0">
                <a:solidFill>
                  <a:srgbClr val="3333FF"/>
                </a:solidFill>
              </a:rPr>
              <a:t> </a:t>
            </a:r>
            <a:r>
              <a:rPr lang="zh-CN" altLang="en-US" b="1" dirty="0">
                <a:solidFill>
                  <a:srgbClr val="3333FF"/>
                </a:solidFill>
              </a:rPr>
              <a:t>执行中断处理代码：</a:t>
            </a:r>
            <a:r>
              <a:rPr lang="en-US" altLang="zh-CN" b="1" dirty="0"/>
              <a:t>      </a:t>
            </a:r>
            <a:endParaRPr lang="en-US" altLang="en-US" b="1" dirty="0"/>
          </a:p>
          <a:p>
            <a:pPr marL="0" indent="0">
              <a:buNone/>
            </a:pPr>
            <a:r>
              <a:rPr lang="en-US" altLang="zh-CN" b="1" dirty="0"/>
              <a:t>         - </a:t>
            </a:r>
            <a:r>
              <a:rPr lang="zh-CN" altLang="en-US" b="1" dirty="0"/>
              <a:t>用户编写的业务逻辑</a:t>
            </a:r>
            <a:r>
              <a:rPr lang="en-US" altLang="zh-CN" b="1" dirty="0"/>
              <a:t>             </a:t>
            </a:r>
            <a:endParaRPr lang="en-US" altLang="en-US" b="1" dirty="0"/>
          </a:p>
          <a:p>
            <a:pPr marL="0" indent="0">
              <a:buNone/>
            </a:pPr>
            <a:r>
              <a:rPr lang="en-US" altLang="zh-CN" b="1" dirty="0"/>
              <a:t>         - </a:t>
            </a:r>
            <a:r>
              <a:rPr lang="zh-CN" altLang="en-US" b="1" dirty="0"/>
              <a:t>翻转</a:t>
            </a:r>
            <a:r>
              <a:rPr lang="en-US" altLang="zh-CN" b="1" dirty="0"/>
              <a:t>LED</a:t>
            </a:r>
            <a:r>
              <a:rPr lang="zh-CN" altLang="en-US" b="1" dirty="0"/>
              <a:t>、读取按键等</a:t>
            </a:r>
            <a:endParaRPr lang="zh-CN" altLang="en-US" b="1" dirty="0"/>
          </a:p>
          <a:p>
            <a:r>
              <a:rPr lang="zh-CN" altLang="en-US" b="1" dirty="0">
                <a:solidFill>
                  <a:srgbClr val="3333FF"/>
                </a:solidFill>
              </a:rPr>
              <a:t>清除中断标志</a:t>
            </a:r>
            <a:r>
              <a:rPr lang="en-US" altLang="zh-CN" b="1" dirty="0">
                <a:solidFill>
                  <a:srgbClr val="3333FF"/>
                </a:solidFill>
              </a:rPr>
              <a:t>(</a:t>
            </a:r>
            <a:r>
              <a:rPr lang="zh-CN" altLang="en-US" b="1" dirty="0">
                <a:solidFill>
                  <a:srgbClr val="3333FF"/>
                </a:solidFill>
              </a:rPr>
              <a:t>必需</a:t>
            </a:r>
            <a:r>
              <a:rPr lang="en-US" altLang="zh-CN" b="1" dirty="0">
                <a:solidFill>
                  <a:srgbClr val="3333FF"/>
                </a:solidFill>
              </a:rPr>
              <a:t>!)   </a:t>
            </a:r>
            <a:endParaRPr lang="en-US" altLang="en-US" b="1" dirty="0">
              <a:solidFill>
                <a:srgbClr val="3333FF"/>
              </a:solidFill>
            </a:endParaRPr>
          </a:p>
          <a:p>
            <a:pPr marL="0" indent="0">
              <a:buNone/>
            </a:pPr>
            <a:r>
              <a:rPr lang="en-US" altLang="zh-CN" b="1" dirty="0"/>
              <a:t>          EXTI_ClearITPendingBit(EXTI_Linex)</a:t>
            </a:r>
            <a:endParaRPr lang="en-US" altLang="en-US" b="1" dirty="0"/>
          </a:p>
          <a:p>
            <a:pPr marL="0" indent="0">
              <a:buNone/>
            </a:pPr>
            <a:r>
              <a:rPr lang="en-US" altLang="zh-CN" b="1" dirty="0"/>
              <a:t>       - </a:t>
            </a:r>
            <a:r>
              <a:rPr lang="zh-CN" altLang="en-US" b="1" dirty="0"/>
              <a:t>向</a:t>
            </a:r>
            <a:r>
              <a:rPr lang="en-US" altLang="zh-CN" b="1" dirty="0"/>
              <a:t>EXTI_PR</a:t>
            </a:r>
            <a:r>
              <a:rPr lang="zh-CN" altLang="en-US" b="1" dirty="0"/>
              <a:t>寄存器写</a:t>
            </a:r>
            <a:r>
              <a:rPr lang="en-US" altLang="zh-CN" b="1" dirty="0"/>
              <a:t>1</a:t>
            </a:r>
            <a:r>
              <a:rPr lang="zh-CN" altLang="en-US" b="1" dirty="0"/>
              <a:t>清除</a:t>
            </a:r>
            <a:r>
              <a:rPr lang="en-US" altLang="zh-CN" b="1" dirty="0"/>
              <a:t>         </a:t>
            </a:r>
            <a:endParaRPr lang="en-US" altLang="en-US" b="1" dirty="0"/>
          </a:p>
          <a:p>
            <a:pPr marL="0" indent="0">
              <a:buNone/>
            </a:pPr>
            <a:r>
              <a:rPr lang="en-US" altLang="zh-CN" b="1" dirty="0"/>
              <a:t>       - </a:t>
            </a:r>
            <a:r>
              <a:rPr lang="zh-CN" altLang="en-US" b="1" dirty="0"/>
              <a:t>不清除会导致重复进入中断</a:t>
            </a:r>
            <a:endParaRPr lang="zh-CN" altLang="en-US" b="1" dirty="0"/>
          </a:p>
          <a:p>
            <a:r>
              <a:rPr lang="zh-CN" altLang="en-US" b="1" dirty="0">
                <a:solidFill>
                  <a:srgbClr val="3333FF"/>
                </a:solidFill>
              </a:rPr>
              <a:t>退出中断函数</a:t>
            </a:r>
            <a:r>
              <a:rPr lang="en-US" altLang="zh-CN" b="1" dirty="0">
                <a:solidFill>
                  <a:srgbClr val="3333FF"/>
                </a:solidFill>
              </a:rPr>
              <a:t>  </a:t>
            </a:r>
            <a:r>
              <a:rPr lang="en-US" altLang="zh-CN" b="1" dirty="0"/>
              <a:t>        </a:t>
            </a:r>
            <a:endParaRPr lang="en-US" altLang="en-US" b="1" dirty="0"/>
          </a:p>
          <a:p>
            <a:pPr marL="0" indent="0">
              <a:buNone/>
            </a:pPr>
            <a:r>
              <a:rPr lang="en-US" altLang="zh-CN" b="1" dirty="0"/>
              <a:t>      - </a:t>
            </a:r>
            <a:r>
              <a:rPr lang="zh-CN" altLang="en-US" b="1" dirty="0"/>
              <a:t>执行</a:t>
            </a:r>
            <a:r>
              <a:rPr lang="en-US" altLang="zh-CN" b="1" dirty="0"/>
              <a:t>return</a:t>
            </a:r>
            <a:r>
              <a:rPr lang="zh-CN" altLang="en-US" b="1" dirty="0"/>
              <a:t>或函数结束</a:t>
            </a:r>
            <a:endParaRPr lang="zh-CN" alt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0230" y="116840"/>
            <a:ext cx="10515600" cy="1367155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例程</a:t>
            </a:r>
            <a:r>
              <a:rPr lang="en-US" altLang="zh-CN" sz="3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3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br>
              <a:rPr lang="zh-CN" altLang="en-US" sz="3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3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用外中断法</a:t>
            </a:r>
            <a:r>
              <a:rPr lang="en-US" altLang="zh-CN" sz="3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GPIO</a:t>
            </a:r>
            <a:r>
              <a:rPr lang="zh-CN" altLang="en-US" sz="3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</a:t>
            </a:r>
            <a:r>
              <a:rPr lang="en-US" altLang="zh-CN" sz="3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PA2</a:t>
            </a:r>
            <a:r>
              <a:rPr lang="zh-CN" altLang="en-US" sz="3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实现手动流水灯</a:t>
            </a:r>
            <a:endParaRPr lang="zh-CN" altLang="en-US" sz="36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365" y="1784350"/>
            <a:ext cx="7397750" cy="37541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2997835"/>
            <a:ext cx="3314700" cy="165798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3353" r="2745"/>
          <a:stretch>
            <a:fillRect/>
          </a:stretch>
        </p:blipFill>
        <p:spPr>
          <a:xfrm>
            <a:off x="53340" y="187325"/>
            <a:ext cx="6087745" cy="6437630"/>
          </a:xfrm>
          <a:prstGeom prst="rect">
            <a:avLst/>
          </a:prstGeom>
          <a:ln w="22225">
            <a:solidFill>
              <a:schemeClr val="accent5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l="3843" r="3142"/>
          <a:stretch>
            <a:fillRect/>
          </a:stretch>
        </p:blipFill>
        <p:spPr>
          <a:xfrm>
            <a:off x="6211570" y="186055"/>
            <a:ext cx="5935980" cy="642239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r="3671" b="2984"/>
          <a:stretch>
            <a:fillRect/>
          </a:stretch>
        </p:blipFill>
        <p:spPr>
          <a:xfrm>
            <a:off x="3383280" y="44450"/>
            <a:ext cx="5699125" cy="6731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0230" y="0"/>
            <a:ext cx="10515600" cy="1367155"/>
          </a:xfrm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zh-CN" altLang="en-US" sz="3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例程</a:t>
            </a:r>
            <a:r>
              <a:rPr lang="en-US" altLang="zh-CN" sz="3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3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br>
              <a:rPr lang="zh-CN" altLang="en-US" sz="3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3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用外中断法</a:t>
            </a:r>
            <a:r>
              <a:rPr lang="zh-CN" sz="3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实现矩阵按键对数码管显示加、减、清零操作</a:t>
            </a:r>
            <a:endParaRPr lang="zh-CN" sz="36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230" y="1312447"/>
            <a:ext cx="4524521" cy="498659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4128" y="2218829"/>
            <a:ext cx="7110054" cy="2767386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6151" y="508000"/>
            <a:ext cx="11499698" cy="201479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>
                <a:solidFill>
                  <a:srgbClr val="3333FF"/>
                </a:solidFill>
                <a:latin typeface="微软雅黑" panose="020B0503020204020204" charset="-122"/>
                <a:ea typeface="微软雅黑" panose="020B0503020204020204" charset="-122"/>
              </a:rPr>
              <a:t>display buffer   </a:t>
            </a:r>
            <a:r>
              <a:rPr lang="zh-CN" altLang="en-US" sz="3200" b="1" dirty="0">
                <a:solidFill>
                  <a:srgbClr val="3333FF"/>
                </a:solidFill>
                <a:latin typeface="微软雅黑" panose="020B0503020204020204" charset="-122"/>
                <a:ea typeface="微软雅黑" panose="020B0503020204020204" charset="-122"/>
              </a:rPr>
              <a:t>显示缓冲区</a:t>
            </a:r>
            <a:b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3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disbuf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[8]={10,10,10,0,0,0,0,0};  </a:t>
            </a:r>
            <a:b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数码管要显示的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十进制数字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缓冲区，一共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数码管</a:t>
            </a:r>
            <a:endParaRPr lang="zh-CN" altLang="en-US" sz="28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530" y="2938532"/>
            <a:ext cx="10722939" cy="2500976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937846" y="3985846"/>
            <a:ext cx="10050585" cy="5783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7884" y="258323"/>
            <a:ext cx="11660552" cy="3844758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rgbClr val="3333FF"/>
                </a:solidFill>
              </a:rPr>
              <a:t>display mode  </a:t>
            </a:r>
            <a:r>
              <a:rPr lang="zh-CN" altLang="en-US" sz="3200" b="1" dirty="0">
                <a:solidFill>
                  <a:srgbClr val="3333FF"/>
                </a:solidFill>
              </a:rPr>
              <a:t>显示</a:t>
            </a:r>
            <a:r>
              <a:rPr lang="zh-CN" altLang="en-US" sz="3200" b="1" dirty="0">
                <a:solidFill>
                  <a:srgbClr val="FF0000"/>
                </a:solidFill>
              </a:rPr>
              <a:t>段码</a:t>
            </a:r>
            <a:r>
              <a:rPr lang="zh-CN" altLang="en-US" sz="3200" b="1" dirty="0">
                <a:solidFill>
                  <a:srgbClr val="3333FF"/>
                </a:solidFill>
              </a:rPr>
              <a:t>表</a:t>
            </a:r>
            <a:endParaRPr lang="en-US" altLang="zh-CN" sz="3200" dirty="0">
              <a:solidFill>
                <a:srgbClr val="3333FF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dismode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]={0X3F,0X06,0X5B,0X4F,0X66,0X6D,0X7D,0X07,0X7F,0X6F,  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            0x00};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zh-CN" altLang="en-US" sz="3200" b="1" dirty="0">
                <a:solidFill>
                  <a:srgbClr val="3333FF"/>
                </a:solidFill>
                <a:latin typeface="微软雅黑" panose="020B0503020204020204" charset="-122"/>
                <a:ea typeface="微软雅黑" panose="020B0503020204020204" charset="-122"/>
              </a:rPr>
              <a:t>使能段码</a:t>
            </a:r>
            <a:endParaRPr lang="en-US" altLang="zh-CN" sz="3200" b="1" dirty="0">
              <a:solidFill>
                <a:srgbClr val="3333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1" dirty="0" err="1">
                <a:solidFill>
                  <a:srgbClr val="FF0000"/>
                </a:solidFill>
              </a:rPr>
              <a:t>GPIO_WriteBit</a:t>
            </a:r>
            <a:r>
              <a:rPr lang="en-US" altLang="zh-CN" dirty="0"/>
              <a:t>(GPIOA,GPIO_Pin_12,(</a:t>
            </a:r>
            <a:r>
              <a:rPr lang="en-US" altLang="zh-CN" dirty="0" err="1">
                <a:solidFill>
                  <a:srgbClr val="FF0000"/>
                </a:solidFill>
              </a:rPr>
              <a:t>BitAction</a:t>
            </a:r>
            <a:r>
              <a:rPr lang="en-US" altLang="zh-CN" dirty="0"/>
              <a:t>)(</a:t>
            </a:r>
            <a:r>
              <a:rPr lang="en-US" altLang="zh-CN" dirty="0" err="1"/>
              <a:t>dismode</a:t>
            </a:r>
            <a:r>
              <a:rPr lang="en-US" altLang="zh-CN" dirty="0"/>
              <a:t>[</a:t>
            </a:r>
            <a:r>
              <a:rPr lang="en-US" altLang="zh-CN" dirty="0" err="1">
                <a:solidFill>
                  <a:srgbClr val="FF0000"/>
                </a:solidFill>
              </a:rPr>
              <a:t>disbuf</a:t>
            </a:r>
            <a:r>
              <a:rPr lang="en-US" altLang="zh-CN" dirty="0">
                <a:solidFill>
                  <a:srgbClr val="FF0000"/>
                </a:solidFill>
              </a:rPr>
              <a:t>[count]</a:t>
            </a:r>
            <a:r>
              <a:rPr lang="en-US" altLang="zh-CN" dirty="0"/>
              <a:t>]&amp;0x01));</a:t>
            </a: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3333FF"/>
                </a:solidFill>
              </a:rPr>
              <a:t>(</a:t>
            </a:r>
            <a:r>
              <a:rPr lang="en-US" altLang="zh-CN" b="1" dirty="0" err="1">
                <a:solidFill>
                  <a:srgbClr val="3333FF"/>
                </a:solidFill>
              </a:rPr>
              <a:t>BitAction</a:t>
            </a:r>
            <a:r>
              <a:rPr lang="en-US" altLang="zh-CN" dirty="0">
                <a:solidFill>
                  <a:srgbClr val="3333FF"/>
                </a:solidFill>
              </a:rPr>
              <a:t>)</a:t>
            </a:r>
            <a:r>
              <a:rPr lang="zh-CN" altLang="en-US" dirty="0"/>
              <a:t>强制类型转换为</a:t>
            </a:r>
            <a:r>
              <a:rPr lang="en-US" altLang="zh-CN" dirty="0" err="1"/>
              <a:t>Bit_SET</a:t>
            </a:r>
            <a:r>
              <a:rPr lang="en-US" altLang="zh-CN" dirty="0"/>
              <a:t>(1)</a:t>
            </a:r>
            <a:r>
              <a:rPr lang="zh-CN" altLang="en-US" dirty="0"/>
              <a:t>或</a:t>
            </a:r>
            <a:r>
              <a:rPr lang="en-US" altLang="zh-CN" dirty="0" err="1"/>
              <a:t>Bit_RESET</a:t>
            </a:r>
            <a:r>
              <a:rPr lang="en-US" altLang="zh-CN" dirty="0"/>
              <a:t>(0)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350536"/>
            <a:ext cx="11908436" cy="2372503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25387" y="140274"/>
            <a:ext cx="2384685" cy="849078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solidFill>
                  <a:srgbClr val="3333FF"/>
                </a:solidFill>
                <a:latin typeface="微软雅黑" panose="020B0503020204020204" charset="-122"/>
                <a:ea typeface="微软雅黑" panose="020B0503020204020204" charset="-122"/>
              </a:rPr>
              <a:t>使能位码</a:t>
            </a:r>
            <a:endParaRPr lang="zh-CN" altLang="en-US" sz="3600" b="1" dirty="0">
              <a:solidFill>
                <a:srgbClr val="3333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4826" y="931958"/>
            <a:ext cx="11662348" cy="1123488"/>
          </a:xfrm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altLang="zh-CN" b="1" dirty="0" err="1">
                <a:solidFill>
                  <a:srgbClr val="FF0000"/>
                </a:solidFill>
              </a:rPr>
              <a:t>GPIO_WriteBit</a:t>
            </a:r>
            <a:r>
              <a:rPr lang="en-US" altLang="zh-CN" b="1" dirty="0"/>
              <a:t>(GPIOB,GPIO_Pin_14,(</a:t>
            </a:r>
            <a:r>
              <a:rPr lang="en-US" altLang="zh-CN" b="1" dirty="0" err="1"/>
              <a:t>BitAction</a:t>
            </a:r>
            <a:r>
              <a:rPr lang="en-US" altLang="zh-CN" b="1" dirty="0"/>
              <a:t>)((</a:t>
            </a:r>
            <a:r>
              <a:rPr lang="en-US" altLang="zh-CN" b="1" dirty="0">
                <a:solidFill>
                  <a:srgbClr val="FF0000"/>
                </a:solidFill>
              </a:rPr>
              <a:t>1&lt;&lt;count</a:t>
            </a:r>
            <a:r>
              <a:rPr lang="en-US" altLang="zh-CN" b="1" dirty="0"/>
              <a:t>) &amp; 0x01));</a:t>
            </a:r>
            <a:endParaRPr lang="en-US" altLang="zh-CN" b="1" dirty="0"/>
          </a:p>
          <a:p>
            <a:r>
              <a:rPr lang="en-US" altLang="zh-CN" b="1" dirty="0">
                <a:solidFill>
                  <a:srgbClr val="FF0000"/>
                </a:solidFill>
              </a:rPr>
              <a:t>1&lt;&lt;count</a:t>
            </a:r>
            <a:r>
              <a:rPr lang="zh-CN" altLang="en-US" b="1" dirty="0">
                <a:solidFill>
                  <a:srgbClr val="FF0000"/>
                </a:solidFill>
              </a:rPr>
              <a:t>将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zh-CN" altLang="en-US" b="1" dirty="0">
                <a:solidFill>
                  <a:srgbClr val="FF0000"/>
                </a:solidFill>
              </a:rPr>
              <a:t>左移</a:t>
            </a:r>
            <a:r>
              <a:rPr lang="en-US" altLang="zh-CN" b="1" dirty="0">
                <a:solidFill>
                  <a:srgbClr val="FF0000"/>
                </a:solidFill>
              </a:rPr>
              <a:t>count</a:t>
            </a:r>
            <a:r>
              <a:rPr lang="zh-CN" altLang="en-US" b="1" dirty="0">
                <a:solidFill>
                  <a:srgbClr val="FF0000"/>
                </a:solidFill>
              </a:rPr>
              <a:t>位，生成只有第</a:t>
            </a:r>
            <a:r>
              <a:rPr lang="en-US" altLang="zh-CN" b="1" dirty="0">
                <a:solidFill>
                  <a:srgbClr val="FF0000"/>
                </a:solidFill>
              </a:rPr>
              <a:t>count</a:t>
            </a:r>
            <a:r>
              <a:rPr lang="zh-CN" altLang="en-US" b="1" dirty="0">
                <a:solidFill>
                  <a:srgbClr val="FF0000"/>
                </a:solidFill>
              </a:rPr>
              <a:t>位为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zh-CN" altLang="en-US" b="1" dirty="0">
                <a:solidFill>
                  <a:srgbClr val="FF0000"/>
                </a:solidFill>
              </a:rPr>
              <a:t>的值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r="40939"/>
          <a:stretch>
            <a:fillRect/>
          </a:stretch>
        </p:blipFill>
        <p:spPr>
          <a:xfrm>
            <a:off x="198075" y="2320912"/>
            <a:ext cx="11129136" cy="3927423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7997" b="6018"/>
          <a:stretch>
            <a:fillRect/>
          </a:stretch>
        </p:blipFill>
        <p:spPr>
          <a:xfrm>
            <a:off x="2433660" y="1359877"/>
            <a:ext cx="6077293" cy="306437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9919" y="0"/>
            <a:ext cx="1195215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3333FF"/>
                </a:solidFill>
              </a:rPr>
              <a:t>如：显示</a:t>
            </a:r>
            <a:r>
              <a:rPr lang="en-US" altLang="zh-CN" sz="3200" b="1" dirty="0">
                <a:solidFill>
                  <a:srgbClr val="3333FF"/>
                </a:solidFill>
              </a:rPr>
              <a:t>65535</a:t>
            </a:r>
            <a:endParaRPr lang="en-US" altLang="zh-CN" sz="3200" b="1" dirty="0">
              <a:solidFill>
                <a:srgbClr val="3333FF"/>
              </a:solidFill>
            </a:endParaRPr>
          </a:p>
          <a:p>
            <a:r>
              <a:rPr lang="en-US" altLang="zh-CN" sz="2800" b="1" dirty="0">
                <a:solidFill>
                  <a:srgbClr val="FF0000"/>
                </a:solidFill>
              </a:rPr>
              <a:t>             65535%10=5             </a:t>
            </a:r>
            <a:r>
              <a:rPr lang="zh-CN" altLang="en-US" sz="2800" b="1" dirty="0">
                <a:solidFill>
                  <a:srgbClr val="FF0000"/>
                </a:solidFill>
              </a:rPr>
              <a:t>取余，就是求最后一位数字</a:t>
            </a:r>
            <a:r>
              <a:rPr lang="en-US" altLang="zh-CN" sz="2800" b="1" dirty="0">
                <a:solidFill>
                  <a:srgbClr val="FF0000"/>
                </a:solidFill>
              </a:rPr>
              <a:t>          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r>
              <a:rPr lang="en-US" altLang="zh-CN" sz="2800" b="1" dirty="0">
                <a:solidFill>
                  <a:srgbClr val="FF0000"/>
                </a:solidFill>
              </a:rPr>
              <a:t>             65535/10=6553        </a:t>
            </a:r>
            <a:r>
              <a:rPr lang="zh-CN" altLang="en-US" sz="2800" b="1" dirty="0">
                <a:solidFill>
                  <a:srgbClr val="FF0000"/>
                </a:solidFill>
              </a:rPr>
              <a:t>整数除法，只保留整数部分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961" y="4564470"/>
            <a:ext cx="12072077" cy="2117683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8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disbuf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[8]={10,10,10,</a:t>
            </a:r>
            <a:r>
              <a:rPr lang="en-US" altLang="zh-CN" sz="2800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6,5,5,3,5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};</a:t>
            </a:r>
            <a:b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8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dismode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800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]={0X3F,0X06,0X5B,0X4F,0X66,0X6D,0X7D,0X07,0X7F,0X6F,</a:t>
            </a:r>
            <a:r>
              <a:rPr lang="en-US" altLang="zh-CN" sz="2800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0x00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};</a:t>
            </a:r>
            <a:b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800" b="1" dirty="0" err="1">
                <a:solidFill>
                  <a:srgbClr val="FF0000"/>
                </a:solidFill>
              </a:rPr>
              <a:t>GPIO_WriteBit</a:t>
            </a:r>
            <a:r>
              <a:rPr lang="en-US" altLang="zh-CN" sz="2800" dirty="0"/>
              <a:t>(GPIOA,GPIO_Pin_12,(</a:t>
            </a:r>
            <a:r>
              <a:rPr lang="en-US" altLang="zh-CN" sz="2800" dirty="0" err="1">
                <a:solidFill>
                  <a:srgbClr val="FF0000"/>
                </a:solidFill>
              </a:rPr>
              <a:t>BitAction</a:t>
            </a:r>
            <a:r>
              <a:rPr lang="en-US" altLang="zh-CN" sz="2800" dirty="0"/>
              <a:t>)(</a:t>
            </a:r>
            <a:r>
              <a:rPr lang="en-US" altLang="zh-CN" sz="2800" dirty="0" err="1"/>
              <a:t>dismode</a:t>
            </a:r>
            <a:r>
              <a:rPr lang="en-US" altLang="zh-CN" sz="2800" dirty="0"/>
              <a:t>[</a:t>
            </a:r>
            <a:r>
              <a:rPr lang="en-US" altLang="zh-CN" sz="2800" dirty="0" err="1">
                <a:solidFill>
                  <a:srgbClr val="FF0000"/>
                </a:solidFill>
              </a:rPr>
              <a:t>disbuf</a:t>
            </a:r>
            <a:r>
              <a:rPr lang="en-US" altLang="zh-CN" sz="2800" dirty="0">
                <a:solidFill>
                  <a:srgbClr val="FF0000"/>
                </a:solidFill>
              </a:rPr>
              <a:t>[count]</a:t>
            </a:r>
            <a:r>
              <a:rPr lang="en-US" altLang="zh-CN" sz="2800" dirty="0"/>
              <a:t>]&amp;0x01));</a:t>
            </a:r>
            <a:br>
              <a:rPr lang="en-US" altLang="zh-CN" sz="2800" dirty="0"/>
            </a:br>
            <a:r>
              <a:rPr lang="en-US" altLang="zh-CN" sz="2800" b="1" dirty="0" err="1">
                <a:solidFill>
                  <a:srgbClr val="FF0000"/>
                </a:solidFill>
              </a:rPr>
              <a:t>GPIO_WriteBit</a:t>
            </a:r>
            <a:r>
              <a:rPr lang="en-US" altLang="zh-CN" sz="2800" b="1" dirty="0"/>
              <a:t>(GPIOB,GPIO_Pin_14,(</a:t>
            </a:r>
            <a:r>
              <a:rPr lang="en-US" altLang="zh-CN" sz="2800" b="1" dirty="0" err="1"/>
              <a:t>BitAction</a:t>
            </a:r>
            <a:r>
              <a:rPr lang="en-US" altLang="zh-CN" sz="2800" b="1" dirty="0"/>
              <a:t>)((</a:t>
            </a:r>
            <a:r>
              <a:rPr lang="en-US" altLang="zh-CN" sz="2800" b="1" dirty="0">
                <a:solidFill>
                  <a:srgbClr val="FF0000"/>
                </a:solidFill>
              </a:rPr>
              <a:t>1&lt;&lt;count</a:t>
            </a:r>
            <a:r>
              <a:rPr lang="en-US" altLang="zh-CN" sz="2800" b="1" dirty="0"/>
              <a:t>) &amp; 0x01));</a:t>
            </a:r>
            <a:endParaRPr lang="zh-CN" altLang="en-US" sz="28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29113" y="30675"/>
            <a:ext cx="1566887" cy="909955"/>
          </a:xfrm>
        </p:spPr>
        <p:txBody>
          <a:bodyPr/>
          <a:lstStyle/>
          <a:p>
            <a:pPr algn="ctr"/>
            <a:r>
              <a:rPr lang="zh-CN" altLang="en-US" sz="3200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消  隐：</a:t>
            </a:r>
            <a:endParaRPr lang="zh-CN" altLang="en-US" sz="3200" b="1" dirty="0">
              <a:solidFill>
                <a:srgbClr val="3333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690" y="741680"/>
            <a:ext cx="11991975" cy="5898515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altLang="zh-CN" b="1" dirty="0"/>
              <a:t>“</a:t>
            </a:r>
            <a:r>
              <a:rPr lang="zh-CN" altLang="en-US" b="1" dirty="0"/>
              <a:t>在</a:t>
            </a:r>
            <a:r>
              <a:rPr lang="zh-CN" altLang="en-US" b="1" dirty="0">
                <a:solidFill>
                  <a:srgbClr val="FF0000"/>
                </a:solidFill>
              </a:rPr>
              <a:t>切换</a:t>
            </a:r>
            <a:r>
              <a:rPr lang="zh-CN" altLang="en-US" b="1" dirty="0"/>
              <a:t>位码和段码之间先关闭显示，避免残留前一位的段码导致</a:t>
            </a:r>
            <a:r>
              <a:rPr lang="en-US" altLang="zh-CN" b="1" dirty="0"/>
              <a:t>‘</a:t>
            </a:r>
            <a:r>
              <a:rPr lang="zh-CN" altLang="en-US" b="1" dirty="0">
                <a:solidFill>
                  <a:srgbClr val="3333FF"/>
                </a:solidFill>
              </a:rPr>
              <a:t>鬼影</a:t>
            </a:r>
            <a:r>
              <a:rPr lang="en-US" altLang="zh-CN" b="1" dirty="0"/>
              <a:t>’</a:t>
            </a:r>
            <a:r>
              <a:rPr lang="zh-CN" altLang="en-US" b="1" dirty="0"/>
              <a:t>。</a:t>
            </a:r>
            <a:r>
              <a:rPr lang="en-US" altLang="zh-CN" b="1" dirty="0"/>
              <a:t>”</a:t>
            </a:r>
            <a:endParaRPr lang="en-US" altLang="zh-CN" b="1" dirty="0"/>
          </a:p>
          <a:p>
            <a:r>
              <a:rPr lang="zh-CN" altLang="en-US" b="1" dirty="0"/>
              <a:t>通过在更新显示内容（切换位码和段码）之前，在</a:t>
            </a:r>
            <a:r>
              <a:rPr lang="en-US" altLang="zh-CN" b="1" dirty="0">
                <a:solidFill>
                  <a:srgbClr val="3333FF"/>
                </a:solidFill>
              </a:rPr>
              <a:t>display</a:t>
            </a:r>
            <a:r>
              <a:rPr lang="zh-CN" altLang="en-US" b="1" dirty="0">
                <a:solidFill>
                  <a:srgbClr val="3333FF"/>
                </a:solidFill>
              </a:rPr>
              <a:t>（）</a:t>
            </a:r>
            <a:r>
              <a:rPr lang="zh-CN" altLang="en-US" b="1" dirty="0"/>
              <a:t>先执行消隐操作（</a:t>
            </a:r>
            <a:r>
              <a:rPr lang="zh-CN" altLang="en-US" b="1" dirty="0">
                <a:solidFill>
                  <a:srgbClr val="FF0000"/>
                </a:solidFill>
              </a:rPr>
              <a:t>关闭</a:t>
            </a:r>
            <a:r>
              <a:rPr lang="zh-CN" altLang="en-US" b="1" dirty="0"/>
              <a:t>所有数码管），</a:t>
            </a:r>
            <a:endParaRPr lang="zh-CN" altLang="en-US" b="1" dirty="0"/>
          </a:p>
          <a:p>
            <a:endParaRPr lang="zh-CN" altLang="en-US" b="1" dirty="0"/>
          </a:p>
          <a:p>
            <a:endParaRPr lang="zh-CN" altLang="en-US" b="1" dirty="0"/>
          </a:p>
          <a:p>
            <a:endParaRPr lang="zh-CN" altLang="en-US" b="1" dirty="0"/>
          </a:p>
          <a:p>
            <a:r>
              <a:rPr lang="en-US" altLang="zh-CN" b="1" dirty="0"/>
              <a:t>8</a:t>
            </a:r>
            <a:r>
              <a:rPr lang="zh-CN" altLang="en-US" b="1" dirty="0"/>
              <a:t>位数码管</a:t>
            </a:r>
            <a:r>
              <a:rPr lang="zh-CN" altLang="en-US" b="1" dirty="0">
                <a:solidFill>
                  <a:srgbClr val="FF0000"/>
                </a:solidFill>
              </a:rPr>
              <a:t>位码</a:t>
            </a:r>
            <a:r>
              <a:rPr lang="en-US" altLang="zh-CN" b="1" dirty="0">
                <a:solidFill>
                  <a:srgbClr val="FF0000"/>
                </a:solidFill>
              </a:rPr>
              <a:t>GPIO</a:t>
            </a:r>
            <a:r>
              <a:rPr lang="zh-CN" altLang="en-US" b="1" dirty="0"/>
              <a:t>电平全部设置为</a:t>
            </a:r>
            <a:r>
              <a:rPr lang="zh-CN" altLang="en-US" b="1" dirty="0">
                <a:solidFill>
                  <a:srgbClr val="FF0000"/>
                </a:solidFill>
              </a:rPr>
              <a:t>低电平，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zh-CN" altLang="en-US" b="1" dirty="0"/>
              <a:t>在设置新的段码和位码时，没有任何数码管处于点亮状态。</a:t>
            </a:r>
            <a:endParaRPr lang="zh-CN" altLang="en-US" b="1" dirty="0"/>
          </a:p>
          <a:p>
            <a:r>
              <a:rPr lang="zh-CN" altLang="en-US" b="1" dirty="0">
                <a:solidFill>
                  <a:srgbClr val="FF0000"/>
                </a:solidFill>
              </a:rPr>
              <a:t>新的显示内容</a:t>
            </a:r>
            <a:r>
              <a:rPr lang="zh-CN" altLang="en-US" b="1" dirty="0"/>
              <a:t>是在所有数码管都关闭的情况下设置好的，然后再点亮对应的数码管。</a:t>
            </a:r>
            <a:endParaRPr lang="en-US" altLang="zh-CN" b="1" dirty="0"/>
          </a:p>
          <a:p>
            <a:r>
              <a:rPr lang="zh-CN" altLang="en-US" b="1" dirty="0"/>
              <a:t>这样就彻底避免了在切换过程中，旧的段码或新的段码被错误地显示在不该显示的数码管上，从而消除了</a:t>
            </a:r>
            <a:r>
              <a:rPr lang="en-US" altLang="zh-CN" b="1" dirty="0"/>
              <a:t> “</a:t>
            </a:r>
            <a:r>
              <a:rPr lang="zh-CN" altLang="en-US" b="1" dirty="0"/>
              <a:t>鬼影</a:t>
            </a:r>
            <a:r>
              <a:rPr lang="en-US" altLang="zh-CN" b="1" dirty="0"/>
              <a:t>” </a:t>
            </a:r>
            <a:r>
              <a:rPr lang="zh-CN" altLang="en-US" b="1" dirty="0"/>
              <a:t>现象，保证了显示的清晰和稳定。</a:t>
            </a:r>
            <a:endParaRPr lang="zh-CN" altLang="en-US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t="21837" r="16940" b="33820"/>
          <a:stretch>
            <a:fillRect/>
          </a:stretch>
        </p:blipFill>
        <p:spPr>
          <a:xfrm>
            <a:off x="279985" y="2296451"/>
            <a:ext cx="11468728" cy="1132549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64292" y="168275"/>
            <a:ext cx="4400892" cy="769913"/>
          </a:xfrm>
        </p:spPr>
        <p:txBody>
          <a:bodyPr/>
          <a:lstStyle/>
          <a:p>
            <a:r>
              <a:rPr lang="en-US" altLang="zh-CN" sz="3200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“</a:t>
            </a:r>
            <a:r>
              <a:rPr lang="zh-CN" altLang="en-US" sz="3200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鬼 影</a:t>
            </a:r>
            <a:r>
              <a:rPr lang="en-US" altLang="zh-CN" sz="3200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” </a:t>
            </a:r>
            <a:r>
              <a:rPr lang="zh-CN" altLang="en-US" sz="3200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形成的原理</a:t>
            </a:r>
            <a:endParaRPr lang="zh-CN" altLang="en-US" sz="3200" b="1" dirty="0">
              <a:solidFill>
                <a:srgbClr val="3333FF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8831" y="960120"/>
            <a:ext cx="11691815" cy="5729605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zh-CN" altLang="en-US" b="1" dirty="0"/>
              <a:t>在</a:t>
            </a:r>
            <a:r>
              <a:rPr lang="zh-CN" altLang="en-US" b="1" dirty="0">
                <a:solidFill>
                  <a:srgbClr val="FF0000"/>
                </a:solidFill>
              </a:rPr>
              <a:t>动态扫描显示</a:t>
            </a:r>
            <a:r>
              <a:rPr lang="zh-CN" altLang="en-US" b="1" dirty="0"/>
              <a:t>中，我们通过</a:t>
            </a:r>
            <a:r>
              <a:rPr lang="zh-CN" altLang="en-US" b="1" dirty="0">
                <a:solidFill>
                  <a:srgbClr val="FF0000"/>
                </a:solidFill>
              </a:rPr>
              <a:t>快速轮流点亮</a:t>
            </a:r>
            <a:r>
              <a:rPr lang="zh-CN" altLang="en-US" b="1" dirty="0"/>
              <a:t>每一位数码管来实现多位数字的显示。例如，要显示</a:t>
            </a:r>
            <a:r>
              <a:rPr lang="en-US" altLang="zh-CN" b="1" dirty="0"/>
              <a:t> “12”</a:t>
            </a:r>
            <a:r>
              <a:rPr lang="zh-CN" altLang="en-US" b="1" dirty="0"/>
              <a:t>，我们会：</a:t>
            </a:r>
            <a:endParaRPr lang="zh-CN" altLang="en-US" b="1" dirty="0"/>
          </a:p>
          <a:p>
            <a:r>
              <a:rPr lang="zh-CN" altLang="en-US" b="1" dirty="0"/>
              <a:t>点亮第一位数码管，并设置段码显示</a:t>
            </a:r>
            <a:r>
              <a:rPr lang="en-US" altLang="zh-CN" b="1" dirty="0"/>
              <a:t> “1”</a:t>
            </a:r>
            <a:r>
              <a:rPr lang="zh-CN" altLang="en-US" b="1" dirty="0"/>
              <a:t>。</a:t>
            </a:r>
            <a:endParaRPr lang="zh-CN" altLang="en-US" b="1" dirty="0"/>
          </a:p>
          <a:p>
            <a:r>
              <a:rPr lang="zh-CN" altLang="en-US" b="1" dirty="0">
                <a:solidFill>
                  <a:srgbClr val="FF0000"/>
                </a:solidFill>
              </a:rPr>
              <a:t>关闭第一位</a:t>
            </a:r>
            <a:r>
              <a:rPr lang="zh-CN" altLang="en-US" b="1" dirty="0"/>
              <a:t>，点亮第二位数码管，并设置段码显示</a:t>
            </a:r>
            <a:r>
              <a:rPr lang="en-US" altLang="zh-CN" b="1" dirty="0"/>
              <a:t> “2”</a:t>
            </a:r>
            <a:r>
              <a:rPr lang="zh-CN" altLang="en-US" b="1" dirty="0"/>
              <a:t>。</a:t>
            </a:r>
            <a:endParaRPr lang="zh-CN" altLang="en-US" b="1" dirty="0"/>
          </a:p>
          <a:p>
            <a:r>
              <a:rPr lang="zh-CN" altLang="en-US" b="1" dirty="0">
                <a:solidFill>
                  <a:srgbClr val="FF0000"/>
                </a:solidFill>
              </a:rPr>
              <a:t>快速重复</a:t>
            </a:r>
            <a:r>
              <a:rPr lang="zh-CN" altLang="en-US" b="1" dirty="0"/>
              <a:t>步骤</a:t>
            </a:r>
            <a:r>
              <a:rPr lang="en-US" altLang="zh-CN" b="1" dirty="0"/>
              <a:t> 1 </a:t>
            </a:r>
            <a:r>
              <a:rPr lang="zh-CN" altLang="en-US" b="1" dirty="0"/>
              <a:t>和</a:t>
            </a:r>
            <a:r>
              <a:rPr lang="en-US" altLang="zh-CN" b="1" dirty="0"/>
              <a:t> 2</a:t>
            </a:r>
            <a:r>
              <a:rPr lang="zh-CN" altLang="en-US" b="1" dirty="0"/>
              <a:t>。</a:t>
            </a:r>
            <a:endParaRPr lang="zh-CN" altLang="en-US" b="1" dirty="0"/>
          </a:p>
          <a:p>
            <a:r>
              <a:rPr lang="en-US" altLang="zh-CN" b="1" dirty="0"/>
              <a:t>“</a:t>
            </a:r>
            <a:r>
              <a:rPr lang="zh-CN" altLang="en-US" b="1" dirty="0"/>
              <a:t>鬼影</a:t>
            </a:r>
            <a:r>
              <a:rPr lang="en-US" altLang="zh-CN" b="1" dirty="0"/>
              <a:t>” </a:t>
            </a:r>
            <a:r>
              <a:rPr lang="zh-CN" altLang="en-US" b="1" dirty="0"/>
              <a:t>问题就出现在步骤</a:t>
            </a:r>
            <a:r>
              <a:rPr lang="en-US" altLang="zh-CN" b="1" dirty="0"/>
              <a:t> 1 </a:t>
            </a:r>
            <a:r>
              <a:rPr lang="zh-CN" altLang="en-US" b="1" dirty="0"/>
              <a:t>和步骤</a:t>
            </a:r>
            <a:r>
              <a:rPr lang="en-US" altLang="zh-CN" b="1" dirty="0"/>
              <a:t> 2 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rgbClr val="FF0000"/>
                </a:solidFill>
              </a:rPr>
              <a:t>切换瞬间</a:t>
            </a:r>
            <a:r>
              <a:rPr lang="zh-CN" altLang="en-US" b="1" dirty="0"/>
              <a:t>：</a:t>
            </a:r>
            <a:endParaRPr lang="zh-CN" altLang="en-US" b="1" dirty="0"/>
          </a:p>
          <a:p>
            <a:r>
              <a:rPr lang="zh-CN" altLang="en-US" b="1" dirty="0"/>
              <a:t>假设没有消隐步骤：在切换时，程序可能会先设置新的段码（比如为第二位设置</a:t>
            </a:r>
            <a:r>
              <a:rPr lang="en-US" altLang="zh-CN" b="1" dirty="0"/>
              <a:t> “2” </a:t>
            </a:r>
            <a:r>
              <a:rPr lang="zh-CN" altLang="en-US" b="1" dirty="0"/>
              <a:t>的段码），然后再切换位码引脚去点亮第二位。在这个短暂的时间差里，</a:t>
            </a:r>
            <a:r>
              <a:rPr lang="zh-CN" altLang="en-US" b="1" dirty="0">
                <a:highlight>
                  <a:srgbClr val="FFFF00"/>
                </a:highlight>
              </a:rPr>
              <a:t>新的段码</a:t>
            </a:r>
            <a:r>
              <a:rPr lang="en-US" altLang="zh-CN" b="1" dirty="0">
                <a:highlight>
                  <a:srgbClr val="FFFF00"/>
                </a:highlight>
              </a:rPr>
              <a:t> “2”</a:t>
            </a:r>
            <a:r>
              <a:rPr lang="en-US" altLang="zh-CN" b="1" dirty="0"/>
              <a:t> </a:t>
            </a:r>
            <a:r>
              <a:rPr lang="zh-CN" altLang="en-US" b="1" dirty="0"/>
              <a:t>可能会被错误地显示在仍然处于点亮状态</a:t>
            </a:r>
            <a:r>
              <a:rPr lang="zh-CN" altLang="en-US" b="1" dirty="0">
                <a:highlight>
                  <a:srgbClr val="FFFF00"/>
                </a:highlight>
              </a:rPr>
              <a:t>的第一位</a:t>
            </a:r>
            <a:r>
              <a:rPr lang="zh-CN" altLang="en-US" b="1" dirty="0"/>
              <a:t>数码管上，导致出现一个短暂的、不正确的</a:t>
            </a:r>
            <a:r>
              <a:rPr lang="en-US" altLang="zh-CN" b="1" dirty="0"/>
              <a:t> “2” </a:t>
            </a:r>
            <a:r>
              <a:rPr lang="zh-CN" altLang="en-US" b="1" dirty="0"/>
              <a:t>的残影。</a:t>
            </a:r>
            <a:endParaRPr lang="zh-CN" altLang="en-US" b="1" dirty="0"/>
          </a:p>
          <a:p>
            <a:r>
              <a:rPr lang="zh-CN" altLang="en-US" b="1" dirty="0"/>
              <a:t>或者：在关闭第一位之前，新的位码已经切换到了第二位，但段码还没来得及更新，导致第二位短暂显示了</a:t>
            </a:r>
            <a:r>
              <a:rPr lang="zh-CN" altLang="en-US" b="1" dirty="0">
                <a:solidFill>
                  <a:srgbClr val="FF0000"/>
                </a:solidFill>
              </a:rPr>
              <a:t>前一位的段码“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zh-CN" altLang="en-US" b="1" dirty="0">
                <a:solidFill>
                  <a:srgbClr val="FF0000"/>
                </a:solidFill>
              </a:rPr>
              <a:t>”</a:t>
            </a:r>
            <a:r>
              <a:rPr lang="zh-CN" altLang="en-US" b="1" dirty="0"/>
              <a:t>。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6277" t="19023" r="14815" b="14826"/>
          <a:stretch>
            <a:fillRect/>
          </a:stretch>
        </p:blipFill>
        <p:spPr>
          <a:xfrm>
            <a:off x="5723889" y="1270342"/>
            <a:ext cx="6167440" cy="352791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l="3687"/>
          <a:stretch>
            <a:fillRect/>
          </a:stretch>
        </p:blipFill>
        <p:spPr>
          <a:xfrm>
            <a:off x="211014" y="1270342"/>
            <a:ext cx="5512875" cy="359981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33765" y="215168"/>
            <a:ext cx="2888200" cy="769913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矩阵按键设置</a:t>
            </a:r>
            <a:endParaRPr lang="zh-CN" altLang="en-US" sz="3200" b="1" dirty="0">
              <a:solidFill>
                <a:srgbClr val="3333FF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9819" y="334952"/>
            <a:ext cx="7818735" cy="349831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44" y="4125963"/>
            <a:ext cx="12111858" cy="1852806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325950" y="49532"/>
            <a:ext cx="2888200" cy="769913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矩阵按键扫描</a:t>
            </a:r>
            <a:endParaRPr lang="zh-CN" altLang="en-US" sz="3200" b="1" dirty="0">
              <a:solidFill>
                <a:srgbClr val="3333FF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651" y="819445"/>
            <a:ext cx="11546697" cy="603855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455509" y="961293"/>
            <a:ext cx="50417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一列一列的扫，每</a:t>
            </a:r>
            <a:r>
              <a:rPr lang="en-US" altLang="zh-CN" sz="2800" dirty="0">
                <a:solidFill>
                  <a:srgbClr val="FF0000"/>
                </a:solidFill>
              </a:rPr>
              <a:t>1</a:t>
            </a:r>
            <a:r>
              <a:rPr lang="zh-CN" altLang="en-US" sz="2800" dirty="0">
                <a:solidFill>
                  <a:srgbClr val="FF0000"/>
                </a:solidFill>
              </a:rPr>
              <a:t>列里再扫行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50764" y="42165"/>
            <a:ext cx="1545236" cy="744147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zh-CN" altLang="en-US" sz="3600" b="1" dirty="0">
                <a:solidFill>
                  <a:srgbClr val="3333FF"/>
                </a:solidFill>
                <a:latin typeface="微软雅黑" panose="020B0503020204020204" charset="-122"/>
                <a:ea typeface="微软雅黑" panose="020B0503020204020204" charset="-122"/>
              </a:rPr>
              <a:t>消 抖：</a:t>
            </a:r>
            <a:endParaRPr lang="zh-CN" altLang="en-US" sz="3600" b="1" dirty="0">
              <a:solidFill>
                <a:srgbClr val="3333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495" y="4330175"/>
            <a:ext cx="11297010" cy="248566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47495" y="786312"/>
            <a:ext cx="80369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3333FF"/>
                </a:solidFill>
              </a:rPr>
              <a:t>一、软件消抖</a:t>
            </a:r>
            <a:r>
              <a:rPr lang="zh-CN" altLang="en-US" sz="2800" b="1" dirty="0"/>
              <a:t>（</a:t>
            </a:r>
            <a:r>
              <a:rPr lang="zh-CN" altLang="en-US" sz="2800" b="1" dirty="0">
                <a:solidFill>
                  <a:srgbClr val="FF0000"/>
                </a:solidFill>
              </a:rPr>
              <a:t>真正的消抖，标准方法</a:t>
            </a:r>
            <a:r>
              <a:rPr lang="zh-CN" altLang="en-US" sz="2800" b="1" dirty="0"/>
              <a:t>）</a:t>
            </a:r>
            <a:endParaRPr lang="zh-CN" altLang="en-US" sz="2800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308978" y="1334767"/>
            <a:ext cx="117657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i="0" dirty="0">
                <a:solidFill>
                  <a:srgbClr val="1F2329"/>
                </a:solidFill>
                <a:effectLst/>
                <a:latin typeface="ui-sans-serif"/>
              </a:rPr>
              <a:t>原理： 按键按下时会产生</a:t>
            </a:r>
            <a:r>
              <a:rPr lang="en-US" altLang="zh-CN" sz="2800" b="1" i="0" dirty="0">
                <a:solidFill>
                  <a:srgbClr val="1F2329"/>
                </a:solidFill>
                <a:effectLst/>
                <a:latin typeface="ui-sans-serif"/>
              </a:rPr>
              <a:t>10~20ms </a:t>
            </a:r>
            <a:r>
              <a:rPr lang="zh-CN" altLang="en-US" sz="2800" b="1" i="0" dirty="0">
                <a:solidFill>
                  <a:srgbClr val="1F2329"/>
                </a:solidFill>
                <a:effectLst/>
                <a:latin typeface="ui-sans-serif"/>
              </a:rPr>
              <a:t>的机械抖动，电平忽高忽低，会多次触发中断。软件消抖就是</a:t>
            </a:r>
            <a:r>
              <a:rPr lang="zh-CN" altLang="en-US" sz="2800" b="1" i="0" dirty="0">
                <a:solidFill>
                  <a:srgbClr val="FF0000"/>
                </a:solidFill>
                <a:effectLst/>
                <a:latin typeface="ui-sans-serif"/>
              </a:rPr>
              <a:t>延时一段时间</a:t>
            </a:r>
            <a:r>
              <a:rPr lang="zh-CN" altLang="en-US" sz="2800" b="1" i="0" dirty="0">
                <a:solidFill>
                  <a:srgbClr val="1F2329"/>
                </a:solidFill>
                <a:effectLst/>
                <a:latin typeface="ui-sans-serif"/>
              </a:rPr>
              <a:t>，等抖动过去，电平稳定了再处理。</a:t>
            </a:r>
            <a:endParaRPr lang="zh-CN" altLang="en-US" sz="28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2942297" y="2213559"/>
            <a:ext cx="668686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i="0" dirty="0">
                <a:solidFill>
                  <a:srgbClr val="1F2329"/>
                </a:solidFill>
                <a:effectLst/>
                <a:latin typeface="ui-sans-serif"/>
              </a:rPr>
              <a:t>特点： </a:t>
            </a:r>
            <a:endParaRPr lang="en-US" altLang="zh-CN" sz="2400" b="1" i="0" dirty="0">
              <a:solidFill>
                <a:srgbClr val="1F2329"/>
              </a:solidFill>
              <a:effectLst/>
              <a:latin typeface="ui-sans-serif"/>
            </a:endParaRPr>
          </a:p>
          <a:p>
            <a:r>
              <a:rPr lang="zh-CN" altLang="en-US" sz="2400" b="1" i="0" dirty="0">
                <a:solidFill>
                  <a:srgbClr val="1F2329"/>
                </a:solidFill>
                <a:effectLst/>
                <a:latin typeface="ui-sans-serif"/>
              </a:rPr>
              <a:t>✅ 真正消除机械抖动</a:t>
            </a:r>
            <a:endParaRPr lang="en-US" altLang="zh-CN" sz="2400" b="1" i="0" dirty="0">
              <a:solidFill>
                <a:srgbClr val="1F2329"/>
              </a:solidFill>
              <a:effectLst/>
              <a:latin typeface="ui-sans-serif"/>
            </a:endParaRPr>
          </a:p>
          <a:p>
            <a:r>
              <a:rPr lang="zh-CN" altLang="en-US" sz="2400" b="1" i="0" dirty="0">
                <a:solidFill>
                  <a:srgbClr val="1F2329"/>
                </a:solidFill>
                <a:effectLst/>
                <a:latin typeface="ui-sans-serif"/>
              </a:rPr>
              <a:t>✅ 标准、通用、所有单片机都能用</a:t>
            </a:r>
            <a:endParaRPr lang="en-US" altLang="zh-CN" sz="2400" b="1" i="0" dirty="0">
              <a:solidFill>
                <a:srgbClr val="1F2329"/>
              </a:solidFill>
              <a:effectLst/>
              <a:latin typeface="ui-sans-serif"/>
            </a:endParaRPr>
          </a:p>
          <a:p>
            <a:r>
              <a:rPr lang="zh-CN" altLang="en-US" sz="2400" b="1" i="0" dirty="0">
                <a:solidFill>
                  <a:srgbClr val="1F2329"/>
                </a:solidFill>
                <a:effectLst/>
                <a:latin typeface="ui-sans-serif"/>
              </a:rPr>
              <a:t>✅ 不影响硬件，不改变中断映射</a:t>
            </a:r>
            <a:endParaRPr lang="en-US" altLang="zh-CN" sz="2400" b="1" i="0" dirty="0">
              <a:solidFill>
                <a:srgbClr val="1F2329"/>
              </a:solidFill>
              <a:effectLst/>
              <a:latin typeface="ui-sans-serif"/>
            </a:endParaRPr>
          </a:p>
          <a:p>
            <a:r>
              <a:rPr lang="zh-CN" altLang="en-US" sz="2400" b="1" i="0" dirty="0">
                <a:solidFill>
                  <a:srgbClr val="1F2329"/>
                </a:solidFill>
                <a:effectLst/>
                <a:latin typeface="ui-sans-serif"/>
              </a:rPr>
              <a:t>✅ </a:t>
            </a:r>
            <a:r>
              <a:rPr lang="zh-CN" altLang="en-US" sz="2400" b="1" i="0" dirty="0">
                <a:solidFill>
                  <a:srgbClr val="FF0000"/>
                </a:solidFill>
                <a:effectLst/>
                <a:latin typeface="ui-sans-serif"/>
              </a:rPr>
              <a:t>必须配合 “二次判断电平” 才最稳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586154" y="6010031"/>
            <a:ext cx="1758461" cy="4298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90" y="1617413"/>
            <a:ext cx="12192326" cy="2892063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20431" y="2999153"/>
            <a:ext cx="10050584" cy="6193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9875" y="249003"/>
            <a:ext cx="11812249" cy="864068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solidFill>
                  <a:srgbClr val="3333FF"/>
                </a:solidFill>
                <a:latin typeface="+mn-lt"/>
                <a:ea typeface="宋体" panose="02010600030101010101" pitchFamily="2" charset="-122"/>
              </a:rPr>
              <a:t>二、</a:t>
            </a:r>
            <a:r>
              <a:rPr lang="en-US" altLang="zh-CN" sz="2800" b="1" dirty="0">
                <a:solidFill>
                  <a:srgbClr val="3333FF"/>
                </a:solidFill>
                <a:latin typeface="+mn-lt"/>
                <a:ea typeface="宋体" panose="02010600030101010101" pitchFamily="2" charset="-122"/>
              </a:rPr>
              <a:t>AFIO-&gt;EXTICR [1] = 0x6602;</a:t>
            </a:r>
            <a:r>
              <a:rPr lang="zh-CN" altLang="en-US" sz="2800" b="1" dirty="0">
                <a:solidFill>
                  <a:srgbClr val="FF0000"/>
                </a:solidFill>
                <a:latin typeface="+mn-lt"/>
                <a:ea typeface="宋体" panose="02010600030101010101" pitchFamily="2" charset="-122"/>
              </a:rPr>
              <a:t>（临时断开中断，不是真正消抖）</a:t>
            </a:r>
            <a:endParaRPr lang="zh-CN" altLang="en-US" sz="2800" b="1" dirty="0">
              <a:solidFill>
                <a:srgbClr val="FF0000"/>
              </a:solidFill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8515" y="1253330"/>
            <a:ext cx="11393774" cy="3787593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b="1" dirty="0">
                <a:latin typeface="+mn-ea"/>
              </a:rPr>
              <a:t>原理： 进入中断后，立刻把 </a:t>
            </a:r>
            <a:r>
              <a:rPr lang="en-US" altLang="zh-CN" b="1" dirty="0">
                <a:latin typeface="+mn-ea"/>
              </a:rPr>
              <a:t>GPIO </a:t>
            </a:r>
            <a:r>
              <a:rPr lang="zh-CN" altLang="en-US" b="1" dirty="0">
                <a:latin typeface="+mn-ea"/>
              </a:rPr>
              <a:t>和中断线的连接断开，这样即使按键还在抖动，</a:t>
            </a:r>
            <a:r>
              <a:rPr lang="zh-CN" altLang="en-US" b="1" dirty="0">
                <a:solidFill>
                  <a:srgbClr val="FF0000"/>
                </a:solidFill>
                <a:latin typeface="+mn-ea"/>
              </a:rPr>
              <a:t>硬件也收不到中断信号</a:t>
            </a:r>
            <a:r>
              <a:rPr lang="zh-CN" altLang="en-US" b="1" dirty="0">
                <a:latin typeface="+mn-ea"/>
              </a:rPr>
              <a:t>，不会再次进入中断。</a:t>
            </a:r>
            <a:r>
              <a:rPr lang="zh-CN" altLang="en-US" b="1" dirty="0">
                <a:solidFill>
                  <a:srgbClr val="FF0000"/>
                </a:solidFill>
                <a:latin typeface="+mn-ea"/>
              </a:rPr>
              <a:t>防止按键抖动期间，反复进入中断函数</a:t>
            </a:r>
            <a:r>
              <a:rPr lang="zh-CN" altLang="en-US" b="1" dirty="0">
                <a:latin typeface="+mn-ea"/>
              </a:rPr>
              <a:t>。</a:t>
            </a:r>
            <a:r>
              <a:rPr lang="zh-CN" altLang="en-US" b="1" dirty="0">
                <a:solidFill>
                  <a:srgbClr val="3333FF"/>
                </a:solidFill>
                <a:latin typeface="+mn-ea"/>
              </a:rPr>
              <a:t>等中断处理完，再重新连接上</a:t>
            </a:r>
            <a:r>
              <a:rPr lang="zh-CN" altLang="en-US" b="1" dirty="0">
                <a:latin typeface="+mn-ea"/>
              </a:rPr>
              <a:t>。</a:t>
            </a:r>
            <a:endParaRPr lang="en-US" altLang="zh-CN" b="1" dirty="0">
              <a:latin typeface="+mn-ea"/>
            </a:endParaRPr>
          </a:p>
          <a:p>
            <a:pPr>
              <a:lnSpc>
                <a:spcPct val="110000"/>
              </a:lnSpc>
            </a:pPr>
            <a:r>
              <a:rPr lang="zh-CN" altLang="en-US" b="1" dirty="0">
                <a:latin typeface="+mn-ea"/>
              </a:rPr>
              <a:t>作用： 防止抖动期间多次进入中断函数但它没有消除抖动本身，只是</a:t>
            </a:r>
            <a:r>
              <a:rPr lang="zh-CN" altLang="en-US" b="1" dirty="0">
                <a:solidFill>
                  <a:srgbClr val="3333FF"/>
                </a:solidFill>
                <a:latin typeface="+mn-ea"/>
              </a:rPr>
              <a:t>屏蔽中断</a:t>
            </a:r>
            <a:r>
              <a:rPr lang="zh-CN" altLang="en-US" b="1" dirty="0">
                <a:latin typeface="+mn-ea"/>
              </a:rPr>
              <a:t>。 </a:t>
            </a:r>
            <a:endParaRPr lang="en-US" altLang="zh-CN" b="1" dirty="0">
              <a:latin typeface="+mn-ea"/>
            </a:endParaRPr>
          </a:p>
          <a:p>
            <a:pPr>
              <a:lnSpc>
                <a:spcPct val="110000"/>
              </a:lnSpc>
            </a:pPr>
            <a:r>
              <a:rPr lang="zh-CN" altLang="en-US" b="1" dirty="0">
                <a:latin typeface="+mn-ea"/>
              </a:rPr>
              <a:t>特点：</a:t>
            </a:r>
            <a:r>
              <a:rPr lang="zh-CN" altLang="en-US" sz="2400" b="1" dirty="0">
                <a:latin typeface="+mn-ea"/>
              </a:rPr>
              <a:t> ❌ 不是真正的消抖；   ❌ 只是 “屏蔽中断”，不让中断多次触发</a:t>
            </a:r>
            <a:endParaRPr lang="en-US" altLang="zh-CN" sz="2400" b="1" dirty="0">
              <a:latin typeface="+mn-ea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400" b="1" dirty="0">
                <a:latin typeface="+mn-ea"/>
              </a:rPr>
              <a:t>      </a:t>
            </a:r>
            <a:r>
              <a:rPr lang="zh-CN" altLang="en-US" sz="2400" b="1" dirty="0">
                <a:latin typeface="+mn-ea"/>
              </a:rPr>
              <a:t>❌ 属于特殊技巧，不是标准消抖方法；❌ 必须手动恢复映射，容易出错</a:t>
            </a:r>
            <a:endParaRPr lang="zh-CN" altLang="en-US" sz="2400" b="1" dirty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875" y="5155344"/>
            <a:ext cx="11289231" cy="55770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37" y="5843535"/>
            <a:ext cx="11377097" cy="557701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5063" y="1660244"/>
            <a:ext cx="11481873" cy="406061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注意：</a:t>
            </a:r>
            <a:br>
              <a:rPr lang="en-US" altLang="zh-CN" sz="2800" b="1" dirty="0">
                <a:solidFill>
                  <a:srgbClr val="FF0000"/>
                </a:solidFill>
              </a:rPr>
            </a:br>
            <a:r>
              <a:rPr lang="en-US" altLang="zh-CN" sz="2800" b="1" dirty="0" err="1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EXTI_ClearFlag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(EXTI_Line4);  </a:t>
            </a:r>
            <a:r>
              <a:rPr lang="zh-CN" altLang="en-US" sz="2800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不是消抖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，清除标志 ≠ 关闭中断抖动还在，电平还在跳中断仍然可以再次触发！</a:t>
            </a:r>
            <a:b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告诉硬件：“这个中断我已经处理完了”清除的是 挂起标志位（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pending bit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）。 它绝对不会断开中断！ 如果不清标志：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中断会反复触发，程序卡死！</a:t>
            </a:r>
            <a:endParaRPr lang="zh-CN" altLang="en-US" sz="28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-282" r="69280" b="47348"/>
          <a:stretch>
            <a:fillRect/>
          </a:stretch>
        </p:blipFill>
        <p:spPr>
          <a:xfrm>
            <a:off x="3134846" y="543170"/>
            <a:ext cx="5922305" cy="1041286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23472" y="771436"/>
            <a:ext cx="10894101" cy="3258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i="0" dirty="0">
                <a:solidFill>
                  <a:srgbClr val="1F2329"/>
                </a:solidFill>
                <a:effectLst/>
                <a:latin typeface="ui-sans-serif"/>
              </a:rPr>
              <a:t>① </a:t>
            </a:r>
            <a:r>
              <a:rPr lang="en-US" altLang="zh-CN" sz="2800" b="1" i="0" dirty="0">
                <a:solidFill>
                  <a:srgbClr val="1F2329"/>
                </a:solidFill>
                <a:effectLst/>
                <a:latin typeface="ui-sans-serif"/>
              </a:rPr>
              <a:t>AFIO-&gt;EXTICR = 0x0006 </a:t>
            </a:r>
            <a:r>
              <a:rPr lang="zh-CN" altLang="en-US" sz="2800" b="1" i="0" dirty="0">
                <a:solidFill>
                  <a:srgbClr val="1F2329"/>
                </a:solidFill>
                <a:effectLst/>
                <a:latin typeface="ui-sans-serif"/>
              </a:rPr>
              <a:t>进入中断立刻断开映射 → 防止抖动反复进中断 </a:t>
            </a:r>
            <a:endParaRPr lang="en-US" altLang="zh-CN" sz="2800" b="1" i="0" dirty="0">
              <a:solidFill>
                <a:srgbClr val="1F2329"/>
              </a:solidFill>
              <a:effectLst/>
              <a:latin typeface="ui-sans-serif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i="0" dirty="0">
                <a:solidFill>
                  <a:srgbClr val="1F2329"/>
                </a:solidFill>
                <a:effectLst/>
                <a:latin typeface="ui-sans-serif"/>
              </a:rPr>
              <a:t>② </a:t>
            </a:r>
            <a:r>
              <a:rPr lang="en-US" altLang="zh-CN" sz="2800" b="1" i="0" dirty="0">
                <a:solidFill>
                  <a:srgbClr val="1F2329"/>
                </a:solidFill>
                <a:effectLst/>
                <a:latin typeface="ui-sans-serif"/>
              </a:rPr>
              <a:t>delay(20) </a:t>
            </a:r>
            <a:r>
              <a:rPr lang="zh-CN" altLang="en-US" sz="2800" b="1" i="0" dirty="0">
                <a:solidFill>
                  <a:srgbClr val="1F2329"/>
                </a:solidFill>
                <a:effectLst/>
                <a:latin typeface="ui-sans-serif"/>
              </a:rPr>
              <a:t>延时等待按键电平稳定 → 真正消抖 </a:t>
            </a:r>
            <a:endParaRPr lang="en-US" altLang="zh-CN" sz="2800" b="1" i="0" dirty="0">
              <a:solidFill>
                <a:srgbClr val="1F2329"/>
              </a:solidFill>
              <a:effectLst/>
              <a:latin typeface="ui-sans-serif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i="0" dirty="0">
                <a:solidFill>
                  <a:srgbClr val="1F2329"/>
                </a:solidFill>
                <a:effectLst/>
                <a:latin typeface="ui-sans-serif"/>
              </a:rPr>
              <a:t>③ </a:t>
            </a:r>
            <a:r>
              <a:rPr lang="en-US" altLang="zh-CN" sz="2800" b="1" i="0" dirty="0" err="1">
                <a:solidFill>
                  <a:srgbClr val="1F2329"/>
                </a:solidFill>
                <a:effectLst/>
                <a:latin typeface="ui-sans-serif"/>
              </a:rPr>
              <a:t>EXTI_ClearFlag</a:t>
            </a:r>
            <a:r>
              <a:rPr lang="en-US" altLang="zh-CN" sz="2800" b="1" i="0" dirty="0">
                <a:solidFill>
                  <a:srgbClr val="1F2329"/>
                </a:solidFill>
                <a:effectLst/>
                <a:latin typeface="ui-sans-serif"/>
              </a:rPr>
              <a:t> </a:t>
            </a:r>
            <a:r>
              <a:rPr lang="zh-CN" altLang="en-US" sz="2800" b="1" i="0" dirty="0">
                <a:solidFill>
                  <a:srgbClr val="1F2329"/>
                </a:solidFill>
                <a:effectLst/>
                <a:latin typeface="ui-sans-serif"/>
              </a:rPr>
              <a:t>清除标志 → 不让中断一直触发 </a:t>
            </a:r>
            <a:endParaRPr lang="en-US" altLang="zh-CN" sz="2800" b="1" i="0" dirty="0">
              <a:solidFill>
                <a:srgbClr val="1F2329"/>
              </a:solidFill>
              <a:effectLst/>
              <a:latin typeface="ui-sans-serif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i="0" dirty="0">
                <a:solidFill>
                  <a:srgbClr val="1F2329"/>
                </a:solidFill>
                <a:effectLst/>
                <a:latin typeface="ui-sans-serif"/>
              </a:rPr>
              <a:t>④ </a:t>
            </a:r>
            <a:r>
              <a:rPr lang="en-US" altLang="zh-CN" sz="2800" b="1" i="0" dirty="0">
                <a:solidFill>
                  <a:srgbClr val="1F2329"/>
                </a:solidFill>
                <a:effectLst/>
                <a:latin typeface="ui-sans-serif"/>
              </a:rPr>
              <a:t>AFIO-&gt;EXTICR = 0x0002 </a:t>
            </a:r>
            <a:r>
              <a:rPr lang="zh-CN" altLang="en-US" sz="2800" b="1" i="0" dirty="0">
                <a:solidFill>
                  <a:srgbClr val="1F2329"/>
                </a:solidFill>
                <a:effectLst/>
                <a:latin typeface="ui-sans-serif"/>
              </a:rPr>
              <a:t>恢复映射 → 下次按键可以继续触发</a:t>
            </a:r>
            <a:endParaRPr lang="zh-CN" altLang="en-US" sz="28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599607" y="4701569"/>
            <a:ext cx="1071796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i="0" dirty="0">
                <a:solidFill>
                  <a:srgbClr val="3333FF"/>
                </a:solidFill>
                <a:effectLst/>
                <a:latin typeface="ui-sans-serif"/>
              </a:rPr>
              <a:t>      清除中断标志只是告诉 </a:t>
            </a:r>
            <a:r>
              <a:rPr lang="en-US" altLang="zh-CN" sz="2800" b="1" i="0" dirty="0">
                <a:solidFill>
                  <a:srgbClr val="3333FF"/>
                </a:solidFill>
                <a:effectLst/>
                <a:latin typeface="ui-sans-serif"/>
              </a:rPr>
              <a:t>CPU </a:t>
            </a:r>
            <a:r>
              <a:rPr lang="zh-CN" altLang="en-US" sz="2800" b="1" i="0" dirty="0">
                <a:solidFill>
                  <a:srgbClr val="3333FF"/>
                </a:solidFill>
                <a:effectLst/>
                <a:latin typeface="ui-sans-serif"/>
              </a:rPr>
              <a:t>中断已处理，并不会关闭中断；延时是为了让按键电平稳定，真正消除机械抖动；断开中断映射是为了防止抖动期间反复进入中断。</a:t>
            </a:r>
            <a:endParaRPr lang="zh-CN" altLang="en-US" sz="2800" b="1" dirty="0">
              <a:solidFill>
                <a:srgbClr val="3333FF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2745" y="123190"/>
            <a:ext cx="3427095" cy="713105"/>
          </a:xfrm>
        </p:spPr>
        <p:txBody>
          <a:bodyPr/>
          <a:lstStyle/>
          <a:p>
            <a:r>
              <a:rPr lang="zh-CN" altLang="en-US" sz="280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结构体指针</a:t>
            </a:r>
            <a:endParaRPr lang="zh-CN" altLang="en-US" sz="2800">
              <a:solidFill>
                <a:srgbClr val="3333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0" y="432435"/>
            <a:ext cx="7927975" cy="295211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022350" y="6024245"/>
            <a:ext cx="1041336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zh-CN" altLang="en-US" sz="2400" b="1" i="0">
                <a:solidFill>
                  <a:srgbClr val="FF0000"/>
                </a:solidFill>
                <a:latin typeface="ui-sans-serif"/>
                <a:ea typeface="ui-sans-serif"/>
              </a:rPr>
              <a:t>断开</a:t>
            </a:r>
            <a:r>
              <a:rPr lang="en-US" altLang="zh-CN" sz="2400" b="1" i="0">
                <a:solidFill>
                  <a:srgbClr val="24292F"/>
                </a:solidFill>
                <a:latin typeface="ui-sans-serif"/>
                <a:ea typeface="ui-sans-serif"/>
              </a:rPr>
              <a:t>GPIO</a:t>
            </a:r>
            <a:r>
              <a:rPr lang="zh-CN" altLang="en-US" sz="2400" b="1" i="0">
                <a:solidFill>
                  <a:srgbClr val="24292F"/>
                </a:solidFill>
                <a:latin typeface="ui-sans-serif"/>
                <a:ea typeface="ui-sans-serif"/>
              </a:rPr>
              <a:t>引脚与外部中断线</a:t>
            </a:r>
            <a:r>
              <a:rPr lang="en-US" altLang="zh-CN" sz="2400" b="1" i="0">
                <a:solidFill>
                  <a:srgbClr val="24292F"/>
                </a:solidFill>
                <a:latin typeface="ui-sans-serif"/>
                <a:ea typeface="ui-sans-serif"/>
              </a:rPr>
              <a:t>4</a:t>
            </a:r>
            <a:r>
              <a:rPr lang="zh-CN" altLang="en-US" sz="2400" b="1" i="0">
                <a:solidFill>
                  <a:srgbClr val="24292F"/>
                </a:solidFill>
                <a:latin typeface="ui-sans-serif"/>
                <a:ea typeface="ui-sans-serif"/>
              </a:rPr>
              <a:t>的映射关系，防止在中断处理过程中重复触发。</a:t>
            </a:r>
            <a:endParaRPr lang="zh-CN" altLang="en-US" sz="2400" b="1" i="0">
              <a:solidFill>
                <a:srgbClr val="24292F"/>
              </a:solidFill>
              <a:latin typeface="ui-sans-serif"/>
              <a:ea typeface="ui-sans-serif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b="47441"/>
          <a:stretch>
            <a:fillRect/>
          </a:stretch>
        </p:blipFill>
        <p:spPr>
          <a:xfrm>
            <a:off x="2402205" y="3524250"/>
            <a:ext cx="8791575" cy="206756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325" y="365125"/>
            <a:ext cx="9595485" cy="713105"/>
          </a:xfrm>
        </p:spPr>
        <p:txBody>
          <a:bodyPr>
            <a:normAutofit fontScale="90000"/>
          </a:bodyPr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简单理解：进门时关锁🔒，处理完再开锁🔓，防止别人乱闯进来。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5925" y="1208405"/>
            <a:ext cx="11360785" cy="5348605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507500" y="1429187"/>
            <a:ext cx="11176999" cy="3331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b="1" dirty="0">
                <a:solidFill>
                  <a:srgbClr val="3333FF"/>
                </a:solidFill>
              </a:rPr>
              <a:t>练习：</a:t>
            </a:r>
            <a:endParaRPr lang="en-US" altLang="zh-CN" sz="3600" b="1" dirty="0">
              <a:solidFill>
                <a:srgbClr val="3333FF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3600" b="1" dirty="0">
                <a:solidFill>
                  <a:srgbClr val="FF0000"/>
                </a:solidFill>
              </a:rPr>
              <a:t>1</a:t>
            </a:r>
            <a:r>
              <a:rPr lang="zh-CN" altLang="en-US" sz="3600" b="1" dirty="0">
                <a:solidFill>
                  <a:srgbClr val="FF0000"/>
                </a:solidFill>
              </a:rPr>
              <a:t>、高三位灭，可以改成高五位灭？如何改？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3600" b="1" dirty="0">
                <a:solidFill>
                  <a:srgbClr val="FF0000"/>
                </a:solidFill>
              </a:rPr>
              <a:t>2</a:t>
            </a:r>
            <a:r>
              <a:rPr lang="zh-CN" altLang="en-US" sz="3600" b="1" dirty="0">
                <a:solidFill>
                  <a:srgbClr val="FF0000"/>
                </a:solidFill>
              </a:rPr>
              <a:t>、仅第一行或者第二行、第三行</a:t>
            </a:r>
            <a:r>
              <a:rPr lang="en-US" altLang="zh-CN" sz="3600" b="1" dirty="0">
                <a:solidFill>
                  <a:srgbClr val="FF0000"/>
                </a:solidFill>
              </a:rPr>
              <a:t> </a:t>
            </a:r>
            <a:r>
              <a:rPr lang="zh-CN" altLang="en-US" sz="3600" b="1" dirty="0">
                <a:solidFill>
                  <a:srgbClr val="FF0000"/>
                </a:solidFill>
              </a:rPr>
              <a:t>按键实现加</a:t>
            </a:r>
            <a:r>
              <a:rPr lang="en-US" altLang="zh-CN" sz="3600" b="1" dirty="0">
                <a:solidFill>
                  <a:srgbClr val="FF0000"/>
                </a:solidFill>
              </a:rPr>
              <a:t>3</a:t>
            </a:r>
            <a:r>
              <a:rPr lang="zh-CN" altLang="en-US" sz="3600" b="1" dirty="0">
                <a:solidFill>
                  <a:srgbClr val="FF0000"/>
                </a:solidFill>
              </a:rPr>
              <a:t>、减</a:t>
            </a:r>
            <a:r>
              <a:rPr lang="en-US" altLang="zh-CN" sz="3600" b="1" dirty="0">
                <a:solidFill>
                  <a:srgbClr val="FF0000"/>
                </a:solidFill>
              </a:rPr>
              <a:t>2</a:t>
            </a:r>
            <a:r>
              <a:rPr lang="zh-CN" altLang="en-US" sz="3600" b="1" dirty="0">
                <a:solidFill>
                  <a:srgbClr val="FF0000"/>
                </a:solidFill>
              </a:rPr>
              <a:t>、清零，如何修改？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1.4,&quot;left&quot;:21.7,&quot;top&quot;:143,&quot;width&quot;:929.25}"/>
</p:tagLst>
</file>

<file path=ppt/tags/tag2.xml><?xml version="1.0" encoding="utf-8"?>
<p:tagLst xmlns:p="http://schemas.openxmlformats.org/presentationml/2006/main">
  <p:tag name="KSO_WM_DIAGRAM_VIRTUALLY_FRAME" val="{&quot;height&quot;:341.4,&quot;left&quot;:21.7,&quot;top&quot;:143,&quot;width&quot;:929.25}"/>
</p:tagLst>
</file>

<file path=ppt/tags/tag3.xml><?xml version="1.0" encoding="utf-8"?>
<p:tagLst xmlns:p="http://schemas.openxmlformats.org/presentationml/2006/main">
  <p:tag name="KSO_WM_DIAGRAM_VIRTUALLY_FRAME" val="{&quot;height&quot;:341.4,&quot;left&quot;:21.7,&quot;top&quot;:143,&quot;width&quot;:929.25}"/>
</p:tagLst>
</file>

<file path=ppt/tags/tag4.xml><?xml version="1.0" encoding="utf-8"?>
<p:tagLst xmlns:p="http://schemas.openxmlformats.org/presentationml/2006/main">
  <p:tag name="KSO_WM_DIAGRAM_VIRTUALLY_FRAME" val="{&quot;height&quot;:341.4,&quot;left&quot;:21.7,&quot;top&quot;:143,&quot;width&quot;:929.25}"/>
</p:tagLst>
</file>

<file path=ppt/tags/tag5.xml><?xml version="1.0" encoding="utf-8"?>
<p:tagLst xmlns:p="http://schemas.openxmlformats.org/presentationml/2006/main">
  <p:tag name="KSO_WM_DIAGRAM_VIRTUALLY_FRAME" val="{&quot;height&quot;:447.4,&quot;left&quot;:41.2,&quot;top&quot;:60.65,&quot;width&quot;:866.85}"/>
</p:tagLst>
</file>

<file path=ppt/tags/tag6.xml><?xml version="1.0" encoding="utf-8"?>
<p:tagLst xmlns:p="http://schemas.openxmlformats.org/presentationml/2006/main">
  <p:tag name="KSO_WM_DIAGRAM_VIRTUALLY_FRAME" val="{&quot;height&quot;:447.4,&quot;left&quot;:41.2,&quot;top&quot;:60.65,&quot;width&quot;:866.85}"/>
</p:tagLst>
</file>

<file path=ppt/tags/tag7.xml><?xml version="1.0" encoding="utf-8"?>
<p:tagLst xmlns:p="http://schemas.openxmlformats.org/presentationml/2006/main">
  <p:tag name="KSO_WM_DIAGRAM_VIRTUALLY_FRAME" val="{&quot;height&quot;:447.4,&quot;left&quot;:41.2,&quot;top&quot;:60.65,&quot;width&quot;:866.85}"/>
</p:tagLst>
</file>

<file path=ppt/tags/tag8.xml><?xml version="1.0" encoding="utf-8"?>
<p:tagLst xmlns:p="http://schemas.openxmlformats.org/presentationml/2006/main">
  <p:tag name="KSO_WM_DIAGRAM_VIRTUALLY_FRAME" val="{&quot;height&quot;:447.4,&quot;left&quot;:41.2,&quot;top&quot;:60.65,&quot;width&quot;:866.8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10117</Words>
  <Application>WPS 演示</Application>
  <PresentationFormat>宽屏</PresentationFormat>
  <Paragraphs>663</Paragraphs>
  <Slides>64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64</vt:i4>
      </vt:variant>
    </vt:vector>
  </HeadingPairs>
  <TitlesOfParts>
    <vt:vector size="79" baseType="lpstr">
      <vt:lpstr>Arial</vt:lpstr>
      <vt:lpstr>宋体</vt:lpstr>
      <vt:lpstr>Wingdings</vt:lpstr>
      <vt:lpstr>华文新魏</vt:lpstr>
      <vt:lpstr>黑体</vt:lpstr>
      <vt:lpstr>Times New Roman</vt:lpstr>
      <vt:lpstr>等线</vt:lpstr>
      <vt:lpstr>微软雅黑</vt:lpstr>
      <vt:lpstr>Arial Unicode MS</vt:lpstr>
      <vt:lpstr>等线 Light</vt:lpstr>
      <vt:lpstr>Calibri</vt:lpstr>
      <vt:lpstr>ui-sans-serif</vt:lpstr>
      <vt:lpstr>Segoe Print</vt:lpstr>
      <vt:lpstr>ui-monospace</vt:lpstr>
      <vt:lpstr>Office 主题​​</vt:lpstr>
      <vt:lpstr>微机原理及应用</vt:lpstr>
      <vt:lpstr>PowerPoint 演示文稿</vt:lpstr>
      <vt:lpstr>第四讲  单片机的中断系统</vt:lpstr>
      <vt:lpstr>一、中断的概念</vt:lpstr>
      <vt:lpstr>中断示意图</vt:lpstr>
      <vt:lpstr>中断的相关概念</vt:lpstr>
      <vt:lpstr>PowerPoint 演示文稿</vt:lpstr>
      <vt:lpstr>PowerPoint 演示文稿</vt:lpstr>
      <vt:lpstr>二、STM32中断</vt:lpstr>
      <vt:lpstr>STM32中断优先级</vt:lpstr>
      <vt:lpstr>STM32中断优先级</vt:lpstr>
      <vt:lpstr>PowerPoint 演示文稿</vt:lpstr>
      <vt:lpstr>PowerPoint 演示文稿</vt:lpstr>
      <vt:lpstr>PowerPoint 演示文稿</vt:lpstr>
      <vt:lpstr>中断优先级设定</vt:lpstr>
      <vt:lpstr>三、外中断的概述</vt:lpstr>
      <vt:lpstr>EXTI2_IRQn ： External Interrupt Line 2 _Interrupt Request Number 各部分含义： EXTI2：External Interrupt Line 2（外部中断线2） IRQ：Interrupt Request（中断请求）   n：Number（编号）</vt:lpstr>
      <vt:lpstr>PowerPoint 演示文稿</vt:lpstr>
      <vt:lpstr>中断名称</vt:lpstr>
      <vt:lpstr>PowerPoint 演示文稿</vt:lpstr>
      <vt:lpstr>PowerPoint 演示文稿</vt:lpstr>
      <vt:lpstr>中断管脚设置</vt:lpstr>
      <vt:lpstr>PowerPoint 演示文稿</vt:lpstr>
      <vt:lpstr>中断服务函数和中断向量表</vt:lpstr>
      <vt:lpstr>中断向量表（Interrupt Vector Table）</vt:lpstr>
      <vt:lpstr>中断服务程序</vt:lpstr>
      <vt:lpstr>中断配置流程：</vt:lpstr>
      <vt:lpstr>PowerPoint 演示文稿</vt:lpstr>
      <vt:lpstr>DMA、内存都需要高速数据传输。</vt:lpstr>
      <vt:lpstr>1. DMA</vt:lpstr>
      <vt:lpstr>DMA 的三种搬运方向：</vt:lpstr>
      <vt:lpstr>2. 内存</vt:lpstr>
      <vt:lpstr>Flash 和 SRAM 的关系:</vt:lpstr>
      <vt:lpstr>PowerPoint 演示文稿</vt:lpstr>
      <vt:lpstr>场景：用 ADC 采集温度传感器数据并存储</vt:lpstr>
      <vt:lpstr>原因一：速度匹配（最核心的原因）</vt:lpstr>
      <vt:lpstr>PowerPoint 演示文稿</vt:lpstr>
      <vt:lpstr>原因三：避免总线冲突（提高并行性）</vt:lpstr>
      <vt:lpstr>PowerPoint 演示文稿</vt:lpstr>
      <vt:lpstr>原因四：简化外设设计</vt:lpstr>
      <vt:lpstr>PowerPoint 演示文稿</vt:lpstr>
      <vt:lpstr>中断响应完整过程：</vt:lpstr>
      <vt:lpstr>PowerPoint 演示文稿</vt:lpstr>
      <vt:lpstr>例程1： 用外中断法GPIO口PA2实现手动流水灯</vt:lpstr>
      <vt:lpstr>PowerPoint 演示文稿</vt:lpstr>
      <vt:lpstr>PowerPoint 演示文稿</vt:lpstr>
      <vt:lpstr>例程2： 用外中断法实现矩阵按键对数码管显示加、减、清零操作</vt:lpstr>
      <vt:lpstr>display buffer   显示缓冲区 disbuf[8]={10,10,10,0,0,0,0,0};   数码管要显示的十进制数字缓冲区，一共8个数码管</vt:lpstr>
      <vt:lpstr>PowerPoint 演示文稿</vt:lpstr>
      <vt:lpstr>使能位码</vt:lpstr>
      <vt:lpstr>disbuf[8]={10,10,10,6,5,5,3,5}; dismode[11]={0X3F,0X06,0X5B,0X4F,0X66,0X6D,0X7D,0X07,0X7F,0X6F,0x00}; GPIO_WriteBit(GPIOA,GPIO_Pin_12,(BitAction)(dismode[disbuf[count]]&amp;0x01)); GPIO_WriteBit(GPIOB,GPIO_Pin_14,(BitAction)((1&lt;&lt;count) &amp; 0x01));</vt:lpstr>
      <vt:lpstr>消  隐：</vt:lpstr>
      <vt:lpstr>“鬼 影” 形成的原理</vt:lpstr>
      <vt:lpstr>矩阵按键设置</vt:lpstr>
      <vt:lpstr>PowerPoint 演示文稿</vt:lpstr>
      <vt:lpstr>矩阵按键扫描</vt:lpstr>
      <vt:lpstr>消 抖：</vt:lpstr>
      <vt:lpstr>PowerPoint 演示文稿</vt:lpstr>
      <vt:lpstr>二、AFIO-&gt;EXTICR [1] = 0x6602;（临时断开中断，不是真正消抖）</vt:lpstr>
      <vt:lpstr>注意： EXTI_ClearFlag(EXTI_Line4);  不是消抖，清除标志 ≠ 关闭中断抖动还在，电平还在跳中断仍然可以再次触发！ 告诉硬件：“这个中断我已经处理完了”清除的是 挂起标志位（pending bit）。 它绝对不会断开中断！ 如果不清标志：中断会反复触发，程序卡死！</vt:lpstr>
      <vt:lpstr>PowerPoint 演示文稿</vt:lpstr>
      <vt:lpstr>结构体指针</vt:lpstr>
      <vt:lpstr>简单理解：进门时关锁🔒，处理完再开锁🔓，防止别人乱闯进来。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微机原理及应用</dc:title>
  <dc:creator>kj681109@163.com</dc:creator>
  <cp:lastModifiedBy>panda</cp:lastModifiedBy>
  <cp:revision>316</cp:revision>
  <dcterms:created xsi:type="dcterms:W3CDTF">2022-02-27T00:37:00Z</dcterms:created>
  <dcterms:modified xsi:type="dcterms:W3CDTF">2026-04-20T10:04:43Z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BC93DE16BAB844C3B624C39915E51F7E_13</vt:lpwstr>
  </property>
</Properties>
</file>